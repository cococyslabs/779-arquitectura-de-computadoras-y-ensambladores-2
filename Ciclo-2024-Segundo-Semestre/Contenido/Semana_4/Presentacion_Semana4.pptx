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445250" cx="11430000"/>
  <p:notesSz cx="11430000" cy="644525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D/En+HSUz6U5l5Qqfq3VioSh1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/>
          <p:nvPr>
            <p:ph type="title"/>
          </p:nvPr>
        </p:nvSpPr>
        <p:spPr>
          <a:xfrm>
            <a:off x="557311" y="2587625"/>
            <a:ext cx="10315376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350">
                <a:solidFill>
                  <a:srgbClr val="9897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" type="body"/>
          </p:nvPr>
        </p:nvSpPr>
        <p:spPr>
          <a:xfrm>
            <a:off x="632688" y="2429700"/>
            <a:ext cx="10164622" cy="2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ctrTitle"/>
          </p:nvPr>
        </p:nvSpPr>
        <p:spPr>
          <a:xfrm>
            <a:off x="557311" y="2292350"/>
            <a:ext cx="10315376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subTitle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/>
          <p:nvPr/>
        </p:nvSpPr>
        <p:spPr>
          <a:xfrm>
            <a:off x="0" y="0"/>
            <a:ext cx="11430000" cy="6438900"/>
          </a:xfrm>
          <a:custGeom>
            <a:rect b="b" l="l" r="r" t="t"/>
            <a:pathLst>
              <a:path extrusionOk="0" h="6438900" w="114300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82C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3"/>
            <a:ext cx="4286250" cy="643864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 txBox="1"/>
          <p:nvPr>
            <p:ph type="title"/>
          </p:nvPr>
        </p:nvSpPr>
        <p:spPr>
          <a:xfrm>
            <a:off x="557311" y="2587625"/>
            <a:ext cx="10315376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350">
                <a:solidFill>
                  <a:srgbClr val="9897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2" type="body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557311" y="2587625"/>
            <a:ext cx="10315376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350">
                <a:solidFill>
                  <a:srgbClr val="9897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0" y="0"/>
            <a:ext cx="11430000" cy="6438900"/>
          </a:xfrm>
          <a:custGeom>
            <a:rect b="b" l="l" r="r" t="t"/>
            <a:pathLst>
              <a:path extrusionOk="0" h="6438900" w="114300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82C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9"/>
          <p:cNvSpPr txBox="1"/>
          <p:nvPr>
            <p:ph type="title"/>
          </p:nvPr>
        </p:nvSpPr>
        <p:spPr>
          <a:xfrm>
            <a:off x="557311" y="2587625"/>
            <a:ext cx="10315376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350" u="none" cap="none" strike="noStrike">
                <a:solidFill>
                  <a:srgbClr val="9897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9"/>
          <p:cNvSpPr txBox="1"/>
          <p:nvPr>
            <p:ph idx="1" type="body"/>
          </p:nvPr>
        </p:nvSpPr>
        <p:spPr>
          <a:xfrm>
            <a:off x="632688" y="2429700"/>
            <a:ext cx="10164622" cy="2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50" u="none" cap="none" strike="noStrike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9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9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"/>
          <p:cNvGrpSpPr/>
          <p:nvPr/>
        </p:nvGrpSpPr>
        <p:grpSpPr>
          <a:xfrm>
            <a:off x="7143750" y="253"/>
            <a:ext cx="4286249" cy="6438645"/>
            <a:chOff x="7143750" y="253"/>
            <a:chExt cx="4286249" cy="6438645"/>
          </a:xfrm>
        </p:grpSpPr>
        <p:pic>
          <p:nvPicPr>
            <p:cNvPr id="47" name="Google Shape;47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50" y="253"/>
              <a:ext cx="4286249" cy="6438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1"/>
          <p:cNvSpPr txBox="1"/>
          <p:nvPr>
            <p:ph type="title"/>
          </p:nvPr>
        </p:nvSpPr>
        <p:spPr>
          <a:xfrm>
            <a:off x="469274" y="713175"/>
            <a:ext cx="5919600" cy="24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Arquitectura de Computadores  y Ensambladores 2: Arduino y  Raspberry Pi</a:t>
            </a:r>
            <a:endParaRPr/>
          </a:p>
        </p:txBody>
      </p:sp>
      <p:sp>
        <p:nvSpPr>
          <p:cNvPr id="50" name="Google Shape;50;p1"/>
          <p:cNvSpPr txBox="1"/>
          <p:nvPr/>
        </p:nvSpPr>
        <p:spPr>
          <a:xfrm>
            <a:off x="557311" y="3344100"/>
            <a:ext cx="5923800" cy="1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3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En esta presentación, exploraremos cómo las plataformas de desarrollo  Arduino y Raspberry Pi pueden revolucionar la automatización a través  de innovadores conceptos de arquitectura de computadores y lenguajes  de ensamblador.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3543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"/>
            <a:ext cx="4286250" cy="643864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>
            <p:ph type="title"/>
          </p:nvPr>
        </p:nvSpPr>
        <p:spPr>
          <a:xfrm>
            <a:off x="4843564" y="1168400"/>
            <a:ext cx="4361180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Usos y Beneficios de la  Automatización</a:t>
            </a:r>
            <a:endParaRPr/>
          </a:p>
        </p:txBody>
      </p:sp>
      <p:sp>
        <p:nvSpPr>
          <p:cNvPr id="57" name="Google Shape;57;p2"/>
          <p:cNvSpPr txBox="1"/>
          <p:nvPr>
            <p:ph idx="1" type="body"/>
          </p:nvPr>
        </p:nvSpPr>
        <p:spPr>
          <a:xfrm>
            <a:off x="632688" y="2429700"/>
            <a:ext cx="10164622" cy="2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260984" lvl="0" marL="4483735" marR="10541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200"/>
              <a:buFont typeface="Verdana"/>
              <a:buAutoNum type="arabicPeriod"/>
            </a:pPr>
            <a:r>
              <a:rPr b="1" lang="en-US">
                <a:latin typeface="Tahoma"/>
                <a:ea typeface="Tahoma"/>
                <a:cs typeface="Tahoma"/>
                <a:sym typeface="Tahoma"/>
              </a:rPr>
              <a:t>Aumento de la eficiencia y productividad: </a:t>
            </a:r>
            <a:r>
              <a:rPr lang="en-US"/>
              <a:t>Al eliminar tareas  repetitivas, la automatización mejora la eficiencia y productividad de  los procesos.</a:t>
            </a:r>
            <a:endParaRPr/>
          </a:p>
          <a:p>
            <a:pPr indent="-260984" lvl="0" marL="4483735" marR="422909" rtl="0" algn="l">
              <a:lnSpc>
                <a:spcPct val="137500"/>
              </a:lnSpc>
              <a:spcBef>
                <a:spcPts val="409"/>
              </a:spcBef>
              <a:spcAft>
                <a:spcPts val="0"/>
              </a:spcAft>
              <a:buClr>
                <a:srgbClr val="EEEFF5"/>
              </a:buClr>
              <a:buSzPts val="1200"/>
              <a:buFont typeface="Verdana"/>
              <a:buAutoNum type="arabicPeriod"/>
            </a:pPr>
            <a:r>
              <a:rPr b="1" lang="en-US">
                <a:latin typeface="Tahoma"/>
                <a:ea typeface="Tahoma"/>
                <a:cs typeface="Tahoma"/>
                <a:sym typeface="Tahoma"/>
              </a:rPr>
              <a:t>Mayor precisión y confiabilidad: </a:t>
            </a:r>
            <a:r>
              <a:rPr lang="en-US"/>
              <a:t>La automatización reduce los  errores humanos, aumentando la precisión y confiabilidad de las  operaciones.</a:t>
            </a:r>
            <a:endParaRPr/>
          </a:p>
          <a:p>
            <a:pPr indent="-260984" lvl="0" marL="4483735" marR="5080" rtl="0" algn="l">
              <a:lnSpc>
                <a:spcPct val="140000"/>
              </a:lnSpc>
              <a:spcBef>
                <a:spcPts val="375"/>
              </a:spcBef>
              <a:spcAft>
                <a:spcPts val="0"/>
              </a:spcAft>
              <a:buClr>
                <a:srgbClr val="EEEFF5"/>
              </a:buClr>
              <a:buSzPts val="1200"/>
              <a:buFont typeface="Verdana"/>
              <a:buAutoNum type="arabicPeriod"/>
            </a:pPr>
            <a:r>
              <a:rPr b="1" lang="en-US">
                <a:latin typeface="Tahoma"/>
                <a:ea typeface="Tahoma"/>
                <a:cs typeface="Tahoma"/>
                <a:sym typeface="Tahoma"/>
              </a:rPr>
              <a:t>Expansión de capacidades: </a:t>
            </a:r>
            <a:r>
              <a:rPr lang="en-US"/>
              <a:t>Con el monitoreo constante y respuestas  rápidas, la automatización expande las capacidades de los sistemas.</a:t>
            </a:r>
            <a:endParaRPr/>
          </a:p>
          <a:p>
            <a:pPr indent="-260984" lvl="0" marL="4483735" marR="238759" rtl="0" algn="l">
              <a:lnSpc>
                <a:spcPct val="135000"/>
              </a:lnSpc>
              <a:spcBef>
                <a:spcPts val="450"/>
              </a:spcBef>
              <a:spcAft>
                <a:spcPts val="0"/>
              </a:spcAft>
              <a:buClr>
                <a:srgbClr val="EEEFF5"/>
              </a:buClr>
              <a:buSzPts val="1200"/>
              <a:buFont typeface="Verdana"/>
              <a:buAutoNum type="arabicPeriod"/>
            </a:pPr>
            <a:r>
              <a:rPr b="1" lang="en-US">
                <a:latin typeface="Tahoma"/>
                <a:ea typeface="Tahoma"/>
                <a:cs typeface="Tahoma"/>
                <a:sym typeface="Tahoma"/>
              </a:rPr>
              <a:t>Optimización de recursos y reducción de costos: </a:t>
            </a:r>
            <a:r>
              <a:rPr lang="en-US"/>
              <a:t>A largo plazo, la  automatización optimiza recursos y reduce los costos operativos.</a:t>
            </a:r>
            <a:endParaRPr/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"/>
          <p:cNvGrpSpPr/>
          <p:nvPr/>
        </p:nvGrpSpPr>
        <p:grpSpPr>
          <a:xfrm>
            <a:off x="7143750" y="253"/>
            <a:ext cx="4286249" cy="6438645"/>
            <a:chOff x="7143750" y="253"/>
            <a:chExt cx="4286249" cy="6438645"/>
          </a:xfrm>
        </p:grpSpPr>
        <p:pic>
          <p:nvPicPr>
            <p:cNvPr id="64" name="Google Shape;6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50" y="253"/>
              <a:ext cx="4286249" cy="6438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" name="Google Shape;66;p3"/>
          <p:cNvSpPr txBox="1"/>
          <p:nvPr>
            <p:ph type="title"/>
          </p:nvPr>
        </p:nvSpPr>
        <p:spPr>
          <a:xfrm>
            <a:off x="557311" y="1263650"/>
            <a:ext cx="5744210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Interrupciones en Arduino  para Automatización</a:t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557311" y="2553525"/>
            <a:ext cx="5652135" cy="255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12700" marR="71755" rtl="0" algn="l">
              <a:lnSpc>
                <a:spcPct val="13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Las interrupciones en Arduino permiten una respuesta rápida y  eficiente a eventos externos, como sensores o temporizadores. </a:t>
            </a: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Al  interrumpir el flujo normal del programa, las interrupciones pueden  activar funciones dedicadas que ejecutan tareas de automatización.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3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Los controladores de interrupción de Arduino brindan flexibilidad  para priorizar y manejar múltiples interrupciones de forma  coordinada. </a:t>
            </a: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El uso de interrupciones evita el desperdicio de ciclos de  CPU en sondeos repetitivos, optimizando el rendimiento del sistema  automatizado.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557311" y="2292350"/>
            <a:ext cx="944816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50">
                <a:solidFill>
                  <a:srgbClr val="9897FF"/>
                </a:solidFill>
                <a:latin typeface="Tahoma"/>
                <a:ea typeface="Tahoma"/>
                <a:cs typeface="Tahoma"/>
                <a:sym typeface="Tahoma"/>
              </a:rPr>
              <a:t>¿Reemplaza la Automatización al Factor Humano?</a:t>
            </a:r>
            <a:endParaRPr sz="3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557311" y="3172650"/>
            <a:ext cx="480250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La automatización complementa y amplía las capacidades  humanas, pero no las reemplaza por completo.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5910514" y="3172650"/>
            <a:ext cx="4598035" cy="8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Los sistemas automatizados funcionan mejor cuando se  integran con la supervisión y el criterio humano,  aprovechando lo mejor de ambos.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5"/>
          <p:cNvGrpSpPr/>
          <p:nvPr/>
        </p:nvGrpSpPr>
        <p:grpSpPr>
          <a:xfrm>
            <a:off x="7143750" y="253"/>
            <a:ext cx="4286249" cy="6438645"/>
            <a:chOff x="7143750" y="253"/>
            <a:chExt cx="4286249" cy="6438645"/>
          </a:xfrm>
        </p:grpSpPr>
        <p:pic>
          <p:nvPicPr>
            <p:cNvPr id="81" name="Google Shape;8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50" y="253"/>
              <a:ext cx="4286249" cy="6438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5"/>
          <p:cNvSpPr txBox="1"/>
          <p:nvPr>
            <p:ph type="title"/>
          </p:nvPr>
        </p:nvSpPr>
        <p:spPr>
          <a:xfrm>
            <a:off x="557311" y="1054100"/>
            <a:ext cx="4983480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Comparación de Métodos:  millis() vs. Interrupciones</a:t>
            </a:r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976" y="2398775"/>
            <a:ext cx="822960" cy="147827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/>
        </p:nvSpPr>
        <p:spPr>
          <a:xfrm>
            <a:off x="921197" y="2981483"/>
            <a:ext cx="112395" cy="31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615926" y="2563812"/>
            <a:ext cx="4667250" cy="60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millis()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Método de sondeo que utiliza el temporizador interno de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1615926" y="3134550"/>
            <a:ext cx="491680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Arduino para monitorear el tiempo transcurrido, pero puede  ser ineficiente para responder a eventos en tiempo real.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8" name="Google Shape;8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9976" y="3874008"/>
            <a:ext cx="822960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 txBox="1"/>
          <p:nvPr/>
        </p:nvSpPr>
        <p:spPr>
          <a:xfrm>
            <a:off x="896044" y="4457858"/>
            <a:ext cx="162560" cy="31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1615926" y="4030662"/>
            <a:ext cx="4465955" cy="1129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Interrupciones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5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Permiten una respuesta inmediata a eventos externos,  mejorando la capacidad de reacción y el rendimiento  general del sistema automatizado.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4843564" y="1130300"/>
            <a:ext cx="5405755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Implementando  Automatización con Arduino</a:t>
            </a: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>
            <a:off x="4857749" y="2628899"/>
            <a:ext cx="285751" cy="285751"/>
            <a:chOff x="4857749" y="2628899"/>
            <a:chExt cx="285751" cy="285751"/>
          </a:xfrm>
        </p:grpSpPr>
        <p:sp>
          <p:nvSpPr>
            <p:cNvPr id="97" name="Google Shape;97;p6"/>
            <p:cNvSpPr/>
            <p:nvPr/>
          </p:nvSpPr>
          <p:spPr>
            <a:xfrm>
              <a:off x="4857750" y="2628899"/>
              <a:ext cx="285750" cy="285750"/>
            </a:xfrm>
            <a:custGeom>
              <a:rect b="b" l="l" r="r" t="t"/>
              <a:pathLst>
                <a:path extrusionOk="0" h="285750" w="285750">
                  <a:moveTo>
                    <a:pt x="171615" y="0"/>
                  </a:moveTo>
                  <a:lnTo>
                    <a:pt x="114134" y="0"/>
                  </a:lnTo>
                  <a:lnTo>
                    <a:pt x="106197" y="774"/>
                  </a:lnTo>
                  <a:lnTo>
                    <a:pt x="67995" y="12369"/>
                  </a:lnTo>
                  <a:lnTo>
                    <a:pt x="30111" y="41452"/>
                  </a:lnTo>
                  <a:lnTo>
                    <a:pt x="6235" y="82816"/>
                  </a:lnTo>
                  <a:lnTo>
                    <a:pt x="0" y="114134"/>
                  </a:lnTo>
                  <a:lnTo>
                    <a:pt x="0" y="163588"/>
                  </a:lnTo>
                  <a:lnTo>
                    <a:pt x="0" y="171615"/>
                  </a:lnTo>
                  <a:lnTo>
                    <a:pt x="12369" y="217754"/>
                  </a:lnTo>
                  <a:lnTo>
                    <a:pt x="41452" y="255638"/>
                  </a:lnTo>
                  <a:lnTo>
                    <a:pt x="82816" y="279514"/>
                  </a:lnTo>
                  <a:lnTo>
                    <a:pt x="114134" y="285750"/>
                  </a:lnTo>
                  <a:lnTo>
                    <a:pt x="171615" y="285750"/>
                  </a:lnTo>
                  <a:lnTo>
                    <a:pt x="217754" y="273380"/>
                  </a:lnTo>
                  <a:lnTo>
                    <a:pt x="255638" y="244297"/>
                  </a:lnTo>
                  <a:lnTo>
                    <a:pt x="279514" y="202933"/>
                  </a:lnTo>
                  <a:lnTo>
                    <a:pt x="285750" y="171615"/>
                  </a:lnTo>
                  <a:lnTo>
                    <a:pt x="285750" y="114134"/>
                  </a:lnTo>
                  <a:lnTo>
                    <a:pt x="273380" y="67995"/>
                  </a:lnTo>
                  <a:lnTo>
                    <a:pt x="244297" y="30111"/>
                  </a:lnTo>
                  <a:lnTo>
                    <a:pt x="202933" y="6223"/>
                  </a:lnTo>
                  <a:lnTo>
                    <a:pt x="179552" y="774"/>
                  </a:lnTo>
                  <a:lnTo>
                    <a:pt x="171615" y="0"/>
                  </a:lnTo>
                  <a:close/>
                </a:path>
              </a:pathLst>
            </a:custGeom>
            <a:solidFill>
              <a:srgbClr val="282C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4857749" y="2628900"/>
              <a:ext cx="285750" cy="285750"/>
            </a:xfrm>
            <a:custGeom>
              <a:rect b="b" l="l" r="r" t="t"/>
              <a:pathLst>
                <a:path extrusionOk="0" h="285750" w="285750">
                  <a:moveTo>
                    <a:pt x="163588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163588"/>
                  </a:lnTo>
                  <a:lnTo>
                    <a:pt x="9296" y="210337"/>
                  </a:lnTo>
                  <a:lnTo>
                    <a:pt x="35775" y="249961"/>
                  </a:lnTo>
                  <a:lnTo>
                    <a:pt x="75412" y="276453"/>
                  </a:lnTo>
                  <a:lnTo>
                    <a:pt x="122161" y="285749"/>
                  </a:lnTo>
                  <a:lnTo>
                    <a:pt x="163588" y="285749"/>
                  </a:lnTo>
                  <a:lnTo>
                    <a:pt x="210337" y="276453"/>
                  </a:lnTo>
                  <a:lnTo>
                    <a:pt x="249974" y="249961"/>
                  </a:lnTo>
                  <a:lnTo>
                    <a:pt x="276453" y="210337"/>
                  </a:lnTo>
                  <a:lnTo>
                    <a:pt x="285749" y="163588"/>
                  </a:lnTo>
                  <a:lnTo>
                    <a:pt x="285749" y="122161"/>
                  </a:lnTo>
                  <a:lnTo>
                    <a:pt x="276453" y="75412"/>
                  </a:lnTo>
                  <a:lnTo>
                    <a:pt x="249974" y="35775"/>
                  </a:lnTo>
                  <a:lnTo>
                    <a:pt x="210337" y="9296"/>
                  </a:lnTo>
                  <a:lnTo>
                    <a:pt x="163588" y="0"/>
                  </a:lnTo>
                  <a:close/>
                </a:path>
              </a:pathLst>
            </a:custGeom>
            <a:solidFill>
              <a:srgbClr val="000000">
                <a:alpha val="7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857749" y="2628900"/>
              <a:ext cx="285750" cy="285750"/>
            </a:xfrm>
            <a:custGeom>
              <a:rect b="b" l="l" r="r" t="t"/>
              <a:pathLst>
                <a:path extrusionOk="0" h="285750" w="285750">
                  <a:moveTo>
                    <a:pt x="163588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163588"/>
                  </a:lnTo>
                  <a:lnTo>
                    <a:pt x="9296" y="210337"/>
                  </a:lnTo>
                  <a:lnTo>
                    <a:pt x="35775" y="249961"/>
                  </a:lnTo>
                  <a:lnTo>
                    <a:pt x="75412" y="276453"/>
                  </a:lnTo>
                  <a:lnTo>
                    <a:pt x="122161" y="285749"/>
                  </a:lnTo>
                  <a:lnTo>
                    <a:pt x="163588" y="285749"/>
                  </a:lnTo>
                  <a:lnTo>
                    <a:pt x="210337" y="276453"/>
                  </a:lnTo>
                  <a:lnTo>
                    <a:pt x="249974" y="249961"/>
                  </a:lnTo>
                  <a:lnTo>
                    <a:pt x="276453" y="210337"/>
                  </a:lnTo>
                  <a:lnTo>
                    <a:pt x="285749" y="163588"/>
                  </a:lnTo>
                  <a:lnTo>
                    <a:pt x="285749" y="122161"/>
                  </a:lnTo>
                  <a:lnTo>
                    <a:pt x="276453" y="75412"/>
                  </a:lnTo>
                  <a:lnTo>
                    <a:pt x="249974" y="35775"/>
                  </a:lnTo>
                  <a:lnTo>
                    <a:pt x="210337" y="9296"/>
                  </a:lnTo>
                  <a:lnTo>
                    <a:pt x="163588" y="0"/>
                  </a:lnTo>
                  <a:close/>
                </a:path>
              </a:pathLst>
            </a:custGeom>
            <a:solidFill>
              <a:srgbClr val="FFFFFF">
                <a:alpha val="1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0" name="Google Shape;100;p6"/>
          <p:cNvSpPr txBox="1"/>
          <p:nvPr/>
        </p:nvSpPr>
        <p:spPr>
          <a:xfrm>
            <a:off x="5291391" y="2620962"/>
            <a:ext cx="2463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marR="5080" rtl="0" algn="l">
              <a:lnSpc>
                <a:spcPct val="10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Arduino ofrece una  plataforma de código  abierto y de fácil uso para  desarrollar sistemas de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46355" rtl="0" algn="l">
              <a:lnSpc>
                <a:spcPct val="1061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automatización, con una  amplia gama de sensores  y actuadores  compatibles.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1" name="Google Shape;101;p6"/>
          <p:cNvGrpSpPr/>
          <p:nvPr/>
        </p:nvGrpSpPr>
        <p:grpSpPr>
          <a:xfrm>
            <a:off x="7943849" y="2628899"/>
            <a:ext cx="276225" cy="285751"/>
            <a:chOff x="7943849" y="2628899"/>
            <a:chExt cx="276225" cy="285751"/>
          </a:xfrm>
        </p:grpSpPr>
        <p:sp>
          <p:nvSpPr>
            <p:cNvPr id="102" name="Google Shape;102;p6"/>
            <p:cNvSpPr/>
            <p:nvPr/>
          </p:nvSpPr>
          <p:spPr>
            <a:xfrm>
              <a:off x="7943849" y="2628899"/>
              <a:ext cx="276225" cy="285750"/>
            </a:xfrm>
            <a:custGeom>
              <a:rect b="b" l="l" r="r" t="t"/>
              <a:pathLst>
                <a:path extrusionOk="0" h="285750" w="276225">
                  <a:moveTo>
                    <a:pt x="162090" y="0"/>
                  </a:moveTo>
                  <a:lnTo>
                    <a:pt x="114134" y="0"/>
                  </a:lnTo>
                  <a:lnTo>
                    <a:pt x="106197" y="774"/>
                  </a:lnTo>
                  <a:lnTo>
                    <a:pt x="67995" y="12369"/>
                  </a:lnTo>
                  <a:lnTo>
                    <a:pt x="30111" y="41452"/>
                  </a:lnTo>
                  <a:lnTo>
                    <a:pt x="6235" y="82816"/>
                  </a:lnTo>
                  <a:lnTo>
                    <a:pt x="0" y="114134"/>
                  </a:lnTo>
                  <a:lnTo>
                    <a:pt x="0" y="163588"/>
                  </a:lnTo>
                  <a:lnTo>
                    <a:pt x="0" y="171615"/>
                  </a:lnTo>
                  <a:lnTo>
                    <a:pt x="12369" y="217754"/>
                  </a:lnTo>
                  <a:lnTo>
                    <a:pt x="41452" y="255638"/>
                  </a:lnTo>
                  <a:lnTo>
                    <a:pt x="82816" y="279514"/>
                  </a:lnTo>
                  <a:lnTo>
                    <a:pt x="114134" y="285750"/>
                  </a:lnTo>
                  <a:lnTo>
                    <a:pt x="162090" y="285750"/>
                  </a:lnTo>
                  <a:lnTo>
                    <a:pt x="208229" y="273380"/>
                  </a:lnTo>
                  <a:lnTo>
                    <a:pt x="246113" y="244297"/>
                  </a:lnTo>
                  <a:lnTo>
                    <a:pt x="269989" y="202933"/>
                  </a:lnTo>
                  <a:lnTo>
                    <a:pt x="276225" y="171615"/>
                  </a:lnTo>
                  <a:lnTo>
                    <a:pt x="276225" y="114134"/>
                  </a:lnTo>
                  <a:lnTo>
                    <a:pt x="263855" y="67995"/>
                  </a:lnTo>
                  <a:lnTo>
                    <a:pt x="234772" y="30111"/>
                  </a:lnTo>
                  <a:lnTo>
                    <a:pt x="193408" y="6223"/>
                  </a:lnTo>
                  <a:lnTo>
                    <a:pt x="170027" y="774"/>
                  </a:lnTo>
                  <a:lnTo>
                    <a:pt x="162090" y="0"/>
                  </a:lnTo>
                  <a:close/>
                </a:path>
              </a:pathLst>
            </a:custGeom>
            <a:solidFill>
              <a:srgbClr val="282C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7943849" y="2628900"/>
              <a:ext cx="276225" cy="285750"/>
            </a:xfrm>
            <a:custGeom>
              <a:rect b="b" l="l" r="r" t="t"/>
              <a:pathLst>
                <a:path extrusionOk="0" h="285750" w="276225">
                  <a:moveTo>
                    <a:pt x="154063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163588"/>
                  </a:lnTo>
                  <a:lnTo>
                    <a:pt x="9296" y="210337"/>
                  </a:lnTo>
                  <a:lnTo>
                    <a:pt x="35775" y="249961"/>
                  </a:lnTo>
                  <a:lnTo>
                    <a:pt x="75412" y="276453"/>
                  </a:lnTo>
                  <a:lnTo>
                    <a:pt x="122161" y="285749"/>
                  </a:lnTo>
                  <a:lnTo>
                    <a:pt x="154063" y="285749"/>
                  </a:lnTo>
                  <a:lnTo>
                    <a:pt x="200812" y="276453"/>
                  </a:lnTo>
                  <a:lnTo>
                    <a:pt x="240449" y="249961"/>
                  </a:lnTo>
                  <a:lnTo>
                    <a:pt x="266928" y="210337"/>
                  </a:lnTo>
                  <a:lnTo>
                    <a:pt x="276224" y="163588"/>
                  </a:lnTo>
                  <a:lnTo>
                    <a:pt x="276224" y="122161"/>
                  </a:lnTo>
                  <a:lnTo>
                    <a:pt x="266928" y="75412"/>
                  </a:lnTo>
                  <a:lnTo>
                    <a:pt x="240449" y="35775"/>
                  </a:lnTo>
                  <a:lnTo>
                    <a:pt x="200812" y="9296"/>
                  </a:lnTo>
                  <a:lnTo>
                    <a:pt x="154063" y="0"/>
                  </a:lnTo>
                  <a:close/>
                </a:path>
              </a:pathLst>
            </a:custGeom>
            <a:solidFill>
              <a:srgbClr val="000000">
                <a:alpha val="7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7943849" y="2628900"/>
              <a:ext cx="276225" cy="285750"/>
            </a:xfrm>
            <a:custGeom>
              <a:rect b="b" l="l" r="r" t="t"/>
              <a:pathLst>
                <a:path extrusionOk="0" h="285750" w="276225">
                  <a:moveTo>
                    <a:pt x="154063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163588"/>
                  </a:lnTo>
                  <a:lnTo>
                    <a:pt x="9296" y="210337"/>
                  </a:lnTo>
                  <a:lnTo>
                    <a:pt x="35775" y="249961"/>
                  </a:lnTo>
                  <a:lnTo>
                    <a:pt x="75412" y="276453"/>
                  </a:lnTo>
                  <a:lnTo>
                    <a:pt x="122161" y="285749"/>
                  </a:lnTo>
                  <a:lnTo>
                    <a:pt x="154063" y="285749"/>
                  </a:lnTo>
                  <a:lnTo>
                    <a:pt x="200812" y="276453"/>
                  </a:lnTo>
                  <a:lnTo>
                    <a:pt x="240449" y="249961"/>
                  </a:lnTo>
                  <a:lnTo>
                    <a:pt x="266928" y="210337"/>
                  </a:lnTo>
                  <a:lnTo>
                    <a:pt x="276224" y="163588"/>
                  </a:lnTo>
                  <a:lnTo>
                    <a:pt x="276224" y="122161"/>
                  </a:lnTo>
                  <a:lnTo>
                    <a:pt x="266928" y="75412"/>
                  </a:lnTo>
                  <a:lnTo>
                    <a:pt x="240449" y="35775"/>
                  </a:lnTo>
                  <a:lnTo>
                    <a:pt x="200812" y="9296"/>
                  </a:lnTo>
                  <a:lnTo>
                    <a:pt x="154063" y="0"/>
                  </a:lnTo>
                  <a:close/>
                </a:path>
              </a:pathLst>
            </a:custGeom>
            <a:solidFill>
              <a:srgbClr val="FFFFFF">
                <a:alpha val="1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5" name="Google Shape;105;p6"/>
          <p:cNvSpPr txBox="1"/>
          <p:nvPr/>
        </p:nvSpPr>
        <p:spPr>
          <a:xfrm>
            <a:off x="8374659" y="2620962"/>
            <a:ext cx="2478405" cy="2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marR="477519" rtl="0" algn="l">
              <a:lnSpc>
                <a:spcPct val="10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Los programas de  Arduino utilizan  interrupciones y  temporizadores para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061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coordinar tareas  automatizadas de manera  confiable y eficiente,  adaptándose a las  necesidades específicas  de cada proyecto.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7"/>
          <p:cNvGrpSpPr/>
          <p:nvPr/>
        </p:nvGrpSpPr>
        <p:grpSpPr>
          <a:xfrm>
            <a:off x="7143750" y="253"/>
            <a:ext cx="4286249" cy="6438645"/>
            <a:chOff x="7143750" y="253"/>
            <a:chExt cx="4286249" cy="6438645"/>
          </a:xfrm>
        </p:grpSpPr>
        <p:pic>
          <p:nvPicPr>
            <p:cNvPr id="112" name="Google Shape;11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50" y="253"/>
              <a:ext cx="4286249" cy="6438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7"/>
          <p:cNvSpPr txBox="1"/>
          <p:nvPr>
            <p:ph type="title"/>
          </p:nvPr>
        </p:nvSpPr>
        <p:spPr>
          <a:xfrm>
            <a:off x="557311" y="939800"/>
            <a:ext cx="5874385" cy="16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Implementando  Automatización con Raspberry  Pi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557311" y="2744025"/>
            <a:ext cx="5907405" cy="2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La versatilidad de Raspberry Pi lo convierte en una plataforma ideal para  proyectos de automatización, con potencia de procesamiento y  conectividad robusta.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80645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Los desarrolladores pueden aprovechar el entorno Linux y los lenguajes  de programación de alto nivel, como Python, para crear soluciones  automatizadas avanzadas.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6604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La amplia gama de periféricos y sensores compatibles con Raspberry Pi  permite diseñar sistemas de automatización a medida, adaptados a  necesidades específicas.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"/>
            <a:ext cx="1143000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 txBox="1"/>
          <p:nvPr>
            <p:ph type="title"/>
          </p:nvPr>
        </p:nvSpPr>
        <p:spPr>
          <a:xfrm>
            <a:off x="557311" y="2587625"/>
            <a:ext cx="725043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Conclusiones y Consideraciones Clave</a:t>
            </a:r>
            <a:endParaRPr/>
          </a:p>
        </p:txBody>
      </p:sp>
      <p:grpSp>
        <p:nvGrpSpPr>
          <p:cNvPr id="122" name="Google Shape;122;p8"/>
          <p:cNvGrpSpPr/>
          <p:nvPr/>
        </p:nvGrpSpPr>
        <p:grpSpPr>
          <a:xfrm>
            <a:off x="571499" y="3362325"/>
            <a:ext cx="3324225" cy="2524125"/>
            <a:chOff x="571499" y="3362325"/>
            <a:chExt cx="3324225" cy="2524125"/>
          </a:xfrm>
        </p:grpSpPr>
        <p:sp>
          <p:nvSpPr>
            <p:cNvPr id="123" name="Google Shape;123;p8"/>
            <p:cNvSpPr/>
            <p:nvPr/>
          </p:nvSpPr>
          <p:spPr>
            <a:xfrm>
              <a:off x="571499" y="3362325"/>
              <a:ext cx="3324225" cy="2524125"/>
            </a:xfrm>
            <a:custGeom>
              <a:rect b="b" l="l" r="r" t="t"/>
              <a:pathLst>
                <a:path extrusionOk="0" h="2524125" w="3324225">
                  <a:moveTo>
                    <a:pt x="3210090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2401967"/>
                  </a:lnTo>
                  <a:lnTo>
                    <a:pt x="0" y="2409985"/>
                  </a:lnTo>
                  <a:lnTo>
                    <a:pt x="12367" y="2456121"/>
                  </a:lnTo>
                  <a:lnTo>
                    <a:pt x="41448" y="2494018"/>
                  </a:lnTo>
                  <a:lnTo>
                    <a:pt x="82823" y="2517895"/>
                  </a:lnTo>
                  <a:lnTo>
                    <a:pt x="114136" y="2524121"/>
                  </a:lnTo>
                  <a:lnTo>
                    <a:pt x="3210090" y="2524121"/>
                  </a:lnTo>
                  <a:lnTo>
                    <a:pt x="3256229" y="2511753"/>
                  </a:lnTo>
                  <a:lnTo>
                    <a:pt x="3294113" y="2482672"/>
                  </a:lnTo>
                  <a:lnTo>
                    <a:pt x="3317989" y="2441303"/>
                  </a:lnTo>
                  <a:lnTo>
                    <a:pt x="3324225" y="2409985"/>
                  </a:lnTo>
                  <a:lnTo>
                    <a:pt x="3324225" y="114134"/>
                  </a:lnTo>
                  <a:lnTo>
                    <a:pt x="3311855" y="67995"/>
                  </a:lnTo>
                  <a:lnTo>
                    <a:pt x="3282772" y="30111"/>
                  </a:lnTo>
                  <a:lnTo>
                    <a:pt x="3241408" y="6223"/>
                  </a:lnTo>
                  <a:lnTo>
                    <a:pt x="3218027" y="774"/>
                  </a:lnTo>
                  <a:lnTo>
                    <a:pt x="3210090" y="0"/>
                  </a:lnTo>
                  <a:close/>
                </a:path>
              </a:pathLst>
            </a:custGeom>
            <a:solidFill>
              <a:srgbClr val="282C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571499" y="3362325"/>
              <a:ext cx="3324225" cy="2524125"/>
            </a:xfrm>
            <a:custGeom>
              <a:rect b="b" l="l" r="r" t="t"/>
              <a:pathLst>
                <a:path extrusionOk="0" h="2524125" w="3324225">
                  <a:moveTo>
                    <a:pt x="3202063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401967"/>
                  </a:lnTo>
                  <a:lnTo>
                    <a:pt x="9296" y="2448714"/>
                  </a:lnTo>
                  <a:lnTo>
                    <a:pt x="35778" y="2488342"/>
                  </a:lnTo>
                  <a:lnTo>
                    <a:pt x="75411" y="2514824"/>
                  </a:lnTo>
                  <a:lnTo>
                    <a:pt x="122158" y="2524126"/>
                  </a:lnTo>
                  <a:lnTo>
                    <a:pt x="3202063" y="2524126"/>
                  </a:lnTo>
                  <a:lnTo>
                    <a:pt x="3248812" y="2514824"/>
                  </a:lnTo>
                  <a:lnTo>
                    <a:pt x="3288448" y="2488342"/>
                  </a:lnTo>
                  <a:lnTo>
                    <a:pt x="3314928" y="2448714"/>
                  </a:lnTo>
                  <a:lnTo>
                    <a:pt x="3324224" y="2401967"/>
                  </a:lnTo>
                  <a:lnTo>
                    <a:pt x="3324224" y="122161"/>
                  </a:lnTo>
                  <a:lnTo>
                    <a:pt x="3314928" y="75412"/>
                  </a:lnTo>
                  <a:lnTo>
                    <a:pt x="3288448" y="35775"/>
                  </a:lnTo>
                  <a:lnTo>
                    <a:pt x="3248812" y="9296"/>
                  </a:lnTo>
                  <a:lnTo>
                    <a:pt x="3202063" y="0"/>
                  </a:lnTo>
                  <a:close/>
                </a:path>
              </a:pathLst>
            </a:custGeom>
            <a:solidFill>
              <a:srgbClr val="000000">
                <a:alpha val="7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571499" y="3362325"/>
              <a:ext cx="3324225" cy="2524125"/>
            </a:xfrm>
            <a:custGeom>
              <a:rect b="b" l="l" r="r" t="t"/>
              <a:pathLst>
                <a:path extrusionOk="0" h="2524125" w="3324225">
                  <a:moveTo>
                    <a:pt x="3202063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401967"/>
                  </a:lnTo>
                  <a:lnTo>
                    <a:pt x="9296" y="2448714"/>
                  </a:lnTo>
                  <a:lnTo>
                    <a:pt x="35778" y="2488342"/>
                  </a:lnTo>
                  <a:lnTo>
                    <a:pt x="75411" y="2514824"/>
                  </a:lnTo>
                  <a:lnTo>
                    <a:pt x="122158" y="2524126"/>
                  </a:lnTo>
                  <a:lnTo>
                    <a:pt x="3202063" y="2524126"/>
                  </a:lnTo>
                  <a:lnTo>
                    <a:pt x="3248812" y="2514824"/>
                  </a:lnTo>
                  <a:lnTo>
                    <a:pt x="3288448" y="2488342"/>
                  </a:lnTo>
                  <a:lnTo>
                    <a:pt x="3314928" y="2448714"/>
                  </a:lnTo>
                  <a:lnTo>
                    <a:pt x="3324224" y="2401967"/>
                  </a:lnTo>
                  <a:lnTo>
                    <a:pt x="3324224" y="122161"/>
                  </a:lnTo>
                  <a:lnTo>
                    <a:pt x="3314928" y="75412"/>
                  </a:lnTo>
                  <a:lnTo>
                    <a:pt x="3288448" y="35775"/>
                  </a:lnTo>
                  <a:lnTo>
                    <a:pt x="3248812" y="9296"/>
                  </a:lnTo>
                  <a:lnTo>
                    <a:pt x="3202063" y="0"/>
                  </a:lnTo>
                  <a:close/>
                </a:path>
              </a:pathLst>
            </a:custGeom>
            <a:solidFill>
              <a:srgbClr val="FFFFFF">
                <a:alpha val="1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6" name="Google Shape;126;p8"/>
          <p:cNvSpPr txBox="1"/>
          <p:nvPr/>
        </p:nvSpPr>
        <p:spPr>
          <a:xfrm>
            <a:off x="720129" y="3525837"/>
            <a:ext cx="2550160" cy="164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Arduino y Raspberry Pi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62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Arduino y Raspberry Pi ofrecen  poderosas herramientas para  implementar sistemas de  automatización robustos y  adaptables.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27" name="Google Shape;127;p8"/>
          <p:cNvGrpSpPr/>
          <p:nvPr/>
        </p:nvGrpSpPr>
        <p:grpSpPr>
          <a:xfrm>
            <a:off x="4057649" y="3362325"/>
            <a:ext cx="3314700" cy="2524125"/>
            <a:chOff x="4057649" y="3362325"/>
            <a:chExt cx="3314700" cy="2524125"/>
          </a:xfrm>
        </p:grpSpPr>
        <p:sp>
          <p:nvSpPr>
            <p:cNvPr id="128" name="Google Shape;128;p8"/>
            <p:cNvSpPr/>
            <p:nvPr/>
          </p:nvSpPr>
          <p:spPr>
            <a:xfrm>
              <a:off x="4057649" y="3362325"/>
              <a:ext cx="3314700" cy="2524125"/>
            </a:xfrm>
            <a:custGeom>
              <a:rect b="b" l="l" r="r" t="t"/>
              <a:pathLst>
                <a:path extrusionOk="0" h="2524125" w="3314700">
                  <a:moveTo>
                    <a:pt x="3200565" y="0"/>
                  </a:moveTo>
                  <a:lnTo>
                    <a:pt x="114134" y="0"/>
                  </a:lnTo>
                  <a:lnTo>
                    <a:pt x="106197" y="774"/>
                  </a:lnTo>
                  <a:lnTo>
                    <a:pt x="67995" y="12369"/>
                  </a:lnTo>
                  <a:lnTo>
                    <a:pt x="30111" y="41452"/>
                  </a:lnTo>
                  <a:lnTo>
                    <a:pt x="6235" y="82816"/>
                  </a:lnTo>
                  <a:lnTo>
                    <a:pt x="0" y="114134"/>
                  </a:lnTo>
                  <a:lnTo>
                    <a:pt x="0" y="2401967"/>
                  </a:lnTo>
                  <a:lnTo>
                    <a:pt x="0" y="2409985"/>
                  </a:lnTo>
                  <a:lnTo>
                    <a:pt x="12369" y="2456121"/>
                  </a:lnTo>
                  <a:lnTo>
                    <a:pt x="41452" y="2494018"/>
                  </a:lnTo>
                  <a:lnTo>
                    <a:pt x="82816" y="2517895"/>
                  </a:lnTo>
                  <a:lnTo>
                    <a:pt x="114134" y="2524121"/>
                  </a:lnTo>
                  <a:lnTo>
                    <a:pt x="3200565" y="2524121"/>
                  </a:lnTo>
                  <a:lnTo>
                    <a:pt x="3246704" y="2511753"/>
                  </a:lnTo>
                  <a:lnTo>
                    <a:pt x="3284588" y="2482672"/>
                  </a:lnTo>
                  <a:lnTo>
                    <a:pt x="3308464" y="2441303"/>
                  </a:lnTo>
                  <a:lnTo>
                    <a:pt x="3314700" y="2409985"/>
                  </a:lnTo>
                  <a:lnTo>
                    <a:pt x="3314700" y="114134"/>
                  </a:lnTo>
                  <a:lnTo>
                    <a:pt x="3302330" y="67995"/>
                  </a:lnTo>
                  <a:lnTo>
                    <a:pt x="3273247" y="30111"/>
                  </a:lnTo>
                  <a:lnTo>
                    <a:pt x="3231883" y="6223"/>
                  </a:lnTo>
                  <a:lnTo>
                    <a:pt x="3208502" y="774"/>
                  </a:lnTo>
                  <a:lnTo>
                    <a:pt x="3200565" y="0"/>
                  </a:lnTo>
                  <a:close/>
                </a:path>
              </a:pathLst>
            </a:custGeom>
            <a:solidFill>
              <a:srgbClr val="282C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4057649" y="3362325"/>
              <a:ext cx="3314700" cy="2524125"/>
            </a:xfrm>
            <a:custGeom>
              <a:rect b="b" l="l" r="r" t="t"/>
              <a:pathLst>
                <a:path extrusionOk="0" h="2524125" w="3314700">
                  <a:moveTo>
                    <a:pt x="3192538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401967"/>
                  </a:lnTo>
                  <a:lnTo>
                    <a:pt x="9296" y="2448714"/>
                  </a:lnTo>
                  <a:lnTo>
                    <a:pt x="35775" y="2488342"/>
                  </a:lnTo>
                  <a:lnTo>
                    <a:pt x="75412" y="2514824"/>
                  </a:lnTo>
                  <a:lnTo>
                    <a:pt x="122161" y="2524126"/>
                  </a:lnTo>
                  <a:lnTo>
                    <a:pt x="3192538" y="2524126"/>
                  </a:lnTo>
                  <a:lnTo>
                    <a:pt x="3239287" y="2514824"/>
                  </a:lnTo>
                  <a:lnTo>
                    <a:pt x="3278923" y="2488342"/>
                  </a:lnTo>
                  <a:lnTo>
                    <a:pt x="3305403" y="2448714"/>
                  </a:lnTo>
                  <a:lnTo>
                    <a:pt x="3314699" y="2401967"/>
                  </a:lnTo>
                  <a:lnTo>
                    <a:pt x="3314699" y="122161"/>
                  </a:lnTo>
                  <a:lnTo>
                    <a:pt x="3305403" y="75412"/>
                  </a:lnTo>
                  <a:lnTo>
                    <a:pt x="3278923" y="35775"/>
                  </a:lnTo>
                  <a:lnTo>
                    <a:pt x="3239287" y="9296"/>
                  </a:lnTo>
                  <a:lnTo>
                    <a:pt x="3192538" y="0"/>
                  </a:lnTo>
                  <a:close/>
                </a:path>
              </a:pathLst>
            </a:custGeom>
            <a:solidFill>
              <a:srgbClr val="000000">
                <a:alpha val="7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4057649" y="3362325"/>
              <a:ext cx="3314700" cy="2524125"/>
            </a:xfrm>
            <a:custGeom>
              <a:rect b="b" l="l" r="r" t="t"/>
              <a:pathLst>
                <a:path extrusionOk="0" h="2524125" w="3314700">
                  <a:moveTo>
                    <a:pt x="3192538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401967"/>
                  </a:lnTo>
                  <a:lnTo>
                    <a:pt x="9296" y="2448714"/>
                  </a:lnTo>
                  <a:lnTo>
                    <a:pt x="35775" y="2488342"/>
                  </a:lnTo>
                  <a:lnTo>
                    <a:pt x="75412" y="2514824"/>
                  </a:lnTo>
                  <a:lnTo>
                    <a:pt x="122161" y="2524126"/>
                  </a:lnTo>
                  <a:lnTo>
                    <a:pt x="3192538" y="2524126"/>
                  </a:lnTo>
                  <a:lnTo>
                    <a:pt x="3239287" y="2514824"/>
                  </a:lnTo>
                  <a:lnTo>
                    <a:pt x="3278923" y="2488342"/>
                  </a:lnTo>
                  <a:lnTo>
                    <a:pt x="3305403" y="2448714"/>
                  </a:lnTo>
                  <a:lnTo>
                    <a:pt x="3314699" y="2401967"/>
                  </a:lnTo>
                  <a:lnTo>
                    <a:pt x="3314699" y="122161"/>
                  </a:lnTo>
                  <a:lnTo>
                    <a:pt x="3305403" y="75412"/>
                  </a:lnTo>
                  <a:lnTo>
                    <a:pt x="3278923" y="35775"/>
                  </a:lnTo>
                  <a:lnTo>
                    <a:pt x="3239287" y="9296"/>
                  </a:lnTo>
                  <a:lnTo>
                    <a:pt x="3192538" y="0"/>
                  </a:lnTo>
                  <a:close/>
                </a:path>
              </a:pathLst>
            </a:custGeom>
            <a:solidFill>
              <a:srgbClr val="FFFFFF">
                <a:alpha val="1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1" name="Google Shape;131;p8"/>
          <p:cNvSpPr txBox="1"/>
          <p:nvPr/>
        </p:nvSpPr>
        <p:spPr>
          <a:xfrm>
            <a:off x="4204347" y="3525837"/>
            <a:ext cx="291084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marR="1337310" rtl="0" algn="l">
              <a:lnSpc>
                <a:spcPct val="10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Interrupciones y  Temporizadores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7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Aprovechar las interrupciones y los  temporizadores de estas  plataformas es clave para optimizar  el rendimiento y la respuesta en  tiempo real de los procesos  automatizados.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32" name="Google Shape;132;p8"/>
          <p:cNvGrpSpPr/>
          <p:nvPr/>
        </p:nvGrpSpPr>
        <p:grpSpPr>
          <a:xfrm>
            <a:off x="7534274" y="3362325"/>
            <a:ext cx="3324225" cy="2524125"/>
            <a:chOff x="7534274" y="3362325"/>
            <a:chExt cx="3324225" cy="2524125"/>
          </a:xfrm>
        </p:grpSpPr>
        <p:sp>
          <p:nvSpPr>
            <p:cNvPr id="133" name="Google Shape;133;p8"/>
            <p:cNvSpPr/>
            <p:nvPr/>
          </p:nvSpPr>
          <p:spPr>
            <a:xfrm>
              <a:off x="7534274" y="3362325"/>
              <a:ext cx="3324225" cy="2524125"/>
            </a:xfrm>
            <a:custGeom>
              <a:rect b="b" l="l" r="r" t="t"/>
              <a:pathLst>
                <a:path extrusionOk="0" h="2524125" w="3324225">
                  <a:moveTo>
                    <a:pt x="3210090" y="0"/>
                  </a:moveTo>
                  <a:lnTo>
                    <a:pt x="114134" y="0"/>
                  </a:lnTo>
                  <a:lnTo>
                    <a:pt x="106197" y="774"/>
                  </a:lnTo>
                  <a:lnTo>
                    <a:pt x="67995" y="12369"/>
                  </a:lnTo>
                  <a:lnTo>
                    <a:pt x="30111" y="41452"/>
                  </a:lnTo>
                  <a:lnTo>
                    <a:pt x="6235" y="82816"/>
                  </a:lnTo>
                  <a:lnTo>
                    <a:pt x="0" y="114134"/>
                  </a:lnTo>
                  <a:lnTo>
                    <a:pt x="0" y="2401967"/>
                  </a:lnTo>
                  <a:lnTo>
                    <a:pt x="0" y="2409985"/>
                  </a:lnTo>
                  <a:lnTo>
                    <a:pt x="12369" y="2456121"/>
                  </a:lnTo>
                  <a:lnTo>
                    <a:pt x="41452" y="2494018"/>
                  </a:lnTo>
                  <a:lnTo>
                    <a:pt x="82816" y="2517895"/>
                  </a:lnTo>
                  <a:lnTo>
                    <a:pt x="114134" y="2524121"/>
                  </a:lnTo>
                  <a:lnTo>
                    <a:pt x="3210090" y="2524121"/>
                  </a:lnTo>
                  <a:lnTo>
                    <a:pt x="3256229" y="2511753"/>
                  </a:lnTo>
                  <a:lnTo>
                    <a:pt x="3294113" y="2482672"/>
                  </a:lnTo>
                  <a:lnTo>
                    <a:pt x="3317989" y="2441303"/>
                  </a:lnTo>
                  <a:lnTo>
                    <a:pt x="3324225" y="2409985"/>
                  </a:lnTo>
                  <a:lnTo>
                    <a:pt x="3324225" y="114134"/>
                  </a:lnTo>
                  <a:lnTo>
                    <a:pt x="3311855" y="67995"/>
                  </a:lnTo>
                  <a:lnTo>
                    <a:pt x="3282772" y="30111"/>
                  </a:lnTo>
                  <a:lnTo>
                    <a:pt x="3241408" y="6223"/>
                  </a:lnTo>
                  <a:lnTo>
                    <a:pt x="3218027" y="774"/>
                  </a:lnTo>
                  <a:lnTo>
                    <a:pt x="3210090" y="0"/>
                  </a:lnTo>
                  <a:close/>
                </a:path>
              </a:pathLst>
            </a:custGeom>
            <a:solidFill>
              <a:srgbClr val="282C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7534274" y="3362325"/>
              <a:ext cx="3324225" cy="2524125"/>
            </a:xfrm>
            <a:custGeom>
              <a:rect b="b" l="l" r="r" t="t"/>
              <a:pathLst>
                <a:path extrusionOk="0" h="2524125" w="3324225">
                  <a:moveTo>
                    <a:pt x="3202063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401967"/>
                  </a:lnTo>
                  <a:lnTo>
                    <a:pt x="9296" y="2448714"/>
                  </a:lnTo>
                  <a:lnTo>
                    <a:pt x="35775" y="2488342"/>
                  </a:lnTo>
                  <a:lnTo>
                    <a:pt x="75412" y="2514824"/>
                  </a:lnTo>
                  <a:lnTo>
                    <a:pt x="122161" y="2524126"/>
                  </a:lnTo>
                  <a:lnTo>
                    <a:pt x="3202063" y="2524126"/>
                  </a:lnTo>
                  <a:lnTo>
                    <a:pt x="3248812" y="2514824"/>
                  </a:lnTo>
                  <a:lnTo>
                    <a:pt x="3288448" y="2488342"/>
                  </a:lnTo>
                  <a:lnTo>
                    <a:pt x="3314928" y="2448714"/>
                  </a:lnTo>
                  <a:lnTo>
                    <a:pt x="3324224" y="2401967"/>
                  </a:lnTo>
                  <a:lnTo>
                    <a:pt x="3324224" y="122161"/>
                  </a:lnTo>
                  <a:lnTo>
                    <a:pt x="3314928" y="75412"/>
                  </a:lnTo>
                  <a:lnTo>
                    <a:pt x="3288448" y="35775"/>
                  </a:lnTo>
                  <a:lnTo>
                    <a:pt x="3248812" y="9296"/>
                  </a:lnTo>
                  <a:lnTo>
                    <a:pt x="3202063" y="0"/>
                  </a:lnTo>
                  <a:close/>
                </a:path>
              </a:pathLst>
            </a:custGeom>
            <a:solidFill>
              <a:srgbClr val="000000">
                <a:alpha val="7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7534274" y="3362325"/>
              <a:ext cx="3324225" cy="2524125"/>
            </a:xfrm>
            <a:custGeom>
              <a:rect b="b" l="l" r="r" t="t"/>
              <a:pathLst>
                <a:path extrusionOk="0" h="2524125" w="3324225">
                  <a:moveTo>
                    <a:pt x="3202063" y="0"/>
                  </a:moveTo>
                  <a:lnTo>
                    <a:pt x="122161" y="0"/>
                  </a:lnTo>
                  <a:lnTo>
                    <a:pt x="110124" y="581"/>
                  </a:lnTo>
                  <a:lnTo>
                    <a:pt x="64513" y="14437"/>
                  </a:lnTo>
                  <a:lnTo>
                    <a:pt x="27677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401967"/>
                  </a:lnTo>
                  <a:lnTo>
                    <a:pt x="9296" y="2448714"/>
                  </a:lnTo>
                  <a:lnTo>
                    <a:pt x="35775" y="2488342"/>
                  </a:lnTo>
                  <a:lnTo>
                    <a:pt x="75412" y="2514824"/>
                  </a:lnTo>
                  <a:lnTo>
                    <a:pt x="122161" y="2524126"/>
                  </a:lnTo>
                  <a:lnTo>
                    <a:pt x="3202063" y="2524126"/>
                  </a:lnTo>
                  <a:lnTo>
                    <a:pt x="3248812" y="2514824"/>
                  </a:lnTo>
                  <a:lnTo>
                    <a:pt x="3288448" y="2488342"/>
                  </a:lnTo>
                  <a:lnTo>
                    <a:pt x="3314928" y="2448714"/>
                  </a:lnTo>
                  <a:lnTo>
                    <a:pt x="3324224" y="2401967"/>
                  </a:lnTo>
                  <a:lnTo>
                    <a:pt x="3324224" y="122161"/>
                  </a:lnTo>
                  <a:lnTo>
                    <a:pt x="3314928" y="75412"/>
                  </a:lnTo>
                  <a:lnTo>
                    <a:pt x="3288448" y="35775"/>
                  </a:lnTo>
                  <a:lnTo>
                    <a:pt x="3248812" y="9296"/>
                  </a:lnTo>
                  <a:lnTo>
                    <a:pt x="3202063" y="0"/>
                  </a:lnTo>
                  <a:close/>
                </a:path>
              </a:pathLst>
            </a:custGeom>
            <a:solidFill>
              <a:srgbClr val="FFFFFF">
                <a:alpha val="1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" name="Google Shape;136;p8"/>
          <p:cNvSpPr txBox="1"/>
          <p:nvPr/>
        </p:nvSpPr>
        <p:spPr>
          <a:xfrm>
            <a:off x="7688554" y="3525837"/>
            <a:ext cx="2997200" cy="164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EEFF5"/>
                </a:solidFill>
                <a:latin typeface="Tahoma"/>
                <a:ea typeface="Tahoma"/>
                <a:cs typeface="Tahoma"/>
                <a:sym typeface="Tahoma"/>
              </a:rPr>
              <a:t>Colaboración Humano-Máquina</a:t>
            </a:r>
            <a:endParaRPr sz="16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62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EEEFF5"/>
                </a:solidFill>
                <a:latin typeface="Verdana"/>
                <a:ea typeface="Verdana"/>
                <a:cs typeface="Verdana"/>
                <a:sym typeface="Verdana"/>
              </a:rPr>
              <a:t>La automatización es más eficaz  cuando se integra con la experiencia  y el criterio humano, permitiendo  una colaboración sinérgica entre  máquinas y personas.</a:t>
            </a:r>
            <a:endParaRPr sz="12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2024-11-05T07:22:21Z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