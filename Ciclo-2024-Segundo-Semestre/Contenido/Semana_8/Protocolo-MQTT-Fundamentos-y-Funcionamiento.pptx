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Syne Extra Bold"/>
      <p:regular r:id="rId15"/>
    </p:embeddedFont>
    <p:embeddedFont>
      <p:font typeface="Syne"/>
      <p:regular r:id="rId16"/>
    </p:embeddedFont>
    <p:embeddedFont>
      <p:font typeface="Syne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9700" y="536853"/>
            <a:ext cx="7777401" cy="5052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0"/>
              </a:lnSpc>
              <a:buNone/>
            </a:pPr>
            <a:r>
              <a:rPr lang="en-US" sz="53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Protocolo MQTT: Fundamentos y Funcionamiento</a:t>
            </a:r>
            <a:endParaRPr lang="en-US" sz="5300" dirty="0"/>
          </a:p>
        </p:txBody>
      </p:sp>
      <p:sp>
        <p:nvSpPr>
          <p:cNvPr id="4" name="Text 1"/>
          <p:cNvSpPr/>
          <p:nvPr/>
        </p:nvSpPr>
        <p:spPr>
          <a:xfrm>
            <a:off x="6169700" y="5881688"/>
            <a:ext cx="7777401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MQTT (Message Queuing Telemetry Transport) es un protocolo de comunicación ligero y eficiente, diseñado especialmente para aplicaciones de Internet of Things (IoT). Se basa en un modelo de publicación/suscripción, lo que permite una comunicación asíncrona y bidireccional entre diversos dispositivos y sistemas.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69700" y="7365563"/>
            <a:ext cx="312301" cy="312301"/>
          </a:xfrm>
          <a:prstGeom prst="roundRect">
            <a:avLst>
              <a:gd name="adj" fmla="val 29276517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320" y="7373183"/>
            <a:ext cx="297061" cy="297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79513" y="7350919"/>
            <a:ext cx="5643086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por DANNY EDUARDO CUXUM SANCHEZ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803" y="786765"/>
            <a:ext cx="7722394" cy="1904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Características y Ventajas del Protocolo MQTT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10803" y="3223974"/>
            <a:ext cx="456962" cy="456962"/>
          </a:xfrm>
          <a:prstGeom prst="roundRect">
            <a:avLst>
              <a:gd name="adj" fmla="val 1866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8679" y="3300055"/>
            <a:ext cx="161211" cy="30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370767" y="3223974"/>
            <a:ext cx="3099792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Bajo Consumo de Ancho de Banda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70767" y="4297680"/>
            <a:ext cx="3099792" cy="129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MQTT utiliza paquetes de datos pequeños, optimizando el uso del ancho de banda y el consumo de energía de los dispositivos.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673560" y="3223974"/>
            <a:ext cx="456962" cy="456962"/>
          </a:xfrm>
          <a:prstGeom prst="roundRect">
            <a:avLst>
              <a:gd name="adj" fmla="val 1866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49284" y="3300055"/>
            <a:ext cx="305514" cy="30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5333524" y="3223974"/>
            <a:ext cx="3099792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Confiabilidad y Tolerancia a Fallas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333524" y="4297680"/>
            <a:ext cx="3099792" cy="162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Ofrece diferentes niveles de calidad de servicio (QoS) para garantizar la entrega de mensajes, incluso en entornos con conexiones inestables.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10803" y="6353770"/>
            <a:ext cx="456962" cy="456962"/>
          </a:xfrm>
          <a:prstGeom prst="roundRect">
            <a:avLst>
              <a:gd name="adj" fmla="val 1866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8550" y="6429851"/>
            <a:ext cx="321350" cy="30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1370767" y="6353770"/>
            <a:ext cx="5500211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Escalabilidad y Flexibilidad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370767" y="6792873"/>
            <a:ext cx="7062430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Permite conectar miles de dispositivos a un mismo servidor, adaptándose a las necesidades de proyectos de IoT de cualquier escala.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834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Arquitectura y Componentes Principales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28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Broker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402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Componente central que recibe y distribuye los mensajes entre los clientes publicadores y suscriptores.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2880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Clientes Publicadores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92835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Dispositivos o aplicaciones que envían datos al broker mediante la publicación de mensajes en temas específicos.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2880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Clientes Suscriptores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92835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Dispositivos o aplicaciones que reciben los datos al suscribirse a los temas de interés en el broker.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8037" y="561023"/>
            <a:ext cx="7720727" cy="1906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Publicación y Suscripción en MQTT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91526" y="2772251"/>
            <a:ext cx="22860" cy="4896326"/>
          </a:xfrm>
          <a:prstGeom prst="roundRect">
            <a:avLst>
              <a:gd name="adj" fmla="val 373602"/>
            </a:avLst>
          </a:prstGeom>
          <a:solidFill>
            <a:srgbClr val="6D9121"/>
          </a:solidFill>
          <a:ln/>
        </p:spPr>
      </p:sp>
      <p:sp>
        <p:nvSpPr>
          <p:cNvPr id="5" name="Shape 2"/>
          <p:cNvSpPr/>
          <p:nvPr/>
        </p:nvSpPr>
        <p:spPr>
          <a:xfrm>
            <a:off x="6708815" y="3218259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6D9121"/>
          </a:solidFill>
          <a:ln/>
        </p:spPr>
      </p:sp>
      <p:sp>
        <p:nvSpPr>
          <p:cNvPr id="6" name="Shape 3"/>
          <p:cNvSpPr/>
          <p:nvPr/>
        </p:nvSpPr>
        <p:spPr>
          <a:xfrm>
            <a:off x="6274237" y="3000970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2231" y="3077170"/>
            <a:ext cx="161330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21310" y="2975491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Publicación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1310" y="3415070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Los clientes publicadores envían mensajes a temas (topics) definidos en el broker.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08815" y="4918115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6D9121"/>
          </a:solidFill>
          <a:ln/>
        </p:spPr>
      </p:sp>
      <p:sp>
        <p:nvSpPr>
          <p:cNvPr id="11" name="Shape 8"/>
          <p:cNvSpPr/>
          <p:nvPr/>
        </p:nvSpPr>
        <p:spPr>
          <a:xfrm>
            <a:off x="6274237" y="4700826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49960" y="4777026"/>
            <a:ext cx="305872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621310" y="4675346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Suscripción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621310" y="5114925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Los clientes suscriptores reciben los mensajes de los temas a los que se han suscrito.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08815" y="6617970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6D9121"/>
          </a:solidFill>
          <a:ln/>
        </p:spPr>
      </p:sp>
      <p:sp>
        <p:nvSpPr>
          <p:cNvPr id="16" name="Shape 13"/>
          <p:cNvSpPr/>
          <p:nvPr/>
        </p:nvSpPr>
        <p:spPr>
          <a:xfrm>
            <a:off x="6274237" y="6400681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42102" y="6476881"/>
            <a:ext cx="321707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621310" y="6375202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Distribución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21310" y="6814780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broker se encarga de redirigir los mensajes de los publicadores a los suscriptores correspondientes.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784" y="753189"/>
            <a:ext cx="7646432" cy="2674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Tipos de Mensajes y Calidades de Servicio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48784" y="3748207"/>
            <a:ext cx="3716298" cy="2266593"/>
          </a:xfrm>
          <a:prstGeom prst="roundRect">
            <a:avLst>
              <a:gd name="adj" fmla="val 3965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0240" y="3969663"/>
            <a:ext cx="3273385" cy="668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QoS 0: A Lo Más Una Vez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70240" y="4766429"/>
            <a:ext cx="3273385" cy="102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mensaje se envía sin garantía de entrega. Es el más rápido pero menos confiable.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78918" y="3748207"/>
            <a:ext cx="3716298" cy="2266593"/>
          </a:xfrm>
          <a:prstGeom prst="roundRect">
            <a:avLst>
              <a:gd name="adj" fmla="val 3965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00374" y="3969663"/>
            <a:ext cx="3273385" cy="668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QoS 1: Al Menos Una Vez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900374" y="4766429"/>
            <a:ext cx="3273385" cy="102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mensaje se entrega al menos una vez, pero puede haber duplicados.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8784" y="6228636"/>
            <a:ext cx="7646432" cy="1247775"/>
          </a:xfrm>
          <a:prstGeom prst="roundRect">
            <a:avLst>
              <a:gd name="adj" fmla="val 7202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0240" y="6450092"/>
            <a:ext cx="6253401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QoS 2: Exactamente Una Vez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70240" y="6912650"/>
            <a:ext cx="7203519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mensaje se entrega exactamente una vez, garantizando la fiabilidad.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8505" y="513517"/>
            <a:ext cx="7839789" cy="1746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Aplicaciones del Protocolo MQTT en IoT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505" y="2539603"/>
            <a:ext cx="465773" cy="4657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38505" y="3191589"/>
            <a:ext cx="3139678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Hogar Inteligente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138505" y="3594378"/>
            <a:ext cx="7839789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Control y monitoreo de dispositivos del hogar como luces, termostatos y sensores.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505" y="4451390"/>
            <a:ext cx="465773" cy="4657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38505" y="5103376"/>
            <a:ext cx="4768572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Automatización Industrial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138505" y="5506164"/>
            <a:ext cx="7839789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Supervisión y control de procesos, monitoreo de maquinaria y mantenimiento predictivo.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505" y="6363176"/>
            <a:ext cx="465773" cy="4657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38505" y="7015163"/>
            <a:ext cx="4013478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Ciudades Inteligentes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138505" y="7417951"/>
            <a:ext cx="7839789" cy="29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Gestión de tráfico, iluminación pública, sensores ambientales y servicios municipales.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584" y="561499"/>
            <a:ext cx="7717631" cy="191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Integración de MQTT en Soluciones IoT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584" y="2777371"/>
            <a:ext cx="1018818" cy="16302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24036" y="2981087"/>
            <a:ext cx="4457105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Recolección de Datos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24036" y="3421499"/>
            <a:ext cx="6393180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Los dispositivos IoT publican datos a través del protocolo MQTT.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584" y="4407575"/>
            <a:ext cx="1018818" cy="16302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4036" y="4611291"/>
            <a:ext cx="5057061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Procesamiento de Datos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524036" y="5051703"/>
            <a:ext cx="6393180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Una plataforma IoT recibe y procesa los datos provenientes de los dispositivos.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84" y="6037778"/>
            <a:ext cx="1018818" cy="16302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24036" y="6241494"/>
            <a:ext cx="6032540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Análisis y Toma de Decisiones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524036" y="6681907"/>
            <a:ext cx="6393180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Los datos procesados se utilizan para generar insights y tomar acciones automatizadas.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740093"/>
            <a:ext cx="7680960" cy="26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Consideraciones de Implementación y Seguridad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1520" y="3666292"/>
            <a:ext cx="7680960" cy="3823216"/>
          </a:xfrm>
          <a:prstGeom prst="roundRect">
            <a:avLst>
              <a:gd name="adj" fmla="val 229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9140" y="3673912"/>
            <a:ext cx="7665720" cy="12693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48095" y="3806904"/>
            <a:ext cx="341114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Autenticación y Autorización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84765" y="3806904"/>
            <a:ext cx="3411141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Implementar mecanismos de identificación y control de acceso a los temas MQTT.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9140" y="4943237"/>
            <a:ext cx="7665720" cy="12693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48095" y="5076230"/>
            <a:ext cx="341114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Cifrado de Comunicaciones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84765" y="5076230"/>
            <a:ext cx="3411141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Utilizar protocolos de seguridad como TLS/SSL para garantizar la confidencialidad.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9140" y="6212562"/>
            <a:ext cx="7665720" cy="12693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48095" y="6345555"/>
            <a:ext cx="3411141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Monitoreo y Logging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84765" y="6345555"/>
            <a:ext cx="3411141" cy="10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Registrar y monitorear las actividades en el broker MQTT para detectar posibles amenazas.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2024-11-04T20:17:02Z</dcterms:created>
  <dcterms:modified xsi:type="dcterms:W3CDTF">2024-11-04T20:17:02Z</dcterms:modified>
</cp:coreProperties>
</file>