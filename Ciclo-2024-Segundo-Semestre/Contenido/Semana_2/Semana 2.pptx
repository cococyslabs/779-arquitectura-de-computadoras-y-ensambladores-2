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6858000" cy="9144000"/>
  <p:embeddedFontLst>
    <p:embeddedFont>
      <p:font typeface="Montserrat SemiBold"/>
      <p:regular r:id="rId29"/>
      <p:bold r:id="rId30"/>
      <p:italic r:id="rId31"/>
      <p:boldItalic r:id="rId32"/>
    </p:embeddedFont>
    <p:embeddedFont>
      <p:font typeface="Raleway"/>
      <p:regular r:id="rId33"/>
      <p:bold r:id="rId34"/>
      <p:italic r:id="rId35"/>
      <p:boldItalic r:id="rId36"/>
    </p:embeddedFont>
    <p:embeddedFont>
      <p:font typeface="Montserrat Black"/>
      <p:bold r:id="rId37"/>
      <p:boldItalic r:id="rId38"/>
    </p:embeddedFont>
    <p:embeddedFont>
      <p:font typeface="Montserrat"/>
      <p:bold r:id="rId39"/>
      <p:boldItalic r:id="rId40"/>
    </p:embeddedFont>
    <p:embeddedFont>
      <p:font typeface="DM Sans"/>
      <p:bold r:id="rId41"/>
      <p:boldItalic r:id="rId42"/>
    </p:embeddedFont>
    <p:embeddedFont>
      <p:font typeface="Open Sans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iK2vY1VNHMA1EtPCn+NeEisupw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bold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italic.fntdata"/><Relationship Id="rId30" Type="http://schemas.openxmlformats.org/officeDocument/2006/relationships/font" Target="fonts/MontserratSemiBold-bold.fntdata"/><Relationship Id="rId11" Type="http://schemas.openxmlformats.org/officeDocument/2006/relationships/slide" Target="slides/slide6.xml"/><Relationship Id="rId33" Type="http://schemas.openxmlformats.org/officeDocument/2006/relationships/font" Target="fonts/Raleway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Raleway-italic.fntdata"/><Relationship Id="rId12" Type="http://schemas.openxmlformats.org/officeDocument/2006/relationships/slide" Target="slides/slide7.xml"/><Relationship Id="rId34" Type="http://schemas.openxmlformats.org/officeDocument/2006/relationships/font" Target="fonts/Raleway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Black-bold.fntdata"/><Relationship Id="rId14" Type="http://schemas.openxmlformats.org/officeDocument/2006/relationships/slide" Target="slides/slide9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.fntdata"/><Relationship Id="rId16" Type="http://schemas.openxmlformats.org/officeDocument/2006/relationships/slide" Target="slides/slide11.xml"/><Relationship Id="rId38" Type="http://schemas.openxmlformats.org/officeDocument/2006/relationships/font" Target="fonts/MontserratBlack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1756814" y="-548268"/>
            <a:ext cx="6531186" cy="11786439"/>
            <a:chOff x="0" y="-38100"/>
            <a:chExt cx="1720148" cy="3104247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720148" cy="3066147"/>
            </a:xfrm>
            <a:custGeom>
              <a:rect b="b" l="l" r="r" t="t"/>
              <a:pathLst>
                <a:path extrusionOk="0"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 rot="674092">
            <a:off x="-3513169" y="8339629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-9971081">
            <a:off x="1076036" y="-481941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028700" y="911969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39"/>
                </a:lnTo>
                <a:lnTo>
                  <a:pt x="0" y="595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2885966" y="2345777"/>
            <a:ext cx="11491619" cy="79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79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Bienvenidos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010107" y="1085859"/>
            <a:ext cx="6621669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579030" y="7190903"/>
            <a:ext cx="9680270" cy="4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8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Interrupciones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4355341" y="3559037"/>
            <a:ext cx="10471911" cy="2746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41" u="none" cap="none" strike="noStrike">
                <a:solidFill>
                  <a:srgbClr val="36E9F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Arquitectura de Computadores y Ensambladores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"/>
          <p:cNvGrpSpPr/>
          <p:nvPr/>
        </p:nvGrpSpPr>
        <p:grpSpPr>
          <a:xfrm>
            <a:off x="11756814" y="-548268"/>
            <a:ext cx="6531186" cy="11786439"/>
            <a:chOff x="0" y="-38100"/>
            <a:chExt cx="1720148" cy="3104247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720148" cy="3066147"/>
            </a:xfrm>
            <a:custGeom>
              <a:rect b="b" l="l" r="r" t="t"/>
              <a:pathLst>
                <a:path extrusionOk="0"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 rot="674092">
            <a:off x="-3513169" y="8339629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 rot="-9971081">
            <a:off x="1076036" y="-481941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028700" y="911969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39"/>
                </a:lnTo>
                <a:lnTo>
                  <a:pt x="0" y="595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3087479" y="2896515"/>
            <a:ext cx="11491619" cy="2282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79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 de Computadores y Ensambladores 2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010107" y="1085859"/>
            <a:ext cx="6621669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898828" y="8490958"/>
            <a:ext cx="9680270" cy="483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8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Sensores, Interrupciones y Arduino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6249848" y="5435804"/>
            <a:ext cx="9506012" cy="1427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62" u="none" cap="none" strike="noStrike">
                <a:solidFill>
                  <a:srgbClr val="36E9F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Lab #2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4199207" y="6996595"/>
            <a:ext cx="11079513" cy="758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7" u="none" cap="none" strike="noStrike">
                <a:solidFill>
                  <a:srgbClr val="36E9F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Capa: Device Hardware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3"/>
          <p:cNvGrpSpPr/>
          <p:nvPr/>
        </p:nvGrpSpPr>
        <p:grpSpPr>
          <a:xfrm>
            <a:off x="11290946" y="-488497"/>
            <a:ext cx="6531186" cy="11786439"/>
            <a:chOff x="0" y="-38100"/>
            <a:chExt cx="1720148" cy="3104247"/>
          </a:xfrm>
        </p:grpSpPr>
        <p:sp>
          <p:nvSpPr>
            <p:cNvPr id="114" name="Google Shape;114;p3"/>
            <p:cNvSpPr/>
            <p:nvPr/>
          </p:nvSpPr>
          <p:spPr>
            <a:xfrm>
              <a:off x="0" y="0"/>
              <a:ext cx="1720148" cy="3066147"/>
            </a:xfrm>
            <a:custGeom>
              <a:rect b="b" l="l" r="r" t="t"/>
              <a:pathLst>
                <a:path extrusionOk="0"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15" name="Google Shape;115;p3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3"/>
          <p:cNvSpPr/>
          <p:nvPr/>
        </p:nvSpPr>
        <p:spPr>
          <a:xfrm rot="674092">
            <a:off x="-3513169" y="8339629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 rot="-9971081">
            <a:off x="1076036" y="-481941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/>
          <p:nvPr/>
        </p:nvSpPr>
        <p:spPr>
          <a:xfrm>
            <a:off x="1028700" y="911969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39"/>
                </a:lnTo>
                <a:lnTo>
                  <a:pt x="0" y="595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 txBox="1"/>
          <p:nvPr/>
        </p:nvSpPr>
        <p:spPr>
          <a:xfrm>
            <a:off x="3064920" y="2270716"/>
            <a:ext cx="11491619" cy="79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79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Listado de Actividades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2010107" y="1085859"/>
            <a:ext cx="6621669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2187885" y="4517550"/>
            <a:ext cx="22798365" cy="3371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42228" lvl="1" marL="1484455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75"/>
              <a:buFont typeface="DM Sans"/>
              <a:buAutoNum type="arabicPeriod"/>
            </a:pPr>
            <a:r>
              <a:rPr b="0" i="0" lang="en-US" sz="687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Anuncios Previos + Programas </a:t>
            </a:r>
            <a:endParaRPr/>
          </a:p>
          <a:p>
            <a:pPr indent="-742228" lvl="1" marL="1484455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75"/>
              <a:buFont typeface="DM Sans"/>
              <a:buAutoNum type="arabicPeriod"/>
            </a:pPr>
            <a:r>
              <a:rPr b="0" i="0" lang="en-US" sz="687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Lectura del Enunciado</a:t>
            </a:r>
            <a:endParaRPr/>
          </a:p>
          <a:p>
            <a:pPr indent="-742228" lvl="1" marL="1484455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75"/>
              <a:buFont typeface="DM Sans"/>
              <a:buAutoNum type="arabicPeriod"/>
            </a:pPr>
            <a:r>
              <a:rPr b="0" i="0" lang="en-US" sz="687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Interrupciones</a:t>
            </a:r>
            <a:endParaRPr/>
          </a:p>
          <a:p>
            <a:pPr indent="0" lvl="0" marL="0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875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4"/>
          <p:cNvGrpSpPr/>
          <p:nvPr/>
        </p:nvGrpSpPr>
        <p:grpSpPr>
          <a:xfrm>
            <a:off x="11290946" y="-488497"/>
            <a:ext cx="6531186" cy="11786439"/>
            <a:chOff x="0" y="-38100"/>
            <a:chExt cx="1720148" cy="3104247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1720148" cy="3066147"/>
            </a:xfrm>
            <a:custGeom>
              <a:rect b="b" l="l" r="r" t="t"/>
              <a:pathLst>
                <a:path extrusionOk="0"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8" name="Google Shape;128;p4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4"/>
          <p:cNvSpPr/>
          <p:nvPr/>
        </p:nvSpPr>
        <p:spPr>
          <a:xfrm rot="674092">
            <a:off x="-3513169" y="8339629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 rot="-9971081">
            <a:off x="1076036" y="-481941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4"/>
          <p:cNvSpPr/>
          <p:nvPr/>
        </p:nvSpPr>
        <p:spPr>
          <a:xfrm>
            <a:off x="1028700" y="911969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39"/>
                </a:lnTo>
                <a:lnTo>
                  <a:pt x="0" y="595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4"/>
          <p:cNvSpPr txBox="1"/>
          <p:nvPr/>
        </p:nvSpPr>
        <p:spPr>
          <a:xfrm>
            <a:off x="3691463" y="4347237"/>
            <a:ext cx="11491619" cy="79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79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Anuncios Previos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2010107" y="1085859"/>
            <a:ext cx="6621669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5"/>
          <p:cNvGrpSpPr/>
          <p:nvPr/>
        </p:nvGrpSpPr>
        <p:grpSpPr>
          <a:xfrm>
            <a:off x="11290946" y="-488497"/>
            <a:ext cx="6531186" cy="11786439"/>
            <a:chOff x="0" y="-38100"/>
            <a:chExt cx="1720148" cy="3104247"/>
          </a:xfrm>
        </p:grpSpPr>
        <p:sp>
          <p:nvSpPr>
            <p:cNvPr id="139" name="Google Shape;139;p5"/>
            <p:cNvSpPr/>
            <p:nvPr/>
          </p:nvSpPr>
          <p:spPr>
            <a:xfrm>
              <a:off x="0" y="0"/>
              <a:ext cx="1720148" cy="3066147"/>
            </a:xfrm>
            <a:custGeom>
              <a:rect b="b" l="l" r="r" t="t"/>
              <a:pathLst>
                <a:path extrusionOk="0"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40" name="Google Shape;140;p5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5"/>
          <p:cNvSpPr/>
          <p:nvPr/>
        </p:nvSpPr>
        <p:spPr>
          <a:xfrm rot="674092">
            <a:off x="-3513169" y="8339629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 rot="-9971081">
            <a:off x="1076036" y="-481941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5"/>
          <p:cNvSpPr/>
          <p:nvPr/>
        </p:nvSpPr>
        <p:spPr>
          <a:xfrm>
            <a:off x="1028700" y="911969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39"/>
                </a:lnTo>
                <a:lnTo>
                  <a:pt x="0" y="595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5"/>
          <p:cNvSpPr txBox="1"/>
          <p:nvPr/>
        </p:nvSpPr>
        <p:spPr>
          <a:xfrm>
            <a:off x="3691463" y="4680790"/>
            <a:ext cx="11491619" cy="79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7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Arduino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2010107" y="1085859"/>
            <a:ext cx="6621669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6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6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4795179" y="4958546"/>
            <a:ext cx="9614085" cy="92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Interrupciones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una interrupción?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2244487" y="2588998"/>
            <a:ext cx="14210907" cy="5698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32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Supongamos que estamos esperando un paquete en casa. El paquete puede llegar a cualquier hora.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8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8"/>
          <p:cNvSpPr/>
          <p:nvPr/>
        </p:nvSpPr>
        <p:spPr>
          <a:xfrm>
            <a:off x="5923679" y="2639351"/>
            <a:ext cx="6440642" cy="6051983"/>
          </a:xfrm>
          <a:custGeom>
            <a:rect b="b" l="l" r="r" t="t"/>
            <a:pathLst>
              <a:path extrusionOk="0" h="6051983" w="6440642">
                <a:moveTo>
                  <a:pt x="0" y="0"/>
                </a:moveTo>
                <a:lnTo>
                  <a:pt x="6440642" y="0"/>
                </a:lnTo>
                <a:lnTo>
                  <a:pt x="6440642" y="6051983"/>
                </a:lnTo>
                <a:lnTo>
                  <a:pt x="0" y="6051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2" name="Google Shape;172;p8"/>
          <p:cNvGrpSpPr/>
          <p:nvPr/>
        </p:nvGrpSpPr>
        <p:grpSpPr>
          <a:xfrm>
            <a:off x="7481219" y="2639351"/>
            <a:ext cx="3627526" cy="1123430"/>
            <a:chOff x="0" y="0"/>
            <a:chExt cx="955398" cy="295883"/>
          </a:xfrm>
        </p:grpSpPr>
        <p:sp>
          <p:nvSpPr>
            <p:cNvPr id="173" name="Google Shape;173;p8"/>
            <p:cNvSpPr/>
            <p:nvPr/>
          </p:nvSpPr>
          <p:spPr>
            <a:xfrm>
              <a:off x="0" y="0"/>
              <a:ext cx="955398" cy="295883"/>
            </a:xfrm>
            <a:custGeom>
              <a:rect b="b" l="l" r="r" t="t"/>
              <a:pathLst>
                <a:path extrusionOk="0" h="295883" w="955398">
                  <a:moveTo>
                    <a:pt x="108845" y="0"/>
                  </a:moveTo>
                  <a:lnTo>
                    <a:pt x="846553" y="0"/>
                  </a:lnTo>
                  <a:cubicBezTo>
                    <a:pt x="906666" y="0"/>
                    <a:pt x="955398" y="48732"/>
                    <a:pt x="955398" y="108845"/>
                  </a:cubicBezTo>
                  <a:lnTo>
                    <a:pt x="955398" y="187038"/>
                  </a:lnTo>
                  <a:cubicBezTo>
                    <a:pt x="955398" y="247151"/>
                    <a:pt x="906666" y="295883"/>
                    <a:pt x="846553" y="295883"/>
                  </a:cubicBezTo>
                  <a:lnTo>
                    <a:pt x="108845" y="295883"/>
                  </a:lnTo>
                  <a:cubicBezTo>
                    <a:pt x="48732" y="295883"/>
                    <a:pt x="0" y="247151"/>
                    <a:pt x="0" y="187038"/>
                  </a:cubicBezTo>
                  <a:lnTo>
                    <a:pt x="0" y="108845"/>
                  </a:lnTo>
                  <a:cubicBezTo>
                    <a:pt x="0" y="48732"/>
                    <a:pt x="48732" y="0"/>
                    <a:pt x="108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 txBox="1"/>
            <p:nvPr/>
          </p:nvSpPr>
          <p:spPr>
            <a:xfrm>
              <a:off x="0" y="57150"/>
              <a:ext cx="955398" cy="238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VV</a:t>
              </a:r>
              <a:endParaRPr/>
            </a:p>
          </p:txBody>
        </p:sp>
      </p:grpSp>
      <p:sp>
        <p:nvSpPr>
          <p:cNvPr id="175" name="Google Shape;175;p8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una interrupción?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7104259" y="2861818"/>
            <a:ext cx="4381445" cy="61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0" u="none" cap="none" strike="noStrike">
                <a:solidFill>
                  <a:srgbClr val="071337"/>
                </a:solidFill>
                <a:latin typeface="Open Sans"/>
                <a:ea typeface="Open Sans"/>
                <a:cs typeface="Open Sans"/>
                <a:sym typeface="Open Sans"/>
              </a:rPr>
              <a:t>Voy a la puerta ver </a:t>
            </a:r>
            <a:endParaRPr/>
          </a:p>
        </p:txBody>
      </p:sp>
      <p:grpSp>
        <p:nvGrpSpPr>
          <p:cNvPr id="179" name="Google Shape;179;p8"/>
          <p:cNvGrpSpPr/>
          <p:nvPr/>
        </p:nvGrpSpPr>
        <p:grpSpPr>
          <a:xfrm>
            <a:off x="7432269" y="7567904"/>
            <a:ext cx="3627526" cy="1123430"/>
            <a:chOff x="0" y="0"/>
            <a:chExt cx="955398" cy="295883"/>
          </a:xfrm>
        </p:grpSpPr>
        <p:sp>
          <p:nvSpPr>
            <p:cNvPr id="180" name="Google Shape;180;p8"/>
            <p:cNvSpPr/>
            <p:nvPr/>
          </p:nvSpPr>
          <p:spPr>
            <a:xfrm>
              <a:off x="0" y="0"/>
              <a:ext cx="955398" cy="295883"/>
            </a:xfrm>
            <a:custGeom>
              <a:rect b="b" l="l" r="r" t="t"/>
              <a:pathLst>
                <a:path extrusionOk="0" h="295883" w="955398">
                  <a:moveTo>
                    <a:pt x="108845" y="0"/>
                  </a:moveTo>
                  <a:lnTo>
                    <a:pt x="846553" y="0"/>
                  </a:lnTo>
                  <a:cubicBezTo>
                    <a:pt x="906666" y="0"/>
                    <a:pt x="955398" y="48732"/>
                    <a:pt x="955398" y="108845"/>
                  </a:cubicBezTo>
                  <a:lnTo>
                    <a:pt x="955398" y="187038"/>
                  </a:lnTo>
                  <a:cubicBezTo>
                    <a:pt x="955398" y="247151"/>
                    <a:pt x="906666" y="295883"/>
                    <a:pt x="846553" y="295883"/>
                  </a:cubicBezTo>
                  <a:lnTo>
                    <a:pt x="108845" y="295883"/>
                  </a:lnTo>
                  <a:cubicBezTo>
                    <a:pt x="48732" y="295883"/>
                    <a:pt x="0" y="247151"/>
                    <a:pt x="0" y="187038"/>
                  </a:cubicBezTo>
                  <a:lnTo>
                    <a:pt x="0" y="108845"/>
                  </a:lnTo>
                  <a:cubicBezTo>
                    <a:pt x="0" y="48732"/>
                    <a:pt x="48732" y="0"/>
                    <a:pt x="108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0" y="57150"/>
              <a:ext cx="955398" cy="238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VV</a:t>
              </a:r>
              <a:endParaRPr/>
            </a:p>
          </p:txBody>
        </p:sp>
      </p:grpSp>
      <p:sp>
        <p:nvSpPr>
          <p:cNvPr id="182" name="Google Shape;182;p8"/>
          <p:cNvSpPr txBox="1"/>
          <p:nvPr/>
        </p:nvSpPr>
        <p:spPr>
          <a:xfrm>
            <a:off x="7114580" y="7790371"/>
            <a:ext cx="4262904" cy="61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0" u="none" cap="none" strike="noStrike">
                <a:solidFill>
                  <a:srgbClr val="071337"/>
                </a:solidFill>
                <a:latin typeface="Open Sans"/>
                <a:ea typeface="Open Sans"/>
                <a:cs typeface="Open Sans"/>
                <a:sym typeface="Open Sans"/>
              </a:rPr>
              <a:t>No esta el paquete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9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9"/>
          <p:cNvSpPr/>
          <p:nvPr/>
        </p:nvSpPr>
        <p:spPr>
          <a:xfrm>
            <a:off x="5923679" y="2639351"/>
            <a:ext cx="6440642" cy="6051983"/>
          </a:xfrm>
          <a:custGeom>
            <a:rect b="b" l="l" r="r" t="t"/>
            <a:pathLst>
              <a:path extrusionOk="0" h="6051983" w="6440642">
                <a:moveTo>
                  <a:pt x="0" y="0"/>
                </a:moveTo>
                <a:lnTo>
                  <a:pt x="6440642" y="0"/>
                </a:lnTo>
                <a:lnTo>
                  <a:pt x="6440642" y="6051983"/>
                </a:lnTo>
                <a:lnTo>
                  <a:pt x="0" y="6051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0" name="Google Shape;190;p9"/>
          <p:cNvGrpSpPr/>
          <p:nvPr/>
        </p:nvGrpSpPr>
        <p:grpSpPr>
          <a:xfrm>
            <a:off x="7481219" y="2639351"/>
            <a:ext cx="3627526" cy="1123430"/>
            <a:chOff x="0" y="0"/>
            <a:chExt cx="955398" cy="295883"/>
          </a:xfrm>
        </p:grpSpPr>
        <p:sp>
          <p:nvSpPr>
            <p:cNvPr id="191" name="Google Shape;191;p9"/>
            <p:cNvSpPr/>
            <p:nvPr/>
          </p:nvSpPr>
          <p:spPr>
            <a:xfrm>
              <a:off x="0" y="0"/>
              <a:ext cx="955398" cy="295883"/>
            </a:xfrm>
            <a:custGeom>
              <a:rect b="b" l="l" r="r" t="t"/>
              <a:pathLst>
                <a:path extrusionOk="0" h="295883" w="955398">
                  <a:moveTo>
                    <a:pt x="108845" y="0"/>
                  </a:moveTo>
                  <a:lnTo>
                    <a:pt x="846553" y="0"/>
                  </a:lnTo>
                  <a:cubicBezTo>
                    <a:pt x="906666" y="0"/>
                    <a:pt x="955398" y="48732"/>
                    <a:pt x="955398" y="108845"/>
                  </a:cubicBezTo>
                  <a:lnTo>
                    <a:pt x="955398" y="187038"/>
                  </a:lnTo>
                  <a:cubicBezTo>
                    <a:pt x="955398" y="247151"/>
                    <a:pt x="906666" y="295883"/>
                    <a:pt x="846553" y="295883"/>
                  </a:cubicBezTo>
                  <a:lnTo>
                    <a:pt x="108845" y="295883"/>
                  </a:lnTo>
                  <a:cubicBezTo>
                    <a:pt x="48732" y="295883"/>
                    <a:pt x="0" y="247151"/>
                    <a:pt x="0" y="187038"/>
                  </a:cubicBezTo>
                  <a:lnTo>
                    <a:pt x="0" y="108845"/>
                  </a:lnTo>
                  <a:cubicBezTo>
                    <a:pt x="0" y="48732"/>
                    <a:pt x="48732" y="0"/>
                    <a:pt x="108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 txBox="1"/>
            <p:nvPr/>
          </p:nvSpPr>
          <p:spPr>
            <a:xfrm>
              <a:off x="0" y="57150"/>
              <a:ext cx="955398" cy="238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VV</a:t>
              </a:r>
              <a:endParaRPr/>
            </a:p>
          </p:txBody>
        </p:sp>
      </p:grpSp>
      <p:sp>
        <p:nvSpPr>
          <p:cNvPr id="193" name="Google Shape;193;p9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una interrupción?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7104259" y="2861818"/>
            <a:ext cx="4381445" cy="61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0" u="none" cap="none" strike="noStrike">
                <a:solidFill>
                  <a:srgbClr val="071337"/>
                </a:solidFill>
                <a:latin typeface="Open Sans"/>
                <a:ea typeface="Open Sans"/>
                <a:cs typeface="Open Sans"/>
                <a:sym typeface="Open Sans"/>
              </a:rPr>
              <a:t>Voy a la puerta ver </a:t>
            </a:r>
            <a:endParaRPr/>
          </a:p>
        </p:txBody>
      </p:sp>
      <p:grpSp>
        <p:nvGrpSpPr>
          <p:cNvPr id="197" name="Google Shape;197;p9"/>
          <p:cNvGrpSpPr/>
          <p:nvPr/>
        </p:nvGrpSpPr>
        <p:grpSpPr>
          <a:xfrm>
            <a:off x="7432269" y="7567904"/>
            <a:ext cx="3627526" cy="1123430"/>
            <a:chOff x="0" y="0"/>
            <a:chExt cx="955398" cy="295883"/>
          </a:xfrm>
        </p:grpSpPr>
        <p:sp>
          <p:nvSpPr>
            <p:cNvPr id="198" name="Google Shape;198;p9"/>
            <p:cNvSpPr/>
            <p:nvPr/>
          </p:nvSpPr>
          <p:spPr>
            <a:xfrm>
              <a:off x="0" y="0"/>
              <a:ext cx="955398" cy="295883"/>
            </a:xfrm>
            <a:custGeom>
              <a:rect b="b" l="l" r="r" t="t"/>
              <a:pathLst>
                <a:path extrusionOk="0" h="295883" w="955398">
                  <a:moveTo>
                    <a:pt x="108845" y="0"/>
                  </a:moveTo>
                  <a:lnTo>
                    <a:pt x="846553" y="0"/>
                  </a:lnTo>
                  <a:cubicBezTo>
                    <a:pt x="906666" y="0"/>
                    <a:pt x="955398" y="48732"/>
                    <a:pt x="955398" y="108845"/>
                  </a:cubicBezTo>
                  <a:lnTo>
                    <a:pt x="955398" y="187038"/>
                  </a:lnTo>
                  <a:cubicBezTo>
                    <a:pt x="955398" y="247151"/>
                    <a:pt x="906666" y="295883"/>
                    <a:pt x="846553" y="295883"/>
                  </a:cubicBezTo>
                  <a:lnTo>
                    <a:pt x="108845" y="295883"/>
                  </a:lnTo>
                  <a:cubicBezTo>
                    <a:pt x="48732" y="295883"/>
                    <a:pt x="0" y="247151"/>
                    <a:pt x="0" y="187038"/>
                  </a:cubicBezTo>
                  <a:lnTo>
                    <a:pt x="0" y="108845"/>
                  </a:lnTo>
                  <a:cubicBezTo>
                    <a:pt x="0" y="48732"/>
                    <a:pt x="48732" y="0"/>
                    <a:pt x="108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 txBox="1"/>
            <p:nvPr/>
          </p:nvSpPr>
          <p:spPr>
            <a:xfrm>
              <a:off x="0" y="57150"/>
              <a:ext cx="955398" cy="238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VV</a:t>
              </a:r>
              <a:endParaRPr/>
            </a:p>
          </p:txBody>
        </p:sp>
      </p:grpSp>
      <p:sp>
        <p:nvSpPr>
          <p:cNvPr id="200" name="Google Shape;200;p9"/>
          <p:cNvSpPr txBox="1"/>
          <p:nvPr/>
        </p:nvSpPr>
        <p:spPr>
          <a:xfrm>
            <a:off x="7114580" y="7790371"/>
            <a:ext cx="4262904" cy="61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0" u="none" cap="none" strike="noStrike">
                <a:solidFill>
                  <a:srgbClr val="071337"/>
                </a:solidFill>
                <a:latin typeface="Open Sans"/>
                <a:ea typeface="Open Sans"/>
                <a:cs typeface="Open Sans"/>
                <a:sym typeface="Open Sans"/>
              </a:rPr>
              <a:t>No esta el paquete</a:t>
            </a:r>
            <a:endParaRPr/>
          </a:p>
        </p:txBody>
      </p:sp>
      <p:cxnSp>
        <p:nvCxnSpPr>
          <p:cNvPr id="201" name="Google Shape;201;p9"/>
          <p:cNvCxnSpPr/>
          <p:nvPr/>
        </p:nvCxnSpPr>
        <p:spPr>
          <a:xfrm flipH="1">
            <a:off x="12390120" y="4173445"/>
            <a:ext cx="3208313" cy="970055"/>
          </a:xfrm>
          <a:prstGeom prst="straightConnector1">
            <a:avLst/>
          </a:prstGeom>
          <a:noFill/>
          <a:ln cap="flat" cmpd="sng" w="314325">
            <a:solidFill>
              <a:srgbClr val="36E9F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2" name="Google Shape;202;p9"/>
          <p:cNvSpPr txBox="1"/>
          <p:nvPr/>
        </p:nvSpPr>
        <p:spPr>
          <a:xfrm>
            <a:off x="13070156" y="2852293"/>
            <a:ext cx="5056554" cy="67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36E9FD"/>
                </a:solidFill>
                <a:latin typeface="Open Sans"/>
                <a:ea typeface="Open Sans"/>
                <a:cs typeface="Open Sans"/>
                <a:sym typeface="Open Sans"/>
              </a:rPr>
              <a:t>El paquete vino aquí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0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0"/>
          <p:cNvSpPr/>
          <p:nvPr/>
        </p:nvSpPr>
        <p:spPr>
          <a:xfrm>
            <a:off x="5923679" y="2639351"/>
            <a:ext cx="6440642" cy="6051983"/>
          </a:xfrm>
          <a:custGeom>
            <a:rect b="b" l="l" r="r" t="t"/>
            <a:pathLst>
              <a:path extrusionOk="0" h="6051983" w="6440642">
                <a:moveTo>
                  <a:pt x="0" y="0"/>
                </a:moveTo>
                <a:lnTo>
                  <a:pt x="6440642" y="0"/>
                </a:lnTo>
                <a:lnTo>
                  <a:pt x="6440642" y="6051983"/>
                </a:lnTo>
                <a:lnTo>
                  <a:pt x="0" y="6051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0" name="Google Shape;210;p10"/>
          <p:cNvGrpSpPr/>
          <p:nvPr/>
        </p:nvGrpSpPr>
        <p:grpSpPr>
          <a:xfrm>
            <a:off x="7481219" y="2639351"/>
            <a:ext cx="3627526" cy="1123430"/>
            <a:chOff x="0" y="0"/>
            <a:chExt cx="955398" cy="295883"/>
          </a:xfrm>
        </p:grpSpPr>
        <p:sp>
          <p:nvSpPr>
            <p:cNvPr id="211" name="Google Shape;211;p10"/>
            <p:cNvSpPr/>
            <p:nvPr/>
          </p:nvSpPr>
          <p:spPr>
            <a:xfrm>
              <a:off x="0" y="0"/>
              <a:ext cx="955398" cy="295883"/>
            </a:xfrm>
            <a:custGeom>
              <a:rect b="b" l="l" r="r" t="t"/>
              <a:pathLst>
                <a:path extrusionOk="0" h="295883" w="955398">
                  <a:moveTo>
                    <a:pt x="108845" y="0"/>
                  </a:moveTo>
                  <a:lnTo>
                    <a:pt x="846553" y="0"/>
                  </a:lnTo>
                  <a:cubicBezTo>
                    <a:pt x="906666" y="0"/>
                    <a:pt x="955398" y="48732"/>
                    <a:pt x="955398" y="108845"/>
                  </a:cubicBezTo>
                  <a:lnTo>
                    <a:pt x="955398" y="187038"/>
                  </a:lnTo>
                  <a:cubicBezTo>
                    <a:pt x="955398" y="247151"/>
                    <a:pt x="906666" y="295883"/>
                    <a:pt x="846553" y="295883"/>
                  </a:cubicBezTo>
                  <a:lnTo>
                    <a:pt x="108845" y="295883"/>
                  </a:lnTo>
                  <a:cubicBezTo>
                    <a:pt x="48732" y="295883"/>
                    <a:pt x="0" y="247151"/>
                    <a:pt x="0" y="187038"/>
                  </a:cubicBezTo>
                  <a:lnTo>
                    <a:pt x="0" y="108845"/>
                  </a:lnTo>
                  <a:cubicBezTo>
                    <a:pt x="0" y="48732"/>
                    <a:pt x="48732" y="0"/>
                    <a:pt x="108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0"/>
            <p:cNvSpPr txBox="1"/>
            <p:nvPr/>
          </p:nvSpPr>
          <p:spPr>
            <a:xfrm>
              <a:off x="0" y="57150"/>
              <a:ext cx="955398" cy="238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VV</a:t>
              </a:r>
              <a:endParaRPr/>
            </a:p>
          </p:txBody>
        </p:sp>
      </p:grpSp>
      <p:grpSp>
        <p:nvGrpSpPr>
          <p:cNvPr id="213" name="Google Shape;213;p10"/>
          <p:cNvGrpSpPr/>
          <p:nvPr/>
        </p:nvGrpSpPr>
        <p:grpSpPr>
          <a:xfrm>
            <a:off x="7432269" y="7567904"/>
            <a:ext cx="3627526" cy="1123430"/>
            <a:chOff x="0" y="0"/>
            <a:chExt cx="955398" cy="295883"/>
          </a:xfrm>
        </p:grpSpPr>
        <p:sp>
          <p:nvSpPr>
            <p:cNvPr id="214" name="Google Shape;214;p10"/>
            <p:cNvSpPr/>
            <p:nvPr/>
          </p:nvSpPr>
          <p:spPr>
            <a:xfrm>
              <a:off x="0" y="0"/>
              <a:ext cx="955398" cy="295883"/>
            </a:xfrm>
            <a:custGeom>
              <a:rect b="b" l="l" r="r" t="t"/>
              <a:pathLst>
                <a:path extrusionOk="0" h="295883" w="955398">
                  <a:moveTo>
                    <a:pt x="108845" y="0"/>
                  </a:moveTo>
                  <a:lnTo>
                    <a:pt x="846553" y="0"/>
                  </a:lnTo>
                  <a:cubicBezTo>
                    <a:pt x="906666" y="0"/>
                    <a:pt x="955398" y="48732"/>
                    <a:pt x="955398" y="108845"/>
                  </a:cubicBezTo>
                  <a:lnTo>
                    <a:pt x="955398" y="187038"/>
                  </a:lnTo>
                  <a:cubicBezTo>
                    <a:pt x="955398" y="247151"/>
                    <a:pt x="906666" y="295883"/>
                    <a:pt x="846553" y="295883"/>
                  </a:cubicBezTo>
                  <a:lnTo>
                    <a:pt x="108845" y="295883"/>
                  </a:lnTo>
                  <a:cubicBezTo>
                    <a:pt x="48732" y="295883"/>
                    <a:pt x="0" y="247151"/>
                    <a:pt x="0" y="187038"/>
                  </a:cubicBezTo>
                  <a:lnTo>
                    <a:pt x="0" y="108845"/>
                  </a:lnTo>
                  <a:cubicBezTo>
                    <a:pt x="0" y="48732"/>
                    <a:pt x="48732" y="0"/>
                    <a:pt x="108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0"/>
            <p:cNvSpPr txBox="1"/>
            <p:nvPr/>
          </p:nvSpPr>
          <p:spPr>
            <a:xfrm>
              <a:off x="0" y="57150"/>
              <a:ext cx="955398" cy="238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VV</a:t>
              </a:r>
              <a:endParaRPr/>
            </a:p>
          </p:txBody>
        </p:sp>
      </p:grpSp>
      <p:cxnSp>
        <p:nvCxnSpPr>
          <p:cNvPr id="216" name="Google Shape;216;p10"/>
          <p:cNvCxnSpPr/>
          <p:nvPr/>
        </p:nvCxnSpPr>
        <p:spPr>
          <a:xfrm flipH="1">
            <a:off x="12390120" y="4173445"/>
            <a:ext cx="3208313" cy="970055"/>
          </a:xfrm>
          <a:prstGeom prst="straightConnector1">
            <a:avLst/>
          </a:prstGeom>
          <a:noFill/>
          <a:ln cap="flat" cmpd="sng" w="314325">
            <a:solidFill>
              <a:srgbClr val="36E9FD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7" name="Google Shape;217;p10"/>
          <p:cNvSpPr/>
          <p:nvPr/>
        </p:nvSpPr>
        <p:spPr>
          <a:xfrm>
            <a:off x="14624516" y="4921471"/>
            <a:ext cx="2935575" cy="2935575"/>
          </a:xfrm>
          <a:custGeom>
            <a:rect b="b" l="l" r="r" t="t"/>
            <a:pathLst>
              <a:path extrusionOk="0" h="2935575" w="2935575">
                <a:moveTo>
                  <a:pt x="0" y="0"/>
                </a:moveTo>
                <a:lnTo>
                  <a:pt x="2935574" y="0"/>
                </a:lnTo>
                <a:lnTo>
                  <a:pt x="2935574" y="2935575"/>
                </a:lnTo>
                <a:lnTo>
                  <a:pt x="0" y="2935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0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20" name="Google Shape;220;p10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una interrupción?</a:t>
            </a:r>
            <a:endParaRPr/>
          </a:p>
        </p:txBody>
      </p:sp>
      <p:sp>
        <p:nvSpPr>
          <p:cNvPr id="221" name="Google Shape;221;p10"/>
          <p:cNvSpPr txBox="1"/>
          <p:nvPr/>
        </p:nvSpPr>
        <p:spPr>
          <a:xfrm>
            <a:off x="7104259" y="2861818"/>
            <a:ext cx="4381445" cy="61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0" u="none" cap="none" strike="noStrike">
                <a:solidFill>
                  <a:srgbClr val="071337"/>
                </a:solidFill>
                <a:latin typeface="Open Sans"/>
                <a:ea typeface="Open Sans"/>
                <a:cs typeface="Open Sans"/>
                <a:sym typeface="Open Sans"/>
              </a:rPr>
              <a:t>Voy a la puerta ver 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7114580" y="7790371"/>
            <a:ext cx="4262904" cy="61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0" u="none" cap="none" strike="noStrike">
                <a:solidFill>
                  <a:srgbClr val="071337"/>
                </a:solidFill>
                <a:latin typeface="Open Sans"/>
                <a:ea typeface="Open Sans"/>
                <a:cs typeface="Open Sans"/>
                <a:sym typeface="Open Sans"/>
              </a:rPr>
              <a:t>No esta el paquete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3070156" y="2852293"/>
            <a:ext cx="5056554" cy="671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36E9FD"/>
                </a:solidFill>
                <a:latin typeface="Open Sans"/>
                <a:ea typeface="Open Sans"/>
                <a:cs typeface="Open Sans"/>
                <a:sym typeface="Open Sans"/>
              </a:rPr>
              <a:t>El paquete vino aquí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14177166" y="7780846"/>
            <a:ext cx="3773383" cy="13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36E9FD"/>
                </a:solidFill>
                <a:latin typeface="Open Sans"/>
                <a:ea typeface="Open Sans"/>
                <a:cs typeface="Open Sans"/>
                <a:sym typeface="Open Sans"/>
              </a:rPr>
              <a:t>Timbre</a:t>
            </a:r>
            <a:endParaRPr/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36E9FD"/>
                </a:solidFill>
                <a:latin typeface="Open Sans"/>
                <a:ea typeface="Open Sans"/>
                <a:cs typeface="Open Sans"/>
                <a:sym typeface="Open Sans"/>
              </a:rPr>
              <a:t>INTERRUPCION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1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1"/>
          <p:cNvSpPr/>
          <p:nvPr/>
        </p:nvSpPr>
        <p:spPr>
          <a:xfrm>
            <a:off x="128745" y="-16055"/>
            <a:ext cx="9185104" cy="10303055"/>
          </a:xfrm>
          <a:custGeom>
            <a:rect b="b" l="l" r="r" t="t"/>
            <a:pathLst>
              <a:path extrusionOk="0" h="10303055" w="9185104">
                <a:moveTo>
                  <a:pt x="0" y="0"/>
                </a:moveTo>
                <a:lnTo>
                  <a:pt x="9185104" y="0"/>
                </a:lnTo>
                <a:lnTo>
                  <a:pt x="9185104" y="10303055"/>
                </a:lnTo>
                <a:lnTo>
                  <a:pt x="0" y="10303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99932" t="0"/>
            </a:stretch>
          </a:blipFill>
          <a:ln>
            <a:noFill/>
          </a:ln>
        </p:spPr>
      </p:sp>
      <p:sp>
        <p:nvSpPr>
          <p:cNvPr id="232" name="Google Shape;232;p11"/>
          <p:cNvSpPr txBox="1"/>
          <p:nvPr/>
        </p:nvSpPr>
        <p:spPr>
          <a:xfrm>
            <a:off x="10735191" y="2439169"/>
            <a:ext cx="7037709" cy="49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6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Programacion Normal</a:t>
            </a:r>
            <a:endParaRPr/>
          </a:p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5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botón solo podrá ser presionado cada 20 segundos o después de que se ejecuten las tareas 1 y 2</a:t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7774228" y="2171597"/>
            <a:ext cx="1082084" cy="886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10s</a:t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7774228" y="4645195"/>
            <a:ext cx="1082084" cy="886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10s</a:t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4721297" y="5237987"/>
            <a:ext cx="842852" cy="886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</a:t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7244446" y="7118794"/>
            <a:ext cx="529782" cy="886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2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2"/>
          <p:cNvSpPr/>
          <p:nvPr/>
        </p:nvSpPr>
        <p:spPr>
          <a:xfrm>
            <a:off x="-4582105" y="1614303"/>
            <a:ext cx="14409677" cy="8438648"/>
          </a:xfrm>
          <a:custGeom>
            <a:rect b="b" l="l" r="r" t="t"/>
            <a:pathLst>
              <a:path extrusionOk="0" h="8438648" w="14409677">
                <a:moveTo>
                  <a:pt x="0" y="0"/>
                </a:moveTo>
                <a:lnTo>
                  <a:pt x="14409677" y="0"/>
                </a:lnTo>
                <a:lnTo>
                  <a:pt x="14409677" y="8438648"/>
                </a:lnTo>
                <a:lnTo>
                  <a:pt x="0" y="8438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2"/>
          <p:cNvSpPr txBox="1"/>
          <p:nvPr/>
        </p:nvSpPr>
        <p:spPr>
          <a:xfrm>
            <a:off x="1300724" y="723390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9413907" y="1816019"/>
            <a:ext cx="8243347" cy="655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Programacion con interrupciones</a:t>
            </a:r>
            <a:endParaRPr/>
          </a:p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botón induce una interrupción, sin importar qué esté haciendo </a:t>
            </a:r>
            <a:r>
              <a:rPr b="1" i="0" lang="en-US" sz="5348" u="none" cap="none" strike="noStrike">
                <a:solidFill>
                  <a:srgbClr val="36E9FD"/>
                </a:solidFill>
                <a:latin typeface="DM Sans"/>
                <a:ea typeface="DM Sans"/>
                <a:cs typeface="DM Sans"/>
                <a:sym typeface="DM Sans"/>
              </a:rPr>
              <a:t>“loop()” </a:t>
            </a:r>
            <a:r>
              <a:rPr b="0" i="0" lang="en-US" sz="53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después retoma la Tarea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3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3"/>
          <p:cNvSpPr/>
          <p:nvPr/>
        </p:nvSpPr>
        <p:spPr>
          <a:xfrm>
            <a:off x="3065355" y="4771811"/>
            <a:ext cx="12157290" cy="4486489"/>
          </a:xfrm>
          <a:custGeom>
            <a:rect b="b" l="l" r="r" t="t"/>
            <a:pathLst>
              <a:path extrusionOk="0" h="4486489" w="12157290">
                <a:moveTo>
                  <a:pt x="0" y="0"/>
                </a:moveTo>
                <a:lnTo>
                  <a:pt x="12157290" y="0"/>
                </a:lnTo>
                <a:lnTo>
                  <a:pt x="12157290" y="4486489"/>
                </a:lnTo>
                <a:lnTo>
                  <a:pt x="0" y="4486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3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55" name="Google Shape;255;p13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una interrupción?</a:t>
            </a:r>
            <a:endParaRPr/>
          </a:p>
        </p:txBody>
      </p:sp>
      <p:sp>
        <p:nvSpPr>
          <p:cNvPr id="256" name="Google Shape;256;p13"/>
          <p:cNvSpPr txBox="1"/>
          <p:nvPr/>
        </p:nvSpPr>
        <p:spPr>
          <a:xfrm>
            <a:off x="2895386" y="2048217"/>
            <a:ext cx="12497228" cy="239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 el mecanismo de interrupción de un procesador, en donde debe implementar todas las medidas que se puedan bifurcar a la rutina de tratamiento y recuperar el estado del programa interrumpido cuando la rutina finaliza su ejecución.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4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4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una interrupción?</a:t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2244487" y="2588998"/>
            <a:ext cx="14210907" cy="5698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32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Las </a:t>
            </a:r>
            <a:r>
              <a:rPr b="1" i="0" lang="en-US" sz="8132" u="none" cap="none" strike="noStrike">
                <a:solidFill>
                  <a:srgbClr val="36E9FD"/>
                </a:solidFill>
                <a:latin typeface="DM Sans"/>
                <a:ea typeface="DM Sans"/>
                <a:cs typeface="DM Sans"/>
                <a:sym typeface="DM Sans"/>
              </a:rPr>
              <a:t>interrupciones de ASM</a:t>
            </a:r>
            <a:r>
              <a:rPr b="1" i="0" lang="en-US" sz="8132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8132" u="none" cap="none" strike="noStrike">
                <a:solidFill>
                  <a:srgbClr val="FF3131"/>
                </a:solidFill>
                <a:latin typeface="DM Sans"/>
                <a:ea typeface="DM Sans"/>
                <a:cs typeface="DM Sans"/>
                <a:sym typeface="DM Sans"/>
              </a:rPr>
              <a:t>no son iguales </a:t>
            </a:r>
            <a:endParaRPr/>
          </a:p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32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las Interrupciones de </a:t>
            </a:r>
            <a:r>
              <a:rPr b="0" i="0" lang="en-US" sz="8132" u="none" cap="none" strike="noStrike">
                <a:solidFill>
                  <a:srgbClr val="36E9FD"/>
                </a:solidFill>
                <a:latin typeface="DM Sans"/>
                <a:ea typeface="DM Sans"/>
                <a:cs typeface="DM Sans"/>
                <a:sym typeface="DM Sans"/>
              </a:rPr>
              <a:t>Arduino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15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5"/>
          <p:cNvSpPr/>
          <p:nvPr/>
        </p:nvSpPr>
        <p:spPr>
          <a:xfrm>
            <a:off x="1650686" y="3287167"/>
            <a:ext cx="14986628" cy="5971133"/>
          </a:xfrm>
          <a:custGeom>
            <a:rect b="b" l="l" r="r" t="t"/>
            <a:pathLst>
              <a:path extrusionOk="0" h="5971133" w="14986628">
                <a:moveTo>
                  <a:pt x="0" y="0"/>
                </a:moveTo>
                <a:lnTo>
                  <a:pt x="14986628" y="0"/>
                </a:lnTo>
                <a:lnTo>
                  <a:pt x="14986628" y="5971133"/>
                </a:lnTo>
                <a:lnTo>
                  <a:pt x="0" y="59711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5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75" name="Google Shape;275;p15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una interrupción?</a:t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4208984" y="1771278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Tipos de Interrupciones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6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4" name="Google Shape;284;p16"/>
          <p:cNvGrpSpPr/>
          <p:nvPr/>
        </p:nvGrpSpPr>
        <p:grpSpPr>
          <a:xfrm>
            <a:off x="384426" y="3790187"/>
            <a:ext cx="8974110" cy="3086100"/>
            <a:chOff x="0" y="0"/>
            <a:chExt cx="2363552" cy="812800"/>
          </a:xfrm>
        </p:grpSpPr>
        <p:sp>
          <p:nvSpPr>
            <p:cNvPr id="285" name="Google Shape;285;p16"/>
            <p:cNvSpPr/>
            <p:nvPr/>
          </p:nvSpPr>
          <p:spPr>
            <a:xfrm>
              <a:off x="0" y="0"/>
              <a:ext cx="2363552" cy="812800"/>
            </a:xfrm>
            <a:custGeom>
              <a:rect b="b" l="l" r="r" t="t"/>
              <a:pathLst>
                <a:path extrusionOk="0" h="812800" w="2363552">
                  <a:moveTo>
                    <a:pt x="43997" y="0"/>
                  </a:moveTo>
                  <a:lnTo>
                    <a:pt x="2319554" y="0"/>
                  </a:lnTo>
                  <a:cubicBezTo>
                    <a:pt x="2343853" y="0"/>
                    <a:pt x="2363552" y="19698"/>
                    <a:pt x="2363552" y="43997"/>
                  </a:cubicBezTo>
                  <a:lnTo>
                    <a:pt x="2363552" y="768803"/>
                  </a:lnTo>
                  <a:cubicBezTo>
                    <a:pt x="2363552" y="793102"/>
                    <a:pt x="2343853" y="812800"/>
                    <a:pt x="2319554" y="812800"/>
                  </a:cubicBezTo>
                  <a:lnTo>
                    <a:pt x="43997" y="812800"/>
                  </a:lnTo>
                  <a:cubicBezTo>
                    <a:pt x="19698" y="812800"/>
                    <a:pt x="0" y="793102"/>
                    <a:pt x="0" y="768803"/>
                  </a:cubicBezTo>
                  <a:lnTo>
                    <a:pt x="0" y="43997"/>
                  </a:lnTo>
                  <a:cubicBezTo>
                    <a:pt x="0" y="19698"/>
                    <a:pt x="19698" y="0"/>
                    <a:pt x="43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6"/>
            <p:cNvSpPr txBox="1"/>
            <p:nvPr/>
          </p:nvSpPr>
          <p:spPr>
            <a:xfrm>
              <a:off x="0" y="57150"/>
              <a:ext cx="2363552" cy="755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16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Tipos de Interrupciones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699617" y="4288131"/>
            <a:ext cx="83436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7623" lvl="1" marL="515245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A1420"/>
              </a:buClr>
              <a:buSzPts val="2386"/>
              <a:buFont typeface="Arial"/>
              <a:buChar char="•"/>
            </a:pPr>
            <a:r>
              <a:rPr b="1" i="0" lang="en-US" sz="2386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Son </a:t>
            </a:r>
            <a:r>
              <a:rPr b="1" lang="en-US" sz="2386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asíncronas</a:t>
            </a:r>
            <a:r>
              <a:rPr b="1" i="0" lang="en-US" sz="2386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 al procesador (se pueden producir en</a:t>
            </a:r>
            <a:endParaRPr/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cualquier </a:t>
            </a:r>
            <a:r>
              <a:rPr b="1" lang="en-US" sz="2386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momento</a:t>
            </a:r>
            <a:r>
              <a:rPr b="1" i="0" lang="en-US" sz="2386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  <a:p>
            <a:pPr indent="-257623" lvl="1" marL="515245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A1420"/>
              </a:buClr>
              <a:buSzPts val="2386"/>
              <a:buFont typeface="Arial"/>
              <a:buChar char="•"/>
            </a:pPr>
            <a:r>
              <a:rPr b="1" i="0" lang="en-US" sz="2386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Estas son externas y suelen venir de dispositivos de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entrada o salida</a:t>
            </a:r>
            <a:endParaRPr/>
          </a:p>
        </p:txBody>
      </p:sp>
      <p:sp>
        <p:nvSpPr>
          <p:cNvPr id="291" name="Google Shape;291;p16"/>
          <p:cNvSpPr txBox="1"/>
          <p:nvPr/>
        </p:nvSpPr>
        <p:spPr>
          <a:xfrm>
            <a:off x="-511496" y="2686392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Hardware</a:t>
            </a:r>
            <a:endParaRPr/>
          </a:p>
        </p:txBody>
      </p:sp>
      <p:grpSp>
        <p:nvGrpSpPr>
          <p:cNvPr id="292" name="Google Shape;292;p16"/>
          <p:cNvGrpSpPr/>
          <p:nvPr/>
        </p:nvGrpSpPr>
        <p:grpSpPr>
          <a:xfrm>
            <a:off x="9313890" y="3790187"/>
            <a:ext cx="8974110" cy="3086100"/>
            <a:chOff x="0" y="0"/>
            <a:chExt cx="2363552" cy="812800"/>
          </a:xfrm>
        </p:grpSpPr>
        <p:sp>
          <p:nvSpPr>
            <p:cNvPr id="293" name="Google Shape;293;p16"/>
            <p:cNvSpPr/>
            <p:nvPr/>
          </p:nvSpPr>
          <p:spPr>
            <a:xfrm>
              <a:off x="0" y="0"/>
              <a:ext cx="2363552" cy="812800"/>
            </a:xfrm>
            <a:custGeom>
              <a:rect b="b" l="l" r="r" t="t"/>
              <a:pathLst>
                <a:path extrusionOk="0" h="812800" w="2363552">
                  <a:moveTo>
                    <a:pt x="43997" y="0"/>
                  </a:moveTo>
                  <a:lnTo>
                    <a:pt x="2319554" y="0"/>
                  </a:lnTo>
                  <a:cubicBezTo>
                    <a:pt x="2343853" y="0"/>
                    <a:pt x="2363552" y="19698"/>
                    <a:pt x="2363552" y="43997"/>
                  </a:cubicBezTo>
                  <a:lnTo>
                    <a:pt x="2363552" y="768803"/>
                  </a:lnTo>
                  <a:cubicBezTo>
                    <a:pt x="2363552" y="793102"/>
                    <a:pt x="2343853" y="812800"/>
                    <a:pt x="2319554" y="812800"/>
                  </a:cubicBezTo>
                  <a:lnTo>
                    <a:pt x="43997" y="812800"/>
                  </a:lnTo>
                  <a:cubicBezTo>
                    <a:pt x="19698" y="812800"/>
                    <a:pt x="0" y="793102"/>
                    <a:pt x="0" y="768803"/>
                  </a:cubicBezTo>
                  <a:lnTo>
                    <a:pt x="0" y="43997"/>
                  </a:lnTo>
                  <a:cubicBezTo>
                    <a:pt x="0" y="19698"/>
                    <a:pt x="19698" y="0"/>
                    <a:pt x="43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6"/>
            <p:cNvSpPr txBox="1"/>
            <p:nvPr/>
          </p:nvSpPr>
          <p:spPr>
            <a:xfrm>
              <a:off x="0" y="57150"/>
              <a:ext cx="2363552" cy="755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6"/>
          <p:cNvSpPr txBox="1"/>
          <p:nvPr/>
        </p:nvSpPr>
        <p:spPr>
          <a:xfrm>
            <a:off x="9629081" y="4896895"/>
            <a:ext cx="8658919" cy="825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Las interrupciones por software son aquellas generadas por un programa en ejecución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8417968" y="2686392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Software</a:t>
            </a:r>
            <a:endParaRPr/>
          </a:p>
        </p:txBody>
      </p:sp>
      <p:grpSp>
        <p:nvGrpSpPr>
          <p:cNvPr id="297" name="Google Shape;297;p16"/>
          <p:cNvGrpSpPr/>
          <p:nvPr/>
        </p:nvGrpSpPr>
        <p:grpSpPr>
          <a:xfrm>
            <a:off x="5004250" y="7159814"/>
            <a:ext cx="8974110" cy="3086100"/>
            <a:chOff x="0" y="0"/>
            <a:chExt cx="2363552" cy="812800"/>
          </a:xfrm>
        </p:grpSpPr>
        <p:sp>
          <p:nvSpPr>
            <p:cNvPr id="298" name="Google Shape;298;p16"/>
            <p:cNvSpPr/>
            <p:nvPr/>
          </p:nvSpPr>
          <p:spPr>
            <a:xfrm>
              <a:off x="0" y="0"/>
              <a:ext cx="2363552" cy="812800"/>
            </a:xfrm>
            <a:custGeom>
              <a:rect b="b" l="l" r="r" t="t"/>
              <a:pathLst>
                <a:path extrusionOk="0" h="812800" w="2363552">
                  <a:moveTo>
                    <a:pt x="43997" y="0"/>
                  </a:moveTo>
                  <a:lnTo>
                    <a:pt x="2319554" y="0"/>
                  </a:lnTo>
                  <a:cubicBezTo>
                    <a:pt x="2343853" y="0"/>
                    <a:pt x="2363552" y="19698"/>
                    <a:pt x="2363552" y="43997"/>
                  </a:cubicBezTo>
                  <a:lnTo>
                    <a:pt x="2363552" y="768803"/>
                  </a:lnTo>
                  <a:cubicBezTo>
                    <a:pt x="2363552" y="793102"/>
                    <a:pt x="2343853" y="812800"/>
                    <a:pt x="2319554" y="812800"/>
                  </a:cubicBezTo>
                  <a:lnTo>
                    <a:pt x="43997" y="812800"/>
                  </a:lnTo>
                  <a:cubicBezTo>
                    <a:pt x="19698" y="812800"/>
                    <a:pt x="0" y="793102"/>
                    <a:pt x="0" y="768803"/>
                  </a:cubicBezTo>
                  <a:lnTo>
                    <a:pt x="0" y="43997"/>
                  </a:lnTo>
                  <a:cubicBezTo>
                    <a:pt x="0" y="19698"/>
                    <a:pt x="19698" y="0"/>
                    <a:pt x="43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6"/>
            <p:cNvSpPr txBox="1"/>
            <p:nvPr/>
          </p:nvSpPr>
          <p:spPr>
            <a:xfrm>
              <a:off x="0" y="57150"/>
              <a:ext cx="2363552" cy="755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16"/>
          <p:cNvSpPr txBox="1"/>
          <p:nvPr/>
        </p:nvSpPr>
        <p:spPr>
          <a:xfrm>
            <a:off x="6136231" y="7523987"/>
            <a:ext cx="6015538" cy="242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83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Se producen de forma sincrona Normalmente son causadas por operaciones no permitidas, como: </a:t>
            </a:r>
            <a:endParaRPr/>
          </a:p>
          <a:p>
            <a:pPr indent="-214097" lvl="1" marL="428195" marR="0" rtl="0" algn="just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A1420"/>
              </a:buClr>
              <a:buSzPts val="1983"/>
              <a:buFont typeface="Arial"/>
              <a:buChar char="•"/>
            </a:pPr>
            <a:r>
              <a:rPr b="1" i="0" lang="en-US" sz="1983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Divisió entre entre cero "x/0" Desbordamiento </a:t>
            </a:r>
            <a:endParaRPr/>
          </a:p>
          <a:p>
            <a:pPr indent="-214097" lvl="1" marL="428195" marR="0" rtl="0" algn="just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A1420"/>
              </a:buClr>
              <a:buSzPts val="1983"/>
              <a:buFont typeface="Arial"/>
              <a:buChar char="•"/>
            </a:pPr>
            <a:r>
              <a:rPr b="1" i="0" lang="en-US" sz="1983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Acceso a una posición de memoria no permitida 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-1205539" y="7980083"/>
            <a:ext cx="7321270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Excepciones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7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8" name="Google Shape;308;p17"/>
          <p:cNvGrpSpPr/>
          <p:nvPr/>
        </p:nvGrpSpPr>
        <p:grpSpPr>
          <a:xfrm>
            <a:off x="384426" y="3790187"/>
            <a:ext cx="8974110" cy="3086100"/>
            <a:chOff x="0" y="0"/>
            <a:chExt cx="2363552" cy="812800"/>
          </a:xfrm>
        </p:grpSpPr>
        <p:sp>
          <p:nvSpPr>
            <p:cNvPr id="309" name="Google Shape;309;p17"/>
            <p:cNvSpPr/>
            <p:nvPr/>
          </p:nvSpPr>
          <p:spPr>
            <a:xfrm>
              <a:off x="0" y="0"/>
              <a:ext cx="2363552" cy="812800"/>
            </a:xfrm>
            <a:custGeom>
              <a:rect b="b" l="l" r="r" t="t"/>
              <a:pathLst>
                <a:path extrusionOk="0" h="812800" w="2363552">
                  <a:moveTo>
                    <a:pt x="43997" y="0"/>
                  </a:moveTo>
                  <a:lnTo>
                    <a:pt x="2319554" y="0"/>
                  </a:lnTo>
                  <a:cubicBezTo>
                    <a:pt x="2343853" y="0"/>
                    <a:pt x="2363552" y="19698"/>
                    <a:pt x="2363552" y="43997"/>
                  </a:cubicBezTo>
                  <a:lnTo>
                    <a:pt x="2363552" y="768803"/>
                  </a:lnTo>
                  <a:cubicBezTo>
                    <a:pt x="2363552" y="793102"/>
                    <a:pt x="2343853" y="812800"/>
                    <a:pt x="2319554" y="812800"/>
                  </a:cubicBezTo>
                  <a:lnTo>
                    <a:pt x="43997" y="812800"/>
                  </a:lnTo>
                  <a:cubicBezTo>
                    <a:pt x="19698" y="812800"/>
                    <a:pt x="0" y="793102"/>
                    <a:pt x="0" y="768803"/>
                  </a:cubicBezTo>
                  <a:lnTo>
                    <a:pt x="0" y="43997"/>
                  </a:lnTo>
                  <a:cubicBezTo>
                    <a:pt x="0" y="19698"/>
                    <a:pt x="19698" y="0"/>
                    <a:pt x="43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7"/>
            <p:cNvSpPr txBox="1"/>
            <p:nvPr/>
          </p:nvSpPr>
          <p:spPr>
            <a:xfrm>
              <a:off x="0" y="57150"/>
              <a:ext cx="2363552" cy="755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17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12" name="Google Shape;312;p17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13" name="Google Shape;313;p17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Sistema de Prioridad Int.</a:t>
            </a:r>
            <a:endParaRPr/>
          </a:p>
        </p:txBody>
      </p:sp>
      <p:sp>
        <p:nvSpPr>
          <p:cNvPr id="314" name="Google Shape;314;p17"/>
          <p:cNvSpPr txBox="1"/>
          <p:nvPr/>
        </p:nvSpPr>
        <p:spPr>
          <a:xfrm>
            <a:off x="522201" y="4381129"/>
            <a:ext cx="8791689" cy="1628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5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No tienen por qué ocurrir de manera simultánea sino En un momento dado (t=n), pueden haber varias interrupciones activas</a:t>
            </a:r>
            <a:endParaRPr/>
          </a:p>
        </p:txBody>
      </p:sp>
      <p:sp>
        <p:nvSpPr>
          <p:cNvPr id="315" name="Google Shape;315;p17"/>
          <p:cNvSpPr txBox="1"/>
          <p:nvPr/>
        </p:nvSpPr>
        <p:spPr>
          <a:xfrm>
            <a:off x="-511496" y="2686392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Simultáneas</a:t>
            </a:r>
            <a:endParaRPr/>
          </a:p>
        </p:txBody>
      </p:sp>
      <p:grpSp>
        <p:nvGrpSpPr>
          <p:cNvPr id="316" name="Google Shape;316;p17"/>
          <p:cNvGrpSpPr/>
          <p:nvPr/>
        </p:nvGrpSpPr>
        <p:grpSpPr>
          <a:xfrm>
            <a:off x="9313890" y="3790187"/>
            <a:ext cx="8974110" cy="3086100"/>
            <a:chOff x="0" y="0"/>
            <a:chExt cx="2363552" cy="812800"/>
          </a:xfrm>
        </p:grpSpPr>
        <p:sp>
          <p:nvSpPr>
            <p:cNvPr id="317" name="Google Shape;317;p17"/>
            <p:cNvSpPr/>
            <p:nvPr/>
          </p:nvSpPr>
          <p:spPr>
            <a:xfrm>
              <a:off x="0" y="0"/>
              <a:ext cx="2363552" cy="812800"/>
            </a:xfrm>
            <a:custGeom>
              <a:rect b="b" l="l" r="r" t="t"/>
              <a:pathLst>
                <a:path extrusionOk="0" h="812800" w="2363552">
                  <a:moveTo>
                    <a:pt x="43997" y="0"/>
                  </a:moveTo>
                  <a:lnTo>
                    <a:pt x="2319554" y="0"/>
                  </a:lnTo>
                  <a:cubicBezTo>
                    <a:pt x="2343853" y="0"/>
                    <a:pt x="2363552" y="19698"/>
                    <a:pt x="2363552" y="43997"/>
                  </a:cubicBezTo>
                  <a:lnTo>
                    <a:pt x="2363552" y="768803"/>
                  </a:lnTo>
                  <a:cubicBezTo>
                    <a:pt x="2363552" y="793102"/>
                    <a:pt x="2343853" y="812800"/>
                    <a:pt x="2319554" y="812800"/>
                  </a:cubicBezTo>
                  <a:lnTo>
                    <a:pt x="43997" y="812800"/>
                  </a:lnTo>
                  <a:cubicBezTo>
                    <a:pt x="19698" y="812800"/>
                    <a:pt x="0" y="793102"/>
                    <a:pt x="0" y="768803"/>
                  </a:cubicBezTo>
                  <a:lnTo>
                    <a:pt x="0" y="43997"/>
                  </a:lnTo>
                  <a:cubicBezTo>
                    <a:pt x="0" y="19698"/>
                    <a:pt x="19698" y="0"/>
                    <a:pt x="43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7"/>
            <p:cNvSpPr txBox="1"/>
            <p:nvPr/>
          </p:nvSpPr>
          <p:spPr>
            <a:xfrm>
              <a:off x="0" y="57150"/>
              <a:ext cx="2363552" cy="755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17"/>
          <p:cNvSpPr txBox="1"/>
          <p:nvPr/>
        </p:nvSpPr>
        <p:spPr>
          <a:xfrm>
            <a:off x="9827572" y="4265953"/>
            <a:ext cx="8460428" cy="2294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0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Mientras se está procesando una determinada rutina de servicio de interrupción, sucede otra señal de interrupción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8417968" y="2686392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Anidadas</a:t>
            </a:r>
            <a:endParaRPr/>
          </a:p>
        </p:txBody>
      </p:sp>
      <p:grpSp>
        <p:nvGrpSpPr>
          <p:cNvPr id="321" name="Google Shape;321;p17"/>
          <p:cNvGrpSpPr/>
          <p:nvPr/>
        </p:nvGrpSpPr>
        <p:grpSpPr>
          <a:xfrm>
            <a:off x="5004250" y="7159814"/>
            <a:ext cx="8974110" cy="3086100"/>
            <a:chOff x="0" y="0"/>
            <a:chExt cx="2363552" cy="812800"/>
          </a:xfrm>
        </p:grpSpPr>
        <p:sp>
          <p:nvSpPr>
            <p:cNvPr id="322" name="Google Shape;322;p17"/>
            <p:cNvSpPr/>
            <p:nvPr/>
          </p:nvSpPr>
          <p:spPr>
            <a:xfrm>
              <a:off x="0" y="0"/>
              <a:ext cx="2363552" cy="812800"/>
            </a:xfrm>
            <a:custGeom>
              <a:rect b="b" l="l" r="r" t="t"/>
              <a:pathLst>
                <a:path extrusionOk="0" h="812800" w="2363552">
                  <a:moveTo>
                    <a:pt x="43997" y="0"/>
                  </a:moveTo>
                  <a:lnTo>
                    <a:pt x="2319554" y="0"/>
                  </a:lnTo>
                  <a:cubicBezTo>
                    <a:pt x="2343853" y="0"/>
                    <a:pt x="2363552" y="19698"/>
                    <a:pt x="2363552" y="43997"/>
                  </a:cubicBezTo>
                  <a:lnTo>
                    <a:pt x="2363552" y="768803"/>
                  </a:lnTo>
                  <a:cubicBezTo>
                    <a:pt x="2363552" y="793102"/>
                    <a:pt x="2343853" y="812800"/>
                    <a:pt x="2319554" y="812800"/>
                  </a:cubicBezTo>
                  <a:lnTo>
                    <a:pt x="43997" y="812800"/>
                  </a:lnTo>
                  <a:cubicBezTo>
                    <a:pt x="19698" y="812800"/>
                    <a:pt x="0" y="793102"/>
                    <a:pt x="0" y="768803"/>
                  </a:cubicBezTo>
                  <a:lnTo>
                    <a:pt x="0" y="43997"/>
                  </a:lnTo>
                  <a:cubicBezTo>
                    <a:pt x="0" y="19698"/>
                    <a:pt x="19698" y="0"/>
                    <a:pt x="43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7"/>
            <p:cNvSpPr txBox="1"/>
            <p:nvPr/>
          </p:nvSpPr>
          <p:spPr>
            <a:xfrm>
              <a:off x="0" y="57150"/>
              <a:ext cx="2363552" cy="755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7"/>
          <p:cNvSpPr txBox="1"/>
          <p:nvPr/>
        </p:nvSpPr>
        <p:spPr>
          <a:xfrm>
            <a:off x="5564148" y="7695437"/>
            <a:ext cx="6343942" cy="1793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1915" lvl="1" marL="74383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420"/>
              </a:buClr>
              <a:buSzPts val="3445"/>
              <a:buFont typeface="Arial"/>
              <a:buChar char="•"/>
            </a:pPr>
            <a:r>
              <a:rPr b="1" i="0" lang="en-US" sz="3445" u="none" cap="none" strike="noStrike">
                <a:solidFill>
                  <a:srgbClr val="0A1420"/>
                </a:solidFill>
                <a:latin typeface="DM Sans"/>
                <a:ea typeface="DM Sans"/>
                <a:cs typeface="DM Sans"/>
                <a:sym typeface="DM Sans"/>
              </a:rPr>
              <a:t>Se deshabilitan las demás interrupciones mientras se está tratando una.</a:t>
            </a:r>
            <a:endParaRPr/>
          </a:p>
        </p:txBody>
      </p:sp>
      <p:sp>
        <p:nvSpPr>
          <p:cNvPr id="325" name="Google Shape;325;p17"/>
          <p:cNvSpPr txBox="1"/>
          <p:nvPr/>
        </p:nvSpPr>
        <p:spPr>
          <a:xfrm>
            <a:off x="-1205539" y="7980083"/>
            <a:ext cx="7321270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Inhibicion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18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2" name="Google Shape;332;p18"/>
          <p:cNvGrpSpPr/>
          <p:nvPr/>
        </p:nvGrpSpPr>
        <p:grpSpPr>
          <a:xfrm>
            <a:off x="0" y="2200617"/>
            <a:ext cx="18494188" cy="7765699"/>
            <a:chOff x="0" y="0"/>
            <a:chExt cx="4870897" cy="2045287"/>
          </a:xfrm>
        </p:grpSpPr>
        <p:sp>
          <p:nvSpPr>
            <p:cNvPr id="333" name="Google Shape;333;p18"/>
            <p:cNvSpPr/>
            <p:nvPr/>
          </p:nvSpPr>
          <p:spPr>
            <a:xfrm>
              <a:off x="0" y="0"/>
              <a:ext cx="4870897" cy="2045287"/>
            </a:xfrm>
            <a:custGeom>
              <a:rect b="b" l="l" r="r" t="t"/>
              <a:pathLst>
                <a:path extrusionOk="0" h="2045287" w="4870897">
                  <a:moveTo>
                    <a:pt x="21349" y="0"/>
                  </a:moveTo>
                  <a:lnTo>
                    <a:pt x="4849548" y="0"/>
                  </a:lnTo>
                  <a:cubicBezTo>
                    <a:pt x="4855210" y="0"/>
                    <a:pt x="4860641" y="2249"/>
                    <a:pt x="4864644" y="6253"/>
                  </a:cubicBezTo>
                  <a:cubicBezTo>
                    <a:pt x="4868648" y="10257"/>
                    <a:pt x="4870897" y="15687"/>
                    <a:pt x="4870897" y="21349"/>
                  </a:cubicBezTo>
                  <a:lnTo>
                    <a:pt x="4870897" y="2023938"/>
                  </a:lnTo>
                  <a:cubicBezTo>
                    <a:pt x="4870897" y="2029600"/>
                    <a:pt x="4868648" y="2035030"/>
                    <a:pt x="4864644" y="2039034"/>
                  </a:cubicBezTo>
                  <a:cubicBezTo>
                    <a:pt x="4860641" y="2043038"/>
                    <a:pt x="4855210" y="2045287"/>
                    <a:pt x="4849548" y="2045287"/>
                  </a:cubicBezTo>
                  <a:lnTo>
                    <a:pt x="21349" y="2045287"/>
                  </a:lnTo>
                  <a:cubicBezTo>
                    <a:pt x="15687" y="2045287"/>
                    <a:pt x="10257" y="2043038"/>
                    <a:pt x="6253" y="2039034"/>
                  </a:cubicBezTo>
                  <a:cubicBezTo>
                    <a:pt x="2249" y="2035030"/>
                    <a:pt x="0" y="2029600"/>
                    <a:pt x="0" y="2023938"/>
                  </a:cubicBezTo>
                  <a:lnTo>
                    <a:pt x="0" y="21349"/>
                  </a:lnTo>
                  <a:cubicBezTo>
                    <a:pt x="0" y="15687"/>
                    <a:pt x="2249" y="10257"/>
                    <a:pt x="6253" y="6253"/>
                  </a:cubicBezTo>
                  <a:cubicBezTo>
                    <a:pt x="10257" y="2249"/>
                    <a:pt x="15687" y="0"/>
                    <a:pt x="21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8"/>
            <p:cNvSpPr txBox="1"/>
            <p:nvPr/>
          </p:nvSpPr>
          <p:spPr>
            <a:xfrm>
              <a:off x="0" y="57150"/>
              <a:ext cx="4870897" cy="198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8"/>
          <p:cNvSpPr/>
          <p:nvPr/>
        </p:nvSpPr>
        <p:spPr>
          <a:xfrm>
            <a:off x="10332656" y="4264358"/>
            <a:ext cx="7492720" cy="5294855"/>
          </a:xfrm>
          <a:custGeom>
            <a:rect b="b" l="l" r="r" t="t"/>
            <a:pathLst>
              <a:path extrusionOk="0" h="5294855" w="7492720">
                <a:moveTo>
                  <a:pt x="0" y="0"/>
                </a:moveTo>
                <a:lnTo>
                  <a:pt x="7492720" y="0"/>
                </a:lnTo>
                <a:lnTo>
                  <a:pt x="7492720" y="5294855"/>
                </a:lnTo>
                <a:lnTo>
                  <a:pt x="0" y="5294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18"/>
          <p:cNvSpPr txBox="1"/>
          <p:nvPr/>
        </p:nvSpPr>
        <p:spPr>
          <a:xfrm>
            <a:off x="370533" y="3267769"/>
            <a:ext cx="9141862" cy="1189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4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Arduinos UNO y MEGA tienen un cristal que bate a 16 MHz</a:t>
            </a:r>
            <a:endParaRPr/>
          </a:p>
        </p:txBody>
      </p:sp>
      <p:cxnSp>
        <p:nvCxnSpPr>
          <p:cNvPr id="337" name="Google Shape;337;p18"/>
          <p:cNvCxnSpPr/>
          <p:nvPr/>
        </p:nvCxnSpPr>
        <p:spPr>
          <a:xfrm rot="10800000">
            <a:off x="9512396" y="3895776"/>
            <a:ext cx="3153312" cy="3016009"/>
          </a:xfrm>
          <a:prstGeom prst="straightConnector1">
            <a:avLst/>
          </a:prstGeom>
          <a:noFill/>
          <a:ln cap="flat" cmpd="sng" w="266700">
            <a:solidFill>
              <a:srgbClr val="FF313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8" name="Google Shape;338;p18"/>
          <p:cNvSpPr/>
          <p:nvPr/>
        </p:nvSpPr>
        <p:spPr>
          <a:xfrm>
            <a:off x="1167642" y="5161959"/>
            <a:ext cx="7976358" cy="1013056"/>
          </a:xfrm>
          <a:custGeom>
            <a:rect b="b" l="l" r="r" t="t"/>
            <a:pathLst>
              <a:path extrusionOk="0" h="1013056" w="7976358">
                <a:moveTo>
                  <a:pt x="0" y="0"/>
                </a:moveTo>
                <a:lnTo>
                  <a:pt x="7976358" y="0"/>
                </a:lnTo>
                <a:lnTo>
                  <a:pt x="7976358" y="1013055"/>
                </a:lnTo>
                <a:lnTo>
                  <a:pt x="0" y="10130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18"/>
          <p:cNvSpPr/>
          <p:nvPr/>
        </p:nvSpPr>
        <p:spPr>
          <a:xfrm>
            <a:off x="7441221" y="4660578"/>
            <a:ext cx="2386352" cy="538854"/>
          </a:xfrm>
          <a:custGeom>
            <a:rect b="b" l="l" r="r" t="t"/>
            <a:pathLst>
              <a:path extrusionOk="0" h="538854" w="2386352">
                <a:moveTo>
                  <a:pt x="0" y="0"/>
                </a:moveTo>
                <a:lnTo>
                  <a:pt x="2386351" y="0"/>
                </a:lnTo>
                <a:lnTo>
                  <a:pt x="2386351" y="538853"/>
                </a:lnTo>
                <a:lnTo>
                  <a:pt x="0" y="5388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18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Interrupciones en Arduino</a:t>
            </a:r>
            <a:endParaRPr/>
          </a:p>
        </p:txBody>
      </p:sp>
      <p:sp>
        <p:nvSpPr>
          <p:cNvPr id="342" name="Google Shape;342;p18"/>
          <p:cNvSpPr txBox="1"/>
          <p:nvPr/>
        </p:nvSpPr>
        <p:spPr>
          <a:xfrm>
            <a:off x="699617" y="2544529"/>
            <a:ext cx="1374234" cy="58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Timers</a:t>
            </a:r>
            <a:endParaRPr/>
          </a:p>
        </p:txBody>
      </p:sp>
      <p:sp>
        <p:nvSpPr>
          <p:cNvPr id="343" name="Google Shape;343;p18"/>
          <p:cNvSpPr txBox="1"/>
          <p:nvPr/>
        </p:nvSpPr>
        <p:spPr>
          <a:xfrm>
            <a:off x="370533" y="4737466"/>
            <a:ext cx="6869322" cy="406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Contador de ejecucion minima de interrupcion</a:t>
            </a:r>
            <a:endParaRPr/>
          </a:p>
        </p:txBody>
      </p:sp>
      <p:sp>
        <p:nvSpPr>
          <p:cNvPr id="344" name="Google Shape;344;p18"/>
          <p:cNvSpPr txBox="1"/>
          <p:nvPr/>
        </p:nvSpPr>
        <p:spPr>
          <a:xfrm>
            <a:off x="613799" y="7665378"/>
            <a:ext cx="9900699" cy="1663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RISING, ocurre en el flanco de subida de LOW a HIGH.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FALLING, ocurre en el flanco de bajada de HIGH a LOW.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CHANGING, ocurre cuando el pin cambia de estado (rising + falling).</a:t>
            </a:r>
            <a:endParaRPr/>
          </a:p>
          <a:p>
            <a:pPr indent="0" lvl="0" marL="0" marR="0" rtl="0" algn="just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LOW, se ejecuta continuamente mientras está en estado LOW</a:t>
            </a:r>
            <a:endParaRPr/>
          </a:p>
        </p:txBody>
      </p:sp>
      <p:sp>
        <p:nvSpPr>
          <p:cNvPr id="345" name="Google Shape;345;p18"/>
          <p:cNvSpPr txBox="1"/>
          <p:nvPr/>
        </p:nvSpPr>
        <p:spPr>
          <a:xfrm>
            <a:off x="-812139" y="6813189"/>
            <a:ext cx="7441221" cy="58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Interrupcion por Hardware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19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2" name="Google Shape;352;p19"/>
          <p:cNvGrpSpPr/>
          <p:nvPr/>
        </p:nvGrpSpPr>
        <p:grpSpPr>
          <a:xfrm>
            <a:off x="0" y="2598989"/>
            <a:ext cx="18494188" cy="7765699"/>
            <a:chOff x="0" y="0"/>
            <a:chExt cx="4870897" cy="2045287"/>
          </a:xfrm>
        </p:grpSpPr>
        <p:sp>
          <p:nvSpPr>
            <p:cNvPr id="353" name="Google Shape;353;p19"/>
            <p:cNvSpPr/>
            <p:nvPr/>
          </p:nvSpPr>
          <p:spPr>
            <a:xfrm>
              <a:off x="0" y="0"/>
              <a:ext cx="4870897" cy="2045287"/>
            </a:xfrm>
            <a:custGeom>
              <a:rect b="b" l="l" r="r" t="t"/>
              <a:pathLst>
                <a:path extrusionOk="0" h="2045287" w="4870897">
                  <a:moveTo>
                    <a:pt x="21349" y="0"/>
                  </a:moveTo>
                  <a:lnTo>
                    <a:pt x="4849548" y="0"/>
                  </a:lnTo>
                  <a:cubicBezTo>
                    <a:pt x="4855210" y="0"/>
                    <a:pt x="4860641" y="2249"/>
                    <a:pt x="4864644" y="6253"/>
                  </a:cubicBezTo>
                  <a:cubicBezTo>
                    <a:pt x="4868648" y="10257"/>
                    <a:pt x="4870897" y="15687"/>
                    <a:pt x="4870897" y="21349"/>
                  </a:cubicBezTo>
                  <a:lnTo>
                    <a:pt x="4870897" y="2023938"/>
                  </a:lnTo>
                  <a:cubicBezTo>
                    <a:pt x="4870897" y="2029600"/>
                    <a:pt x="4868648" y="2035030"/>
                    <a:pt x="4864644" y="2039034"/>
                  </a:cubicBezTo>
                  <a:cubicBezTo>
                    <a:pt x="4860641" y="2043038"/>
                    <a:pt x="4855210" y="2045287"/>
                    <a:pt x="4849548" y="2045287"/>
                  </a:cubicBezTo>
                  <a:lnTo>
                    <a:pt x="21349" y="2045287"/>
                  </a:lnTo>
                  <a:cubicBezTo>
                    <a:pt x="15687" y="2045287"/>
                    <a:pt x="10257" y="2043038"/>
                    <a:pt x="6253" y="2039034"/>
                  </a:cubicBezTo>
                  <a:cubicBezTo>
                    <a:pt x="2249" y="2035030"/>
                    <a:pt x="0" y="2029600"/>
                    <a:pt x="0" y="2023938"/>
                  </a:cubicBezTo>
                  <a:lnTo>
                    <a:pt x="0" y="21349"/>
                  </a:lnTo>
                  <a:cubicBezTo>
                    <a:pt x="0" y="15687"/>
                    <a:pt x="2249" y="10257"/>
                    <a:pt x="6253" y="6253"/>
                  </a:cubicBezTo>
                  <a:cubicBezTo>
                    <a:pt x="10257" y="2249"/>
                    <a:pt x="15687" y="0"/>
                    <a:pt x="21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9"/>
            <p:cNvSpPr txBox="1"/>
            <p:nvPr/>
          </p:nvSpPr>
          <p:spPr>
            <a:xfrm>
              <a:off x="0" y="57150"/>
              <a:ext cx="4870897" cy="198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19"/>
          <p:cNvSpPr/>
          <p:nvPr/>
        </p:nvSpPr>
        <p:spPr>
          <a:xfrm>
            <a:off x="10332656" y="4264358"/>
            <a:ext cx="7492720" cy="5294855"/>
          </a:xfrm>
          <a:custGeom>
            <a:rect b="b" l="l" r="r" t="t"/>
            <a:pathLst>
              <a:path extrusionOk="0" h="5294855" w="7492720">
                <a:moveTo>
                  <a:pt x="0" y="0"/>
                </a:moveTo>
                <a:lnTo>
                  <a:pt x="7492720" y="0"/>
                </a:lnTo>
                <a:lnTo>
                  <a:pt x="7492720" y="5294855"/>
                </a:lnTo>
                <a:lnTo>
                  <a:pt x="0" y="5294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56" name="Google Shape;356;p19"/>
          <p:cNvCxnSpPr/>
          <p:nvPr/>
        </p:nvCxnSpPr>
        <p:spPr>
          <a:xfrm rot="10800000">
            <a:off x="9512396" y="3895776"/>
            <a:ext cx="3153312" cy="3016009"/>
          </a:xfrm>
          <a:prstGeom prst="straightConnector1">
            <a:avLst/>
          </a:prstGeom>
          <a:noFill/>
          <a:ln cap="flat" cmpd="sng" w="266700">
            <a:solidFill>
              <a:srgbClr val="FF313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7" name="Google Shape;357;p19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Interrupciones en Arduino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699617" y="2544529"/>
            <a:ext cx="1374234" cy="58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Timers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370533" y="3277294"/>
            <a:ext cx="8411908" cy="6989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mode: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Define cuándo se debe activar la interrupción. Cuatro constantes están predefinidas como valores válidos:</a:t>
            </a:r>
            <a:endParaRPr/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Activar la interrupción siempre que el pin esté bajo.</a:t>
            </a:r>
            <a:endParaRPr/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CHANGE: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Activar la interrupción siempre que el pin cambie de valor.</a:t>
            </a:r>
            <a:endParaRPr/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RISING: 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Activar la interrupción cuando el pin pase de bajo a alto.</a:t>
            </a:r>
            <a:endParaRPr/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FALLING: 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Activar la interrupción cuando el pin pase de alto a bajo.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placas Due, Zero y MKR1000 también permiten: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HIGH: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Activar la interrupción siempre que el pin esté alto.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20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7" name="Google Shape;367;p20"/>
          <p:cNvGrpSpPr/>
          <p:nvPr/>
        </p:nvGrpSpPr>
        <p:grpSpPr>
          <a:xfrm>
            <a:off x="0" y="2598989"/>
            <a:ext cx="18494188" cy="7765699"/>
            <a:chOff x="0" y="0"/>
            <a:chExt cx="4870897" cy="2045287"/>
          </a:xfrm>
        </p:grpSpPr>
        <p:sp>
          <p:nvSpPr>
            <p:cNvPr id="368" name="Google Shape;368;p20"/>
            <p:cNvSpPr/>
            <p:nvPr/>
          </p:nvSpPr>
          <p:spPr>
            <a:xfrm>
              <a:off x="0" y="0"/>
              <a:ext cx="4870897" cy="2045287"/>
            </a:xfrm>
            <a:custGeom>
              <a:rect b="b" l="l" r="r" t="t"/>
              <a:pathLst>
                <a:path extrusionOk="0" h="2045287" w="4870897">
                  <a:moveTo>
                    <a:pt x="21349" y="0"/>
                  </a:moveTo>
                  <a:lnTo>
                    <a:pt x="4849548" y="0"/>
                  </a:lnTo>
                  <a:cubicBezTo>
                    <a:pt x="4855210" y="0"/>
                    <a:pt x="4860641" y="2249"/>
                    <a:pt x="4864644" y="6253"/>
                  </a:cubicBezTo>
                  <a:cubicBezTo>
                    <a:pt x="4868648" y="10257"/>
                    <a:pt x="4870897" y="15687"/>
                    <a:pt x="4870897" y="21349"/>
                  </a:cubicBezTo>
                  <a:lnTo>
                    <a:pt x="4870897" y="2023938"/>
                  </a:lnTo>
                  <a:cubicBezTo>
                    <a:pt x="4870897" y="2029600"/>
                    <a:pt x="4868648" y="2035030"/>
                    <a:pt x="4864644" y="2039034"/>
                  </a:cubicBezTo>
                  <a:cubicBezTo>
                    <a:pt x="4860641" y="2043038"/>
                    <a:pt x="4855210" y="2045287"/>
                    <a:pt x="4849548" y="2045287"/>
                  </a:cubicBezTo>
                  <a:lnTo>
                    <a:pt x="21349" y="2045287"/>
                  </a:lnTo>
                  <a:cubicBezTo>
                    <a:pt x="15687" y="2045287"/>
                    <a:pt x="10257" y="2043038"/>
                    <a:pt x="6253" y="2039034"/>
                  </a:cubicBezTo>
                  <a:cubicBezTo>
                    <a:pt x="2249" y="2035030"/>
                    <a:pt x="0" y="2029600"/>
                    <a:pt x="0" y="2023938"/>
                  </a:cubicBezTo>
                  <a:lnTo>
                    <a:pt x="0" y="21349"/>
                  </a:lnTo>
                  <a:cubicBezTo>
                    <a:pt x="0" y="15687"/>
                    <a:pt x="2249" y="10257"/>
                    <a:pt x="6253" y="6253"/>
                  </a:cubicBezTo>
                  <a:cubicBezTo>
                    <a:pt x="10257" y="2249"/>
                    <a:pt x="15687" y="0"/>
                    <a:pt x="21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0"/>
            <p:cNvSpPr txBox="1"/>
            <p:nvPr/>
          </p:nvSpPr>
          <p:spPr>
            <a:xfrm>
              <a:off x="0" y="57150"/>
              <a:ext cx="4870897" cy="198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20"/>
          <p:cNvSpPr/>
          <p:nvPr/>
        </p:nvSpPr>
        <p:spPr>
          <a:xfrm>
            <a:off x="10332656" y="4264358"/>
            <a:ext cx="7492720" cy="5294855"/>
          </a:xfrm>
          <a:custGeom>
            <a:rect b="b" l="l" r="r" t="t"/>
            <a:pathLst>
              <a:path extrusionOk="0" h="5294855" w="7492720">
                <a:moveTo>
                  <a:pt x="0" y="0"/>
                </a:moveTo>
                <a:lnTo>
                  <a:pt x="7492720" y="0"/>
                </a:lnTo>
                <a:lnTo>
                  <a:pt x="7492720" y="5294855"/>
                </a:lnTo>
                <a:lnTo>
                  <a:pt x="0" y="5294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71" name="Google Shape;371;p20"/>
          <p:cNvCxnSpPr/>
          <p:nvPr/>
        </p:nvCxnSpPr>
        <p:spPr>
          <a:xfrm rot="10800000">
            <a:off x="9512396" y="3895776"/>
            <a:ext cx="3153312" cy="3016009"/>
          </a:xfrm>
          <a:prstGeom prst="straightConnector1">
            <a:avLst/>
          </a:prstGeom>
          <a:noFill/>
          <a:ln cap="flat" cmpd="sng" w="266700">
            <a:solidFill>
              <a:srgbClr val="FF313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2" name="Google Shape;372;p20"/>
          <p:cNvSpPr/>
          <p:nvPr/>
        </p:nvSpPr>
        <p:spPr>
          <a:xfrm>
            <a:off x="178523" y="4264358"/>
            <a:ext cx="1404392" cy="1404392"/>
          </a:xfrm>
          <a:custGeom>
            <a:rect b="b" l="l" r="r" t="t"/>
            <a:pathLst>
              <a:path extrusionOk="0" h="1404392" w="1404392">
                <a:moveTo>
                  <a:pt x="0" y="0"/>
                </a:moveTo>
                <a:lnTo>
                  <a:pt x="1404392" y="0"/>
                </a:lnTo>
                <a:lnTo>
                  <a:pt x="1404392" y="1404392"/>
                </a:lnTo>
                <a:lnTo>
                  <a:pt x="0" y="1404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3" name="Google Shape;373;p20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74" name="Google Shape;374;p20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Interrupciones en Arduino</a:t>
            </a:r>
            <a:endParaRPr/>
          </a:p>
        </p:txBody>
      </p:sp>
      <p:sp>
        <p:nvSpPr>
          <p:cNvPr id="375" name="Google Shape;375;p20"/>
          <p:cNvSpPr txBox="1"/>
          <p:nvPr/>
        </p:nvSpPr>
        <p:spPr>
          <a:xfrm>
            <a:off x="699617" y="2544529"/>
            <a:ext cx="1374234" cy="580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Timers</a:t>
            </a:r>
            <a:endParaRPr/>
          </a:p>
        </p:txBody>
      </p:sp>
      <p:sp>
        <p:nvSpPr>
          <p:cNvPr id="376" name="Google Shape;376;p20"/>
          <p:cNvSpPr txBox="1"/>
          <p:nvPr/>
        </p:nvSpPr>
        <p:spPr>
          <a:xfrm>
            <a:off x="370533" y="3277294"/>
            <a:ext cx="8411908" cy="6989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mode: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Define cuándo se debe activar la interrupción. Cuatro constantes están predefinidas como valores válidos:</a:t>
            </a:r>
            <a:endParaRPr/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Activar la interrupción siempre que el pin esté bajo.</a:t>
            </a:r>
            <a:endParaRPr/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CHANGE: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Activar la interrupción siempre que el pin cambie de valor.</a:t>
            </a:r>
            <a:endParaRPr/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RISING: 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Activar la interrupción cuando el pin pase de bajo a alto.</a:t>
            </a:r>
            <a:endParaRPr/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FALLING: 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Activar la interrupción cuando el pin pase de alto a bajo.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placas Due, Zero y MKR1000 también permiten: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HIGH:</a:t>
            </a:r>
            <a:r>
              <a:rPr b="0" i="0" lang="en-US" sz="265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Activar la interrupción siempre que el pin esté alto.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5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178523" y="8412732"/>
            <a:ext cx="1404392" cy="1404392"/>
          </a:xfrm>
          <a:custGeom>
            <a:rect b="b" l="l" r="r" t="t"/>
            <a:pathLst>
              <a:path extrusionOk="0" h="1404392" w="1404392">
                <a:moveTo>
                  <a:pt x="0" y="0"/>
                </a:moveTo>
                <a:lnTo>
                  <a:pt x="1404392" y="0"/>
                </a:lnTo>
                <a:lnTo>
                  <a:pt x="1404392" y="1404392"/>
                </a:lnTo>
                <a:lnTo>
                  <a:pt x="0" y="1404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78" name="Google Shape;378;p20"/>
          <p:cNvCxnSpPr/>
          <p:nvPr/>
        </p:nvCxnSpPr>
        <p:spPr>
          <a:xfrm flipH="1">
            <a:off x="1478905" y="2868049"/>
            <a:ext cx="5250256" cy="1492676"/>
          </a:xfrm>
          <a:prstGeom prst="straightConnector1">
            <a:avLst/>
          </a:prstGeom>
          <a:noFill/>
          <a:ln cap="flat" cmpd="sng" w="266700">
            <a:solidFill>
              <a:srgbClr val="FF313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9" name="Google Shape;379;p20"/>
          <p:cNvCxnSpPr/>
          <p:nvPr/>
        </p:nvCxnSpPr>
        <p:spPr>
          <a:xfrm flipH="1">
            <a:off x="1619382" y="7697020"/>
            <a:ext cx="5543528" cy="1289641"/>
          </a:xfrm>
          <a:prstGeom prst="straightConnector1">
            <a:avLst/>
          </a:prstGeom>
          <a:noFill/>
          <a:ln cap="flat" cmpd="sng" w="266700">
            <a:solidFill>
              <a:srgbClr val="FF313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1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21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6" name="Google Shape;386;p21"/>
          <p:cNvGrpSpPr/>
          <p:nvPr/>
        </p:nvGrpSpPr>
        <p:grpSpPr>
          <a:xfrm>
            <a:off x="0" y="2118987"/>
            <a:ext cx="18494188" cy="7765699"/>
            <a:chOff x="0" y="0"/>
            <a:chExt cx="4870897" cy="2045287"/>
          </a:xfrm>
        </p:grpSpPr>
        <p:sp>
          <p:nvSpPr>
            <p:cNvPr id="387" name="Google Shape;387;p21"/>
            <p:cNvSpPr/>
            <p:nvPr/>
          </p:nvSpPr>
          <p:spPr>
            <a:xfrm>
              <a:off x="0" y="0"/>
              <a:ext cx="4870897" cy="2045287"/>
            </a:xfrm>
            <a:custGeom>
              <a:rect b="b" l="l" r="r" t="t"/>
              <a:pathLst>
                <a:path extrusionOk="0" h="2045287" w="4870897">
                  <a:moveTo>
                    <a:pt x="21349" y="0"/>
                  </a:moveTo>
                  <a:lnTo>
                    <a:pt x="4849548" y="0"/>
                  </a:lnTo>
                  <a:cubicBezTo>
                    <a:pt x="4855210" y="0"/>
                    <a:pt x="4860641" y="2249"/>
                    <a:pt x="4864644" y="6253"/>
                  </a:cubicBezTo>
                  <a:cubicBezTo>
                    <a:pt x="4868648" y="10257"/>
                    <a:pt x="4870897" y="15687"/>
                    <a:pt x="4870897" y="21349"/>
                  </a:cubicBezTo>
                  <a:lnTo>
                    <a:pt x="4870897" y="2023938"/>
                  </a:lnTo>
                  <a:cubicBezTo>
                    <a:pt x="4870897" y="2029600"/>
                    <a:pt x="4868648" y="2035030"/>
                    <a:pt x="4864644" y="2039034"/>
                  </a:cubicBezTo>
                  <a:cubicBezTo>
                    <a:pt x="4860641" y="2043038"/>
                    <a:pt x="4855210" y="2045287"/>
                    <a:pt x="4849548" y="2045287"/>
                  </a:cubicBezTo>
                  <a:lnTo>
                    <a:pt x="21349" y="2045287"/>
                  </a:lnTo>
                  <a:cubicBezTo>
                    <a:pt x="15687" y="2045287"/>
                    <a:pt x="10257" y="2043038"/>
                    <a:pt x="6253" y="2039034"/>
                  </a:cubicBezTo>
                  <a:cubicBezTo>
                    <a:pt x="2249" y="2035030"/>
                    <a:pt x="0" y="2029600"/>
                    <a:pt x="0" y="2023938"/>
                  </a:cubicBezTo>
                  <a:lnTo>
                    <a:pt x="0" y="21349"/>
                  </a:lnTo>
                  <a:cubicBezTo>
                    <a:pt x="0" y="15687"/>
                    <a:pt x="2249" y="10257"/>
                    <a:pt x="6253" y="6253"/>
                  </a:cubicBezTo>
                  <a:cubicBezTo>
                    <a:pt x="10257" y="2249"/>
                    <a:pt x="15687" y="0"/>
                    <a:pt x="21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 txBox="1"/>
            <p:nvPr/>
          </p:nvSpPr>
          <p:spPr>
            <a:xfrm>
              <a:off x="0" y="57150"/>
              <a:ext cx="4870897" cy="198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1"/>
          <p:cNvSpPr/>
          <p:nvPr/>
        </p:nvSpPr>
        <p:spPr>
          <a:xfrm>
            <a:off x="5691305" y="5143500"/>
            <a:ext cx="12596695" cy="4729757"/>
          </a:xfrm>
          <a:custGeom>
            <a:rect b="b" l="l" r="r" t="t"/>
            <a:pathLst>
              <a:path extrusionOk="0" h="4729757" w="12596695">
                <a:moveTo>
                  <a:pt x="0" y="0"/>
                </a:moveTo>
                <a:lnTo>
                  <a:pt x="12596695" y="0"/>
                </a:lnTo>
                <a:lnTo>
                  <a:pt x="12596695" y="4729757"/>
                </a:lnTo>
                <a:lnTo>
                  <a:pt x="0" y="47297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21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91" name="Google Shape;391;p21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Interrupciones en Arduino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0" y="2183887"/>
            <a:ext cx="10253553" cy="264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Interrupciones en Arduino</a:t>
            </a:r>
            <a:r>
              <a:rPr b="0" i="0" lang="en-US" sz="302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  <a:p>
            <a:pPr indent="-326496" lvl="1" marL="652991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Open Sans"/>
              <a:buAutoNum type="arabicPeriod"/>
            </a:pPr>
            <a:r>
              <a:rPr b="0" i="0" lang="en-US" sz="302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 pin de Arduino que recibirá la señal de disparo </a:t>
            </a:r>
            <a:endParaRPr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2.   Una condición de disparo </a:t>
            </a:r>
            <a:endParaRPr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3.   Una función que se ejecutará, cuando se dispara la interrupción (Llamada call back function)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22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9" name="Google Shape;399;p22"/>
          <p:cNvGrpSpPr/>
          <p:nvPr/>
        </p:nvGrpSpPr>
        <p:grpSpPr>
          <a:xfrm>
            <a:off x="0" y="2118987"/>
            <a:ext cx="18494188" cy="7765699"/>
            <a:chOff x="0" y="0"/>
            <a:chExt cx="4870897" cy="2045287"/>
          </a:xfrm>
        </p:grpSpPr>
        <p:sp>
          <p:nvSpPr>
            <p:cNvPr id="400" name="Google Shape;400;p22"/>
            <p:cNvSpPr/>
            <p:nvPr/>
          </p:nvSpPr>
          <p:spPr>
            <a:xfrm>
              <a:off x="0" y="0"/>
              <a:ext cx="4870897" cy="2045287"/>
            </a:xfrm>
            <a:custGeom>
              <a:rect b="b" l="l" r="r" t="t"/>
              <a:pathLst>
                <a:path extrusionOk="0" h="2045287" w="4870897">
                  <a:moveTo>
                    <a:pt x="21349" y="0"/>
                  </a:moveTo>
                  <a:lnTo>
                    <a:pt x="4849548" y="0"/>
                  </a:lnTo>
                  <a:cubicBezTo>
                    <a:pt x="4855210" y="0"/>
                    <a:pt x="4860641" y="2249"/>
                    <a:pt x="4864644" y="6253"/>
                  </a:cubicBezTo>
                  <a:cubicBezTo>
                    <a:pt x="4868648" y="10257"/>
                    <a:pt x="4870897" y="15687"/>
                    <a:pt x="4870897" y="21349"/>
                  </a:cubicBezTo>
                  <a:lnTo>
                    <a:pt x="4870897" y="2023938"/>
                  </a:lnTo>
                  <a:cubicBezTo>
                    <a:pt x="4870897" y="2029600"/>
                    <a:pt x="4868648" y="2035030"/>
                    <a:pt x="4864644" y="2039034"/>
                  </a:cubicBezTo>
                  <a:cubicBezTo>
                    <a:pt x="4860641" y="2043038"/>
                    <a:pt x="4855210" y="2045287"/>
                    <a:pt x="4849548" y="2045287"/>
                  </a:cubicBezTo>
                  <a:lnTo>
                    <a:pt x="21349" y="2045287"/>
                  </a:lnTo>
                  <a:cubicBezTo>
                    <a:pt x="15687" y="2045287"/>
                    <a:pt x="10257" y="2043038"/>
                    <a:pt x="6253" y="2039034"/>
                  </a:cubicBezTo>
                  <a:cubicBezTo>
                    <a:pt x="2249" y="2035030"/>
                    <a:pt x="0" y="2029600"/>
                    <a:pt x="0" y="2023938"/>
                  </a:cubicBezTo>
                  <a:lnTo>
                    <a:pt x="0" y="21349"/>
                  </a:lnTo>
                  <a:cubicBezTo>
                    <a:pt x="0" y="15687"/>
                    <a:pt x="2249" y="10257"/>
                    <a:pt x="6253" y="6253"/>
                  </a:cubicBezTo>
                  <a:cubicBezTo>
                    <a:pt x="10257" y="2249"/>
                    <a:pt x="15687" y="0"/>
                    <a:pt x="21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2"/>
            <p:cNvSpPr txBox="1"/>
            <p:nvPr/>
          </p:nvSpPr>
          <p:spPr>
            <a:xfrm>
              <a:off x="0" y="57150"/>
              <a:ext cx="4870897" cy="198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22"/>
          <p:cNvSpPr/>
          <p:nvPr/>
        </p:nvSpPr>
        <p:spPr>
          <a:xfrm>
            <a:off x="1779717" y="2529591"/>
            <a:ext cx="14934755" cy="6728709"/>
          </a:xfrm>
          <a:custGeom>
            <a:rect b="b" l="l" r="r" t="t"/>
            <a:pathLst>
              <a:path extrusionOk="0" h="6728709" w="14934755">
                <a:moveTo>
                  <a:pt x="0" y="0"/>
                </a:moveTo>
                <a:lnTo>
                  <a:pt x="14934754" y="0"/>
                </a:lnTo>
                <a:lnTo>
                  <a:pt x="14934754" y="6728709"/>
                </a:lnTo>
                <a:lnTo>
                  <a:pt x="0" y="67287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22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04" name="Google Shape;404;p22"/>
          <p:cNvSpPr txBox="1"/>
          <p:nvPr/>
        </p:nvSpPr>
        <p:spPr>
          <a:xfrm>
            <a:off x="4208984" y="948125"/>
            <a:ext cx="9870032" cy="961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4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Interrupciones en Arduino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0" name="Google Shape;410;p23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1" name="Google Shape;411;p23"/>
          <p:cNvGrpSpPr/>
          <p:nvPr/>
        </p:nvGrpSpPr>
        <p:grpSpPr>
          <a:xfrm>
            <a:off x="-206188" y="201157"/>
            <a:ext cx="18494188" cy="9884686"/>
            <a:chOff x="0" y="0"/>
            <a:chExt cx="4870897" cy="2603374"/>
          </a:xfrm>
        </p:grpSpPr>
        <p:sp>
          <p:nvSpPr>
            <p:cNvPr id="412" name="Google Shape;412;p23"/>
            <p:cNvSpPr/>
            <p:nvPr/>
          </p:nvSpPr>
          <p:spPr>
            <a:xfrm>
              <a:off x="0" y="0"/>
              <a:ext cx="4870897" cy="2603374"/>
            </a:xfrm>
            <a:custGeom>
              <a:rect b="b" l="l" r="r" t="t"/>
              <a:pathLst>
                <a:path extrusionOk="0" h="2603374" w="4870897">
                  <a:moveTo>
                    <a:pt x="21349" y="0"/>
                  </a:moveTo>
                  <a:lnTo>
                    <a:pt x="4849548" y="0"/>
                  </a:lnTo>
                  <a:cubicBezTo>
                    <a:pt x="4855210" y="0"/>
                    <a:pt x="4860641" y="2249"/>
                    <a:pt x="4864644" y="6253"/>
                  </a:cubicBezTo>
                  <a:cubicBezTo>
                    <a:pt x="4868648" y="10257"/>
                    <a:pt x="4870897" y="15687"/>
                    <a:pt x="4870897" y="21349"/>
                  </a:cubicBezTo>
                  <a:lnTo>
                    <a:pt x="4870897" y="2582025"/>
                  </a:lnTo>
                  <a:cubicBezTo>
                    <a:pt x="4870897" y="2587687"/>
                    <a:pt x="4868648" y="2593117"/>
                    <a:pt x="4864644" y="2597121"/>
                  </a:cubicBezTo>
                  <a:cubicBezTo>
                    <a:pt x="4860641" y="2601125"/>
                    <a:pt x="4855210" y="2603374"/>
                    <a:pt x="4849548" y="2603374"/>
                  </a:cubicBezTo>
                  <a:lnTo>
                    <a:pt x="21349" y="2603374"/>
                  </a:lnTo>
                  <a:cubicBezTo>
                    <a:pt x="15687" y="2603374"/>
                    <a:pt x="10257" y="2601125"/>
                    <a:pt x="6253" y="2597121"/>
                  </a:cubicBezTo>
                  <a:cubicBezTo>
                    <a:pt x="2249" y="2593117"/>
                    <a:pt x="0" y="2587687"/>
                    <a:pt x="0" y="2582025"/>
                  </a:cubicBezTo>
                  <a:lnTo>
                    <a:pt x="0" y="21349"/>
                  </a:lnTo>
                  <a:cubicBezTo>
                    <a:pt x="0" y="15687"/>
                    <a:pt x="2249" y="10257"/>
                    <a:pt x="6253" y="6253"/>
                  </a:cubicBezTo>
                  <a:cubicBezTo>
                    <a:pt x="10257" y="2249"/>
                    <a:pt x="15687" y="0"/>
                    <a:pt x="21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3"/>
            <p:cNvSpPr txBox="1"/>
            <p:nvPr/>
          </p:nvSpPr>
          <p:spPr>
            <a:xfrm>
              <a:off x="0" y="57150"/>
              <a:ext cx="4870897" cy="2546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3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-4582105" y="1028700"/>
            <a:ext cx="14409677" cy="8438648"/>
          </a:xfrm>
          <a:custGeom>
            <a:rect b="b" l="l" r="r" t="t"/>
            <a:pathLst>
              <a:path extrusionOk="0" h="8438648" w="14409677">
                <a:moveTo>
                  <a:pt x="0" y="0"/>
                </a:moveTo>
                <a:lnTo>
                  <a:pt x="14409677" y="0"/>
                </a:lnTo>
                <a:lnTo>
                  <a:pt x="14409677" y="8438648"/>
                </a:lnTo>
                <a:lnTo>
                  <a:pt x="0" y="8438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6" name="Google Shape;416;p23"/>
          <p:cNvSpPr txBox="1"/>
          <p:nvPr/>
        </p:nvSpPr>
        <p:spPr>
          <a:xfrm>
            <a:off x="11226101" y="904875"/>
            <a:ext cx="4880128" cy="1124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Interrupts()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10770291" y="1888348"/>
            <a:ext cx="6489009" cy="7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5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Habilita las interrupciones</a:t>
            </a:r>
            <a:endParaRPr/>
          </a:p>
        </p:txBody>
      </p:sp>
      <p:sp>
        <p:nvSpPr>
          <p:cNvPr id="418" name="Google Shape;418;p23"/>
          <p:cNvSpPr txBox="1"/>
          <p:nvPr/>
        </p:nvSpPr>
        <p:spPr>
          <a:xfrm>
            <a:off x="10764584" y="3728742"/>
            <a:ext cx="6500422" cy="7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5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deshabilita la interrupcion</a:t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10899396" y="2680019"/>
            <a:ext cx="5533538" cy="1124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noInterrupt()</a:t>
            </a:r>
            <a:endParaRPr/>
          </a:p>
        </p:txBody>
      </p:sp>
      <p:sp>
        <p:nvSpPr>
          <p:cNvPr id="420" name="Google Shape;420;p23"/>
          <p:cNvSpPr txBox="1"/>
          <p:nvPr/>
        </p:nvSpPr>
        <p:spPr>
          <a:xfrm>
            <a:off x="10764584" y="5805974"/>
            <a:ext cx="6284088" cy="138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2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 permite configurar una interrupción externa, pero no otro tipo de interrupciones. El primer parámetro es el número de interrupción que va asociado a un pin, luego la función ISR y finalmente el modo.</a:t>
            </a:r>
            <a:endParaRPr/>
          </a:p>
        </p:txBody>
      </p:sp>
      <p:sp>
        <p:nvSpPr>
          <p:cNvPr id="421" name="Google Shape;421;p23"/>
          <p:cNvSpPr txBox="1"/>
          <p:nvPr/>
        </p:nvSpPr>
        <p:spPr>
          <a:xfrm>
            <a:off x="10073030" y="4519126"/>
            <a:ext cx="7186270" cy="1124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attachInterrupt()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