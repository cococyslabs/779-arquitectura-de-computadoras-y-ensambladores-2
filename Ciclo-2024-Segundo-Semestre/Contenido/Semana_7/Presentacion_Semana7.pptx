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577084-B9F5-42C8-8B77-66166F6BF0F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7115372-C931-4F7E-BED4-345C0FACE0D2}">
      <dgm:prSet/>
      <dgm:spPr/>
      <dgm:t>
        <a:bodyPr/>
        <a:lstStyle/>
        <a:p>
          <a:r>
            <a:rPr lang="es-ES"/>
            <a:t>Los dispositivos IoT suelen operar con restricciones de ancho de banda y recursos de procesamiento, lo que hace necesario optimizar la transmisión de datos.</a:t>
          </a:r>
          <a:endParaRPr lang="en-US"/>
        </a:p>
      </dgm:t>
    </dgm:pt>
    <dgm:pt modelId="{F482E33E-4C58-4FBE-BF4A-096410AF7ECE}" type="parTrans" cxnId="{8BCE2D4C-9DC6-49D2-945F-FB6240DB5994}">
      <dgm:prSet/>
      <dgm:spPr/>
      <dgm:t>
        <a:bodyPr/>
        <a:lstStyle/>
        <a:p>
          <a:endParaRPr lang="en-US"/>
        </a:p>
      </dgm:t>
    </dgm:pt>
    <dgm:pt modelId="{987C7205-40A5-4346-B4FA-9D9015A9D382}" type="sibTrans" cxnId="{8BCE2D4C-9DC6-49D2-945F-FB6240DB5994}">
      <dgm:prSet/>
      <dgm:spPr/>
      <dgm:t>
        <a:bodyPr/>
        <a:lstStyle/>
        <a:p>
          <a:endParaRPr lang="en-US"/>
        </a:p>
      </dgm:t>
    </dgm:pt>
    <dgm:pt modelId="{1CBB42A2-C935-4A3D-97A0-58DA4B7A8721}">
      <dgm:prSet/>
      <dgm:spPr/>
      <dgm:t>
        <a:bodyPr/>
        <a:lstStyle/>
        <a:p>
          <a:r>
            <a:rPr lang="es-ES"/>
            <a:t>Existen técnicas de comprensión de datos como: GZIP o CBOR para reducir el tamaño del payload. </a:t>
          </a:r>
          <a:endParaRPr lang="en-US"/>
        </a:p>
      </dgm:t>
    </dgm:pt>
    <dgm:pt modelId="{42F8F089-0743-4BEE-9CB3-1B2B8BBED1AB}" type="parTrans" cxnId="{6F820EE9-1FA8-49A4-BD94-95B254E9AADC}">
      <dgm:prSet/>
      <dgm:spPr/>
      <dgm:t>
        <a:bodyPr/>
        <a:lstStyle/>
        <a:p>
          <a:endParaRPr lang="en-US"/>
        </a:p>
      </dgm:t>
    </dgm:pt>
    <dgm:pt modelId="{D1545659-B16A-4AFF-88C0-F411EADF8D0C}" type="sibTrans" cxnId="{6F820EE9-1FA8-49A4-BD94-95B254E9AADC}">
      <dgm:prSet/>
      <dgm:spPr/>
      <dgm:t>
        <a:bodyPr/>
        <a:lstStyle/>
        <a:p>
          <a:endParaRPr lang="en-US"/>
        </a:p>
      </dgm:t>
    </dgm:pt>
    <dgm:pt modelId="{CFE4E00A-315E-4428-BA1C-356F9FA75A92}" type="pres">
      <dgm:prSet presAssocID="{71577084-B9F5-42C8-8B77-66166F6BF0F3}" presName="root" presStyleCnt="0">
        <dgm:presLayoutVars>
          <dgm:dir/>
          <dgm:resizeHandles val="exact"/>
        </dgm:presLayoutVars>
      </dgm:prSet>
      <dgm:spPr/>
    </dgm:pt>
    <dgm:pt modelId="{2041A4E6-0B4E-4984-A576-D38C0A8645AC}" type="pres">
      <dgm:prSet presAssocID="{77115372-C931-4F7E-BED4-345C0FACE0D2}" presName="compNode" presStyleCnt="0"/>
      <dgm:spPr/>
    </dgm:pt>
    <dgm:pt modelId="{4E2817F6-906A-4824-8BCA-ABDB7E38BFBA}" type="pres">
      <dgm:prSet presAssocID="{77115372-C931-4F7E-BED4-345C0FACE0D2}" presName="bgRect" presStyleLbl="bgShp" presStyleIdx="0" presStyleCnt="2"/>
      <dgm:spPr/>
    </dgm:pt>
    <dgm:pt modelId="{33F5055A-8EB0-43E2-B532-2AF9E5CB595B}" type="pres">
      <dgm:prSet presAssocID="{77115372-C931-4F7E-BED4-345C0FACE0D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8168FD68-197E-4E51-A214-3545CE175A27}" type="pres">
      <dgm:prSet presAssocID="{77115372-C931-4F7E-BED4-345C0FACE0D2}" presName="spaceRect" presStyleCnt="0"/>
      <dgm:spPr/>
    </dgm:pt>
    <dgm:pt modelId="{685E9B16-042B-4F38-A0D7-F633CF2EF834}" type="pres">
      <dgm:prSet presAssocID="{77115372-C931-4F7E-BED4-345C0FACE0D2}" presName="parTx" presStyleLbl="revTx" presStyleIdx="0" presStyleCnt="2">
        <dgm:presLayoutVars>
          <dgm:chMax val="0"/>
          <dgm:chPref val="0"/>
        </dgm:presLayoutVars>
      </dgm:prSet>
      <dgm:spPr/>
    </dgm:pt>
    <dgm:pt modelId="{9B0C84A2-FFFF-432F-AF1F-A47E2902044E}" type="pres">
      <dgm:prSet presAssocID="{987C7205-40A5-4346-B4FA-9D9015A9D382}" presName="sibTrans" presStyleCnt="0"/>
      <dgm:spPr/>
    </dgm:pt>
    <dgm:pt modelId="{C5FF3187-84CF-49C6-9DF7-EA786C0AAAFE}" type="pres">
      <dgm:prSet presAssocID="{1CBB42A2-C935-4A3D-97A0-58DA4B7A8721}" presName="compNode" presStyleCnt="0"/>
      <dgm:spPr/>
    </dgm:pt>
    <dgm:pt modelId="{DD8F82BB-63F9-4EA4-B35E-CBD2885A6793}" type="pres">
      <dgm:prSet presAssocID="{1CBB42A2-C935-4A3D-97A0-58DA4B7A8721}" presName="bgRect" presStyleLbl="bgShp" presStyleIdx="1" presStyleCnt="2"/>
      <dgm:spPr/>
    </dgm:pt>
    <dgm:pt modelId="{DDF484A4-3147-4D74-A09A-FDFC498CEF42}" type="pres">
      <dgm:prSet presAssocID="{1CBB42A2-C935-4A3D-97A0-58DA4B7A872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stronauta"/>
        </a:ext>
      </dgm:extLst>
    </dgm:pt>
    <dgm:pt modelId="{11852830-C1CC-4AC3-B1C3-EB8A3BF2EF8F}" type="pres">
      <dgm:prSet presAssocID="{1CBB42A2-C935-4A3D-97A0-58DA4B7A8721}" presName="spaceRect" presStyleCnt="0"/>
      <dgm:spPr/>
    </dgm:pt>
    <dgm:pt modelId="{856D0A5C-BF2D-483F-BEBF-B1F00A3B639D}" type="pres">
      <dgm:prSet presAssocID="{1CBB42A2-C935-4A3D-97A0-58DA4B7A872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BCE2D4C-9DC6-49D2-945F-FB6240DB5994}" srcId="{71577084-B9F5-42C8-8B77-66166F6BF0F3}" destId="{77115372-C931-4F7E-BED4-345C0FACE0D2}" srcOrd="0" destOrd="0" parTransId="{F482E33E-4C58-4FBE-BF4A-096410AF7ECE}" sibTransId="{987C7205-40A5-4346-B4FA-9D9015A9D382}"/>
    <dgm:cxn modelId="{BA53B76E-115A-4A82-B562-6C014AA31272}" type="presOf" srcId="{71577084-B9F5-42C8-8B77-66166F6BF0F3}" destId="{CFE4E00A-315E-4428-BA1C-356F9FA75A92}" srcOrd="0" destOrd="0" presId="urn:microsoft.com/office/officeart/2018/2/layout/IconVerticalSolidList"/>
    <dgm:cxn modelId="{3575E4DF-50D9-4F6C-B09A-0E2374D7896D}" type="presOf" srcId="{1CBB42A2-C935-4A3D-97A0-58DA4B7A8721}" destId="{856D0A5C-BF2D-483F-BEBF-B1F00A3B639D}" srcOrd="0" destOrd="0" presId="urn:microsoft.com/office/officeart/2018/2/layout/IconVerticalSolidList"/>
    <dgm:cxn modelId="{052608E2-A46F-4C6D-8EE1-F0F04B2D76D7}" type="presOf" srcId="{77115372-C931-4F7E-BED4-345C0FACE0D2}" destId="{685E9B16-042B-4F38-A0D7-F633CF2EF834}" srcOrd="0" destOrd="0" presId="urn:microsoft.com/office/officeart/2018/2/layout/IconVerticalSolidList"/>
    <dgm:cxn modelId="{6F820EE9-1FA8-49A4-BD94-95B254E9AADC}" srcId="{71577084-B9F5-42C8-8B77-66166F6BF0F3}" destId="{1CBB42A2-C935-4A3D-97A0-58DA4B7A8721}" srcOrd="1" destOrd="0" parTransId="{42F8F089-0743-4BEE-9CB3-1B2B8BBED1AB}" sibTransId="{D1545659-B16A-4AFF-88C0-F411EADF8D0C}"/>
    <dgm:cxn modelId="{7A7E2FE6-FFCA-4AB0-A087-5B7CCF1529CD}" type="presParOf" srcId="{CFE4E00A-315E-4428-BA1C-356F9FA75A92}" destId="{2041A4E6-0B4E-4984-A576-D38C0A8645AC}" srcOrd="0" destOrd="0" presId="urn:microsoft.com/office/officeart/2018/2/layout/IconVerticalSolidList"/>
    <dgm:cxn modelId="{0BB6E4F0-2887-44BE-911F-0871B5F30125}" type="presParOf" srcId="{2041A4E6-0B4E-4984-A576-D38C0A8645AC}" destId="{4E2817F6-906A-4824-8BCA-ABDB7E38BFBA}" srcOrd="0" destOrd="0" presId="urn:microsoft.com/office/officeart/2018/2/layout/IconVerticalSolidList"/>
    <dgm:cxn modelId="{334F2023-0E5C-40E5-A4E4-49D58EF53EEE}" type="presParOf" srcId="{2041A4E6-0B4E-4984-A576-D38C0A8645AC}" destId="{33F5055A-8EB0-43E2-B532-2AF9E5CB595B}" srcOrd="1" destOrd="0" presId="urn:microsoft.com/office/officeart/2018/2/layout/IconVerticalSolidList"/>
    <dgm:cxn modelId="{7871FFC5-C0DB-4426-81E9-EAECA31D174E}" type="presParOf" srcId="{2041A4E6-0B4E-4984-A576-D38C0A8645AC}" destId="{8168FD68-197E-4E51-A214-3545CE175A27}" srcOrd="2" destOrd="0" presId="urn:microsoft.com/office/officeart/2018/2/layout/IconVerticalSolidList"/>
    <dgm:cxn modelId="{90D80D52-0978-4AD7-A1FE-60C6042A4129}" type="presParOf" srcId="{2041A4E6-0B4E-4984-A576-D38C0A8645AC}" destId="{685E9B16-042B-4F38-A0D7-F633CF2EF834}" srcOrd="3" destOrd="0" presId="urn:microsoft.com/office/officeart/2018/2/layout/IconVerticalSolidList"/>
    <dgm:cxn modelId="{08936F10-97AB-42A7-B28A-39C270CE33FA}" type="presParOf" srcId="{CFE4E00A-315E-4428-BA1C-356F9FA75A92}" destId="{9B0C84A2-FFFF-432F-AF1F-A47E2902044E}" srcOrd="1" destOrd="0" presId="urn:microsoft.com/office/officeart/2018/2/layout/IconVerticalSolidList"/>
    <dgm:cxn modelId="{6E516196-B08B-41FD-89F9-D276A3C100E7}" type="presParOf" srcId="{CFE4E00A-315E-4428-BA1C-356F9FA75A92}" destId="{C5FF3187-84CF-49C6-9DF7-EA786C0AAAFE}" srcOrd="2" destOrd="0" presId="urn:microsoft.com/office/officeart/2018/2/layout/IconVerticalSolidList"/>
    <dgm:cxn modelId="{A52FD978-6A45-401D-A0AB-163D6A4F07A8}" type="presParOf" srcId="{C5FF3187-84CF-49C6-9DF7-EA786C0AAAFE}" destId="{DD8F82BB-63F9-4EA4-B35E-CBD2885A6793}" srcOrd="0" destOrd="0" presId="urn:microsoft.com/office/officeart/2018/2/layout/IconVerticalSolidList"/>
    <dgm:cxn modelId="{92624DFA-D3F5-4AB7-839F-BF7AD19A51AC}" type="presParOf" srcId="{C5FF3187-84CF-49C6-9DF7-EA786C0AAAFE}" destId="{DDF484A4-3147-4D74-A09A-FDFC498CEF42}" srcOrd="1" destOrd="0" presId="urn:microsoft.com/office/officeart/2018/2/layout/IconVerticalSolidList"/>
    <dgm:cxn modelId="{53D98F65-D618-4EEF-AA82-94995F2ACBDC}" type="presParOf" srcId="{C5FF3187-84CF-49C6-9DF7-EA786C0AAAFE}" destId="{11852830-C1CC-4AC3-B1C3-EB8A3BF2EF8F}" srcOrd="2" destOrd="0" presId="urn:microsoft.com/office/officeart/2018/2/layout/IconVerticalSolidList"/>
    <dgm:cxn modelId="{82FCF0E3-AF8A-4991-A2AE-A6C93B7E7C6D}" type="presParOf" srcId="{C5FF3187-84CF-49C6-9DF7-EA786C0AAAFE}" destId="{856D0A5C-BF2D-483F-BEBF-B1F00A3B639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02E0B5-F9B2-4C14-8656-348DC129EFB8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3017F06-C029-4B23-A85C-CE75B48A7D3A}">
      <dgm:prSet custT="1"/>
      <dgm:spPr/>
      <dgm:t>
        <a:bodyPr/>
        <a:lstStyle/>
        <a:p>
          <a:pPr>
            <a:defRPr cap="all"/>
          </a:pPr>
          <a:r>
            <a:rPr lang="en-US" sz="1800" b="1" i="0" baseline="0" dirty="0" err="1"/>
            <a:t>Escalabilidad</a:t>
          </a:r>
          <a:r>
            <a:rPr lang="en-US" sz="1800" b="0" i="0" baseline="0" dirty="0"/>
            <a:t>: REST </a:t>
          </a:r>
          <a:r>
            <a:rPr lang="en-US" sz="1800" b="0" i="0" baseline="0" dirty="0" err="1"/>
            <a:t>permite</a:t>
          </a:r>
          <a:r>
            <a:rPr lang="en-US" sz="1800" b="0" i="0" baseline="0" dirty="0"/>
            <a:t> la </a:t>
          </a:r>
          <a:r>
            <a:rPr lang="en-US" sz="1800" b="0" i="0" baseline="0" dirty="0" err="1"/>
            <a:t>integración</a:t>
          </a:r>
          <a:r>
            <a:rPr lang="en-US" sz="1800" b="0" i="0" baseline="0" dirty="0"/>
            <a:t> de </a:t>
          </a:r>
          <a:r>
            <a:rPr lang="en-US" sz="1800" b="0" i="0" baseline="0" dirty="0" err="1"/>
            <a:t>múltiples</a:t>
          </a:r>
          <a:r>
            <a:rPr lang="en-US" sz="1800" b="0" i="0" baseline="0" dirty="0"/>
            <a:t> </a:t>
          </a:r>
          <a:r>
            <a:rPr lang="en-US" sz="1800" b="0" i="0" baseline="0" dirty="0" err="1"/>
            <a:t>dispositivos</a:t>
          </a:r>
          <a:r>
            <a:rPr lang="en-US" sz="1800" b="0" i="0" baseline="0" dirty="0"/>
            <a:t> sin </a:t>
          </a:r>
          <a:r>
            <a:rPr lang="en-US" sz="1800" b="0" i="0" baseline="0" dirty="0" err="1"/>
            <a:t>comprometer</a:t>
          </a:r>
          <a:r>
            <a:rPr lang="en-US" sz="1800" b="0" i="0" baseline="0" dirty="0"/>
            <a:t> la </a:t>
          </a:r>
          <a:r>
            <a:rPr lang="en-US" sz="1800" b="0" i="0" baseline="0" dirty="0" err="1"/>
            <a:t>eficiencia</a:t>
          </a:r>
          <a:r>
            <a:rPr lang="en-US" sz="1800" b="0" i="0" baseline="0" dirty="0"/>
            <a:t>.</a:t>
          </a:r>
          <a:endParaRPr lang="en-US" sz="1800" dirty="0"/>
        </a:p>
      </dgm:t>
    </dgm:pt>
    <dgm:pt modelId="{DD998C07-0E3A-46E5-ADFB-457690468F8E}" type="parTrans" cxnId="{4A5B4E0F-E835-4480-8B79-CC3CB06005EF}">
      <dgm:prSet/>
      <dgm:spPr/>
      <dgm:t>
        <a:bodyPr/>
        <a:lstStyle/>
        <a:p>
          <a:endParaRPr lang="en-US"/>
        </a:p>
      </dgm:t>
    </dgm:pt>
    <dgm:pt modelId="{B714E646-AF8F-41FE-A528-6A9D1DA89167}" type="sibTrans" cxnId="{4A5B4E0F-E835-4480-8B79-CC3CB06005EF}">
      <dgm:prSet/>
      <dgm:spPr/>
      <dgm:t>
        <a:bodyPr/>
        <a:lstStyle/>
        <a:p>
          <a:endParaRPr lang="en-US"/>
        </a:p>
      </dgm:t>
    </dgm:pt>
    <dgm:pt modelId="{A204C3BF-1623-4C66-9E24-F80A0E372E41}">
      <dgm:prSet/>
      <dgm:spPr/>
      <dgm:t>
        <a:bodyPr/>
        <a:lstStyle/>
        <a:p>
          <a:pPr>
            <a:defRPr cap="all"/>
          </a:pPr>
          <a:r>
            <a:rPr lang="en-US" b="1" i="0" baseline="0" dirty="0" err="1"/>
            <a:t>Estandarización</a:t>
          </a:r>
          <a:r>
            <a:rPr lang="en-US" b="0" i="0" baseline="0" dirty="0"/>
            <a:t>: </a:t>
          </a:r>
          <a:r>
            <a:rPr lang="en-US" b="0" i="0" baseline="0" dirty="0" err="1"/>
            <a:t>Uso</a:t>
          </a:r>
          <a:r>
            <a:rPr lang="en-US" b="0" i="0" baseline="0" dirty="0"/>
            <a:t> de </a:t>
          </a:r>
          <a:r>
            <a:rPr lang="en-US" b="0" i="0" baseline="0" dirty="0" err="1"/>
            <a:t>métodos</a:t>
          </a:r>
          <a:r>
            <a:rPr lang="en-US" b="0" i="0" baseline="0" dirty="0"/>
            <a:t> HTTP (GET, POST, PUT, DELETE) que </a:t>
          </a:r>
          <a:r>
            <a:rPr lang="en-US" b="0" i="0" baseline="0" dirty="0" err="1"/>
            <a:t>simplifican</a:t>
          </a:r>
          <a:r>
            <a:rPr lang="en-US" b="0" i="0" baseline="0" dirty="0"/>
            <a:t> la </a:t>
          </a:r>
          <a:r>
            <a:rPr lang="en-US" b="0" i="0" baseline="0" dirty="0" err="1"/>
            <a:t>interacción</a:t>
          </a:r>
          <a:r>
            <a:rPr lang="en-US" b="0" i="0" baseline="0" dirty="0"/>
            <a:t>. </a:t>
          </a:r>
          <a:endParaRPr lang="en-US" dirty="0"/>
        </a:p>
      </dgm:t>
    </dgm:pt>
    <dgm:pt modelId="{06E363B6-2DD8-4314-91EC-2F9277F35FBD}" type="parTrans" cxnId="{EFB36E78-5658-48E4-BD6A-17D5E4850E8D}">
      <dgm:prSet/>
      <dgm:spPr/>
      <dgm:t>
        <a:bodyPr/>
        <a:lstStyle/>
        <a:p>
          <a:endParaRPr lang="en-US"/>
        </a:p>
      </dgm:t>
    </dgm:pt>
    <dgm:pt modelId="{2737FEE3-74CE-4B5D-AE9C-9318FF6114CC}" type="sibTrans" cxnId="{EFB36E78-5658-48E4-BD6A-17D5E4850E8D}">
      <dgm:prSet/>
      <dgm:spPr/>
      <dgm:t>
        <a:bodyPr/>
        <a:lstStyle/>
        <a:p>
          <a:endParaRPr lang="en-US"/>
        </a:p>
      </dgm:t>
    </dgm:pt>
    <dgm:pt modelId="{383A0B23-537A-40AB-8959-FB57C0DEC322}" type="pres">
      <dgm:prSet presAssocID="{0F02E0B5-F9B2-4C14-8656-348DC129EFB8}" presName="root" presStyleCnt="0">
        <dgm:presLayoutVars>
          <dgm:dir/>
          <dgm:resizeHandles val="exact"/>
        </dgm:presLayoutVars>
      </dgm:prSet>
      <dgm:spPr/>
    </dgm:pt>
    <dgm:pt modelId="{8520AB8B-C94A-4A92-B7A8-DD9E1B3B8601}" type="pres">
      <dgm:prSet presAssocID="{A3017F06-C029-4B23-A85C-CE75B48A7D3A}" presName="compNode" presStyleCnt="0"/>
      <dgm:spPr/>
    </dgm:pt>
    <dgm:pt modelId="{913B287C-B4E8-4120-A12C-F22D969A6870}" type="pres">
      <dgm:prSet presAssocID="{A3017F06-C029-4B23-A85C-CE75B48A7D3A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CBCF030C-F192-49ED-9524-E59434D1BF61}" type="pres">
      <dgm:prSet presAssocID="{A3017F06-C029-4B23-A85C-CE75B48A7D3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21FA9107-196C-4BCF-A1D3-E90D8B2E24A2}" type="pres">
      <dgm:prSet presAssocID="{A3017F06-C029-4B23-A85C-CE75B48A7D3A}" presName="spaceRect" presStyleCnt="0"/>
      <dgm:spPr/>
    </dgm:pt>
    <dgm:pt modelId="{D9BD145D-5BDC-43DD-A803-A74AEA1B3778}" type="pres">
      <dgm:prSet presAssocID="{A3017F06-C029-4B23-A85C-CE75B48A7D3A}" presName="textRect" presStyleLbl="revTx" presStyleIdx="0" presStyleCnt="2" custScaleY="142327">
        <dgm:presLayoutVars>
          <dgm:chMax val="1"/>
          <dgm:chPref val="1"/>
        </dgm:presLayoutVars>
      </dgm:prSet>
      <dgm:spPr/>
    </dgm:pt>
    <dgm:pt modelId="{1A43DBCC-9F9B-42F2-BDF7-3D7A26C6F469}" type="pres">
      <dgm:prSet presAssocID="{B714E646-AF8F-41FE-A528-6A9D1DA89167}" presName="sibTrans" presStyleCnt="0"/>
      <dgm:spPr/>
    </dgm:pt>
    <dgm:pt modelId="{1DA42C06-EB3B-4C64-97A5-475E755BD53E}" type="pres">
      <dgm:prSet presAssocID="{A204C3BF-1623-4C66-9E24-F80A0E372E41}" presName="compNode" presStyleCnt="0"/>
      <dgm:spPr/>
    </dgm:pt>
    <dgm:pt modelId="{13F4737A-6287-430E-B5D0-5AD7B5F0CAD6}" type="pres">
      <dgm:prSet presAssocID="{A204C3BF-1623-4C66-9E24-F80A0E372E41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E0E8F1F8-FD52-4CD2-9C1A-B42DB31C1930}" type="pres">
      <dgm:prSet presAssocID="{A204C3BF-1623-4C66-9E24-F80A0E372E4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D0C68575-6A00-4792-BAB3-5D645BE03F0B}" type="pres">
      <dgm:prSet presAssocID="{A204C3BF-1623-4C66-9E24-F80A0E372E41}" presName="spaceRect" presStyleCnt="0"/>
      <dgm:spPr/>
    </dgm:pt>
    <dgm:pt modelId="{270AD858-3861-4523-8F96-2F5BAAEA0A20}" type="pres">
      <dgm:prSet presAssocID="{A204C3BF-1623-4C66-9E24-F80A0E372E41}" presName="textRect" presStyleLbl="revTx" presStyleIdx="1" presStyleCnt="2" custScaleY="132820">
        <dgm:presLayoutVars>
          <dgm:chMax val="1"/>
          <dgm:chPref val="1"/>
        </dgm:presLayoutVars>
      </dgm:prSet>
      <dgm:spPr/>
    </dgm:pt>
  </dgm:ptLst>
  <dgm:cxnLst>
    <dgm:cxn modelId="{4A5B4E0F-E835-4480-8B79-CC3CB06005EF}" srcId="{0F02E0B5-F9B2-4C14-8656-348DC129EFB8}" destId="{A3017F06-C029-4B23-A85C-CE75B48A7D3A}" srcOrd="0" destOrd="0" parTransId="{DD998C07-0E3A-46E5-ADFB-457690468F8E}" sibTransId="{B714E646-AF8F-41FE-A528-6A9D1DA89167}"/>
    <dgm:cxn modelId="{90631C76-E93D-4D40-A478-46D3F6FB868D}" type="presOf" srcId="{0F02E0B5-F9B2-4C14-8656-348DC129EFB8}" destId="{383A0B23-537A-40AB-8959-FB57C0DEC322}" srcOrd="0" destOrd="0" presId="urn:microsoft.com/office/officeart/2018/5/layout/IconLeafLabelList"/>
    <dgm:cxn modelId="{EFB36E78-5658-48E4-BD6A-17D5E4850E8D}" srcId="{0F02E0B5-F9B2-4C14-8656-348DC129EFB8}" destId="{A204C3BF-1623-4C66-9E24-F80A0E372E41}" srcOrd="1" destOrd="0" parTransId="{06E363B6-2DD8-4314-91EC-2F9277F35FBD}" sibTransId="{2737FEE3-74CE-4B5D-AE9C-9318FF6114CC}"/>
    <dgm:cxn modelId="{2F209F99-7336-46B8-9361-1ECBBBFF2C92}" type="presOf" srcId="{A204C3BF-1623-4C66-9E24-F80A0E372E41}" destId="{270AD858-3861-4523-8F96-2F5BAAEA0A20}" srcOrd="0" destOrd="0" presId="urn:microsoft.com/office/officeart/2018/5/layout/IconLeafLabelList"/>
    <dgm:cxn modelId="{45EC05C2-496C-4098-A67B-AF7E5AEDA2EB}" type="presOf" srcId="{A3017F06-C029-4B23-A85C-CE75B48A7D3A}" destId="{D9BD145D-5BDC-43DD-A803-A74AEA1B3778}" srcOrd="0" destOrd="0" presId="urn:microsoft.com/office/officeart/2018/5/layout/IconLeafLabelList"/>
    <dgm:cxn modelId="{BB4CD0EA-3764-4A9E-9095-D7283B90652B}" type="presParOf" srcId="{383A0B23-537A-40AB-8959-FB57C0DEC322}" destId="{8520AB8B-C94A-4A92-B7A8-DD9E1B3B8601}" srcOrd="0" destOrd="0" presId="urn:microsoft.com/office/officeart/2018/5/layout/IconLeafLabelList"/>
    <dgm:cxn modelId="{70717845-3FFA-4ECF-AD4A-600A5E919024}" type="presParOf" srcId="{8520AB8B-C94A-4A92-B7A8-DD9E1B3B8601}" destId="{913B287C-B4E8-4120-A12C-F22D969A6870}" srcOrd="0" destOrd="0" presId="urn:microsoft.com/office/officeart/2018/5/layout/IconLeafLabelList"/>
    <dgm:cxn modelId="{94EC2A62-52E8-43C6-ACBB-1214665C3C51}" type="presParOf" srcId="{8520AB8B-C94A-4A92-B7A8-DD9E1B3B8601}" destId="{CBCF030C-F192-49ED-9524-E59434D1BF61}" srcOrd="1" destOrd="0" presId="urn:microsoft.com/office/officeart/2018/5/layout/IconLeafLabelList"/>
    <dgm:cxn modelId="{EBFB0FC5-25F3-40AD-8D9E-61F3FE2A1768}" type="presParOf" srcId="{8520AB8B-C94A-4A92-B7A8-DD9E1B3B8601}" destId="{21FA9107-196C-4BCF-A1D3-E90D8B2E24A2}" srcOrd="2" destOrd="0" presId="urn:microsoft.com/office/officeart/2018/5/layout/IconLeafLabelList"/>
    <dgm:cxn modelId="{5F1C08BF-1FE3-4C33-BE58-1098151D95C6}" type="presParOf" srcId="{8520AB8B-C94A-4A92-B7A8-DD9E1B3B8601}" destId="{D9BD145D-5BDC-43DD-A803-A74AEA1B3778}" srcOrd="3" destOrd="0" presId="urn:microsoft.com/office/officeart/2018/5/layout/IconLeafLabelList"/>
    <dgm:cxn modelId="{F9864AB5-0C38-4161-A384-9AEB62CC68EB}" type="presParOf" srcId="{383A0B23-537A-40AB-8959-FB57C0DEC322}" destId="{1A43DBCC-9F9B-42F2-BDF7-3D7A26C6F469}" srcOrd="1" destOrd="0" presId="urn:microsoft.com/office/officeart/2018/5/layout/IconLeafLabelList"/>
    <dgm:cxn modelId="{3060697B-AF25-42FF-B961-610AB9654C0D}" type="presParOf" srcId="{383A0B23-537A-40AB-8959-FB57C0DEC322}" destId="{1DA42C06-EB3B-4C64-97A5-475E755BD53E}" srcOrd="2" destOrd="0" presId="urn:microsoft.com/office/officeart/2018/5/layout/IconLeafLabelList"/>
    <dgm:cxn modelId="{A51BDF04-B94D-419B-BC8C-5B44C29BF7E4}" type="presParOf" srcId="{1DA42C06-EB3B-4C64-97A5-475E755BD53E}" destId="{13F4737A-6287-430E-B5D0-5AD7B5F0CAD6}" srcOrd="0" destOrd="0" presId="urn:microsoft.com/office/officeart/2018/5/layout/IconLeafLabelList"/>
    <dgm:cxn modelId="{4B062622-14C3-4620-989B-FCB175D772FD}" type="presParOf" srcId="{1DA42C06-EB3B-4C64-97A5-475E755BD53E}" destId="{E0E8F1F8-FD52-4CD2-9C1A-B42DB31C1930}" srcOrd="1" destOrd="0" presId="urn:microsoft.com/office/officeart/2018/5/layout/IconLeafLabelList"/>
    <dgm:cxn modelId="{DF98A3E9-6D71-4BF3-9387-4612EA4BFA8E}" type="presParOf" srcId="{1DA42C06-EB3B-4C64-97A5-475E755BD53E}" destId="{D0C68575-6A00-4792-BAB3-5D645BE03F0B}" srcOrd="2" destOrd="0" presId="urn:microsoft.com/office/officeart/2018/5/layout/IconLeafLabelList"/>
    <dgm:cxn modelId="{4E16DD0C-055D-4631-9DFA-E5E46D884897}" type="presParOf" srcId="{1DA42C06-EB3B-4C64-97A5-475E755BD53E}" destId="{270AD858-3861-4523-8F96-2F5BAAEA0A2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67E6A10-9446-49A6-93B2-4A47E1B59495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B217674-E4FC-4712-B943-C69BA1BCAAC0}">
      <dgm:prSet/>
      <dgm:spPr/>
      <dgm:t>
        <a:bodyPr/>
        <a:lstStyle/>
        <a:p>
          <a:r>
            <a:rPr lang="en-US" b="1" i="0" baseline="0"/>
            <a:t>Ligero y eficiente</a:t>
          </a:r>
          <a:r>
            <a:rPr lang="en-US" b="0" i="0" baseline="0"/>
            <a:t>: Menor carga en términos de consumo de ancho de banda y recursos de procesamiento.</a:t>
          </a:r>
          <a:endParaRPr lang="en-US"/>
        </a:p>
      </dgm:t>
    </dgm:pt>
    <dgm:pt modelId="{ECB544AC-CC85-4763-9750-9B4C01274D8C}" type="parTrans" cxnId="{00677AD1-8FAB-4E12-9A7F-60A863E8AA73}">
      <dgm:prSet/>
      <dgm:spPr/>
      <dgm:t>
        <a:bodyPr/>
        <a:lstStyle/>
        <a:p>
          <a:endParaRPr lang="en-US"/>
        </a:p>
      </dgm:t>
    </dgm:pt>
    <dgm:pt modelId="{E29CDA99-938D-4E97-97D2-F777DB824ECB}" type="sibTrans" cxnId="{00677AD1-8FAB-4E12-9A7F-60A863E8AA73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B7128159-F89D-4BA9-AB44-C80B10736ECF}">
      <dgm:prSet/>
      <dgm:spPr/>
      <dgm:t>
        <a:bodyPr/>
        <a:lstStyle/>
        <a:p>
          <a:r>
            <a:rPr lang="en-US" b="1" i="0" baseline="0"/>
            <a:t>Modelo de solicitud-respuesta similar a HTTP</a:t>
          </a:r>
          <a:r>
            <a:rPr lang="en-US" b="0" i="0" baseline="0"/>
            <a:t>: Permite operaciones como GET, POST, PUT y DELETE.</a:t>
          </a:r>
          <a:endParaRPr lang="en-US"/>
        </a:p>
      </dgm:t>
    </dgm:pt>
    <dgm:pt modelId="{8E6420C5-1127-4D21-ADB7-BC92829006C3}" type="parTrans" cxnId="{A52A4112-CEA1-441B-AD7B-92CC368DF236}">
      <dgm:prSet/>
      <dgm:spPr/>
      <dgm:t>
        <a:bodyPr/>
        <a:lstStyle/>
        <a:p>
          <a:endParaRPr lang="en-US"/>
        </a:p>
      </dgm:t>
    </dgm:pt>
    <dgm:pt modelId="{E4449758-23F1-4372-9E73-3873559A8BD8}" type="sibTrans" cxnId="{A52A4112-CEA1-441B-AD7B-92CC368DF236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9451B3BC-440F-4FA3-ADD7-07C3013A21FC}">
      <dgm:prSet/>
      <dgm:spPr/>
      <dgm:t>
        <a:bodyPr/>
        <a:lstStyle/>
        <a:p>
          <a:r>
            <a:rPr lang="en-US" b="1" i="0" baseline="0"/>
            <a:t>Uso en redes limitadas</a:t>
          </a:r>
          <a:r>
            <a:rPr lang="en-US" b="0" i="0" baseline="0"/>
            <a:t>: Ideal para dispositivos con conectividad intermitente o baja. </a:t>
          </a:r>
          <a:endParaRPr lang="en-US"/>
        </a:p>
      </dgm:t>
    </dgm:pt>
    <dgm:pt modelId="{38CA5451-6D29-4DD2-8DA0-0FCC52F06686}" type="parTrans" cxnId="{E6EA4423-2DFC-41D8-844D-28D188B066D5}">
      <dgm:prSet/>
      <dgm:spPr/>
      <dgm:t>
        <a:bodyPr/>
        <a:lstStyle/>
        <a:p>
          <a:endParaRPr lang="en-US"/>
        </a:p>
      </dgm:t>
    </dgm:pt>
    <dgm:pt modelId="{03ABBC10-DE90-4FC9-BD4C-DA17535FC97A}" type="sibTrans" cxnId="{E6EA4423-2DFC-41D8-844D-28D188B066D5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BB8E0FCE-1980-4F71-B6F3-72573D3ACBD1}" type="pres">
      <dgm:prSet presAssocID="{067E6A10-9446-49A6-93B2-4A47E1B59495}" presName="Name0" presStyleCnt="0">
        <dgm:presLayoutVars>
          <dgm:animLvl val="lvl"/>
          <dgm:resizeHandles val="exact"/>
        </dgm:presLayoutVars>
      </dgm:prSet>
      <dgm:spPr/>
    </dgm:pt>
    <dgm:pt modelId="{F54E5609-0B37-4A68-8BA2-4E80252DD229}" type="pres">
      <dgm:prSet presAssocID="{3B217674-E4FC-4712-B943-C69BA1BCAAC0}" presName="compositeNode" presStyleCnt="0">
        <dgm:presLayoutVars>
          <dgm:bulletEnabled val="1"/>
        </dgm:presLayoutVars>
      </dgm:prSet>
      <dgm:spPr/>
    </dgm:pt>
    <dgm:pt modelId="{6A79325E-1700-407F-86C1-1F442510F2DD}" type="pres">
      <dgm:prSet presAssocID="{3B217674-E4FC-4712-B943-C69BA1BCAAC0}" presName="bgRect" presStyleLbl="bgAccFollowNode1" presStyleIdx="0" presStyleCnt="3"/>
      <dgm:spPr/>
    </dgm:pt>
    <dgm:pt modelId="{D3EAC7F7-55A7-4C0C-857E-13A067B6049C}" type="pres">
      <dgm:prSet presAssocID="{E29CDA99-938D-4E97-97D2-F777DB824ECB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E56D7854-EF7A-43C7-B959-A77376E168F1}" type="pres">
      <dgm:prSet presAssocID="{3B217674-E4FC-4712-B943-C69BA1BCAAC0}" presName="bottomLine" presStyleLbl="alignNode1" presStyleIdx="1" presStyleCnt="6">
        <dgm:presLayoutVars/>
      </dgm:prSet>
      <dgm:spPr/>
    </dgm:pt>
    <dgm:pt modelId="{80883B18-44F9-44B4-9753-9CA979AB555A}" type="pres">
      <dgm:prSet presAssocID="{3B217674-E4FC-4712-B943-C69BA1BCAAC0}" presName="nodeText" presStyleLbl="bgAccFollowNode1" presStyleIdx="0" presStyleCnt="3">
        <dgm:presLayoutVars>
          <dgm:bulletEnabled val="1"/>
        </dgm:presLayoutVars>
      </dgm:prSet>
      <dgm:spPr/>
    </dgm:pt>
    <dgm:pt modelId="{E36CCBF1-E687-444B-8550-BE91AB376501}" type="pres">
      <dgm:prSet presAssocID="{E29CDA99-938D-4E97-97D2-F777DB824ECB}" presName="sibTrans" presStyleCnt="0"/>
      <dgm:spPr/>
    </dgm:pt>
    <dgm:pt modelId="{F86723AA-D905-491B-86BD-564F2FE652F1}" type="pres">
      <dgm:prSet presAssocID="{B7128159-F89D-4BA9-AB44-C80B10736ECF}" presName="compositeNode" presStyleCnt="0">
        <dgm:presLayoutVars>
          <dgm:bulletEnabled val="1"/>
        </dgm:presLayoutVars>
      </dgm:prSet>
      <dgm:spPr/>
    </dgm:pt>
    <dgm:pt modelId="{4EC399B7-9632-4BF5-A018-E970BADD710B}" type="pres">
      <dgm:prSet presAssocID="{B7128159-F89D-4BA9-AB44-C80B10736ECF}" presName="bgRect" presStyleLbl="bgAccFollowNode1" presStyleIdx="1" presStyleCnt="3"/>
      <dgm:spPr/>
    </dgm:pt>
    <dgm:pt modelId="{FA9C8308-C877-4F9C-9705-2C450954EA2D}" type="pres">
      <dgm:prSet presAssocID="{E4449758-23F1-4372-9E73-3873559A8BD8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0A8488A0-82BE-44DE-8301-303C05931C96}" type="pres">
      <dgm:prSet presAssocID="{B7128159-F89D-4BA9-AB44-C80B10736ECF}" presName="bottomLine" presStyleLbl="alignNode1" presStyleIdx="3" presStyleCnt="6">
        <dgm:presLayoutVars/>
      </dgm:prSet>
      <dgm:spPr/>
    </dgm:pt>
    <dgm:pt modelId="{972E71B1-A12D-4AE1-B983-A76A8381A84C}" type="pres">
      <dgm:prSet presAssocID="{B7128159-F89D-4BA9-AB44-C80B10736ECF}" presName="nodeText" presStyleLbl="bgAccFollowNode1" presStyleIdx="1" presStyleCnt="3">
        <dgm:presLayoutVars>
          <dgm:bulletEnabled val="1"/>
        </dgm:presLayoutVars>
      </dgm:prSet>
      <dgm:spPr/>
    </dgm:pt>
    <dgm:pt modelId="{C81269FC-5FC8-452A-B154-7A3DF74D311F}" type="pres">
      <dgm:prSet presAssocID="{E4449758-23F1-4372-9E73-3873559A8BD8}" presName="sibTrans" presStyleCnt="0"/>
      <dgm:spPr/>
    </dgm:pt>
    <dgm:pt modelId="{FC294BB0-0C4C-47B1-BFB7-240893ED7F35}" type="pres">
      <dgm:prSet presAssocID="{9451B3BC-440F-4FA3-ADD7-07C3013A21FC}" presName="compositeNode" presStyleCnt="0">
        <dgm:presLayoutVars>
          <dgm:bulletEnabled val="1"/>
        </dgm:presLayoutVars>
      </dgm:prSet>
      <dgm:spPr/>
    </dgm:pt>
    <dgm:pt modelId="{C2EBE849-083F-4554-AC3E-17B74C303059}" type="pres">
      <dgm:prSet presAssocID="{9451B3BC-440F-4FA3-ADD7-07C3013A21FC}" presName="bgRect" presStyleLbl="bgAccFollowNode1" presStyleIdx="2" presStyleCnt="3"/>
      <dgm:spPr/>
    </dgm:pt>
    <dgm:pt modelId="{3737A040-844C-408B-A9B4-4ADD9ACE7781}" type="pres">
      <dgm:prSet presAssocID="{03ABBC10-DE90-4FC9-BD4C-DA17535FC97A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D239677A-9758-448D-B176-91433816E646}" type="pres">
      <dgm:prSet presAssocID="{9451B3BC-440F-4FA3-ADD7-07C3013A21FC}" presName="bottomLine" presStyleLbl="alignNode1" presStyleIdx="5" presStyleCnt="6">
        <dgm:presLayoutVars/>
      </dgm:prSet>
      <dgm:spPr/>
    </dgm:pt>
    <dgm:pt modelId="{87015033-B376-405B-A0C8-6C82B62280F4}" type="pres">
      <dgm:prSet presAssocID="{9451B3BC-440F-4FA3-ADD7-07C3013A21FC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A52A4112-CEA1-441B-AD7B-92CC368DF236}" srcId="{067E6A10-9446-49A6-93B2-4A47E1B59495}" destId="{B7128159-F89D-4BA9-AB44-C80B10736ECF}" srcOrd="1" destOrd="0" parTransId="{8E6420C5-1127-4D21-ADB7-BC92829006C3}" sibTransId="{E4449758-23F1-4372-9E73-3873559A8BD8}"/>
    <dgm:cxn modelId="{E6EA4423-2DFC-41D8-844D-28D188B066D5}" srcId="{067E6A10-9446-49A6-93B2-4A47E1B59495}" destId="{9451B3BC-440F-4FA3-ADD7-07C3013A21FC}" srcOrd="2" destOrd="0" parTransId="{38CA5451-6D29-4DD2-8DA0-0FCC52F06686}" sibTransId="{03ABBC10-DE90-4FC9-BD4C-DA17535FC97A}"/>
    <dgm:cxn modelId="{8CCFD836-2ACB-432E-9109-03FC09F881A5}" type="presOf" srcId="{3B217674-E4FC-4712-B943-C69BA1BCAAC0}" destId="{6A79325E-1700-407F-86C1-1F442510F2DD}" srcOrd="0" destOrd="0" presId="urn:microsoft.com/office/officeart/2016/7/layout/BasicLinearProcessNumbered"/>
    <dgm:cxn modelId="{92F8D33A-A186-4070-A9F0-E0D1DE30A86C}" type="presOf" srcId="{9451B3BC-440F-4FA3-ADD7-07C3013A21FC}" destId="{87015033-B376-405B-A0C8-6C82B62280F4}" srcOrd="1" destOrd="0" presId="urn:microsoft.com/office/officeart/2016/7/layout/BasicLinearProcessNumbered"/>
    <dgm:cxn modelId="{E2B0CC3C-A522-4548-82C1-77BCCF1B8939}" type="presOf" srcId="{B7128159-F89D-4BA9-AB44-C80B10736ECF}" destId="{972E71B1-A12D-4AE1-B983-A76A8381A84C}" srcOrd="1" destOrd="0" presId="urn:microsoft.com/office/officeart/2016/7/layout/BasicLinearProcessNumbered"/>
    <dgm:cxn modelId="{A0592B6E-8235-4389-9A41-BF10793B1A67}" type="presOf" srcId="{03ABBC10-DE90-4FC9-BD4C-DA17535FC97A}" destId="{3737A040-844C-408B-A9B4-4ADD9ACE7781}" srcOrd="0" destOrd="0" presId="urn:microsoft.com/office/officeart/2016/7/layout/BasicLinearProcessNumbered"/>
    <dgm:cxn modelId="{7FBEDA7C-DC5C-46D3-8781-04C9C4578D33}" type="presOf" srcId="{067E6A10-9446-49A6-93B2-4A47E1B59495}" destId="{BB8E0FCE-1980-4F71-B6F3-72573D3ACBD1}" srcOrd="0" destOrd="0" presId="urn:microsoft.com/office/officeart/2016/7/layout/BasicLinearProcessNumbered"/>
    <dgm:cxn modelId="{88EECD7F-C2BD-427F-9A1E-8DD4A402645B}" type="presOf" srcId="{3B217674-E4FC-4712-B943-C69BA1BCAAC0}" destId="{80883B18-44F9-44B4-9753-9CA979AB555A}" srcOrd="1" destOrd="0" presId="urn:microsoft.com/office/officeart/2016/7/layout/BasicLinearProcessNumbered"/>
    <dgm:cxn modelId="{DBC6BC87-9283-47A3-884F-C3C663B862A2}" type="presOf" srcId="{9451B3BC-440F-4FA3-ADD7-07C3013A21FC}" destId="{C2EBE849-083F-4554-AC3E-17B74C303059}" srcOrd="0" destOrd="0" presId="urn:microsoft.com/office/officeart/2016/7/layout/BasicLinearProcessNumbered"/>
    <dgm:cxn modelId="{00C9F6B8-34F0-461C-BD7B-A38590C90ED4}" type="presOf" srcId="{E29CDA99-938D-4E97-97D2-F777DB824ECB}" destId="{D3EAC7F7-55A7-4C0C-857E-13A067B6049C}" srcOrd="0" destOrd="0" presId="urn:microsoft.com/office/officeart/2016/7/layout/BasicLinearProcessNumbered"/>
    <dgm:cxn modelId="{AED4CBCB-E41E-4ED3-AE20-76380A8C5712}" type="presOf" srcId="{E4449758-23F1-4372-9E73-3873559A8BD8}" destId="{FA9C8308-C877-4F9C-9705-2C450954EA2D}" srcOrd="0" destOrd="0" presId="urn:microsoft.com/office/officeart/2016/7/layout/BasicLinearProcessNumbered"/>
    <dgm:cxn modelId="{00677AD1-8FAB-4E12-9A7F-60A863E8AA73}" srcId="{067E6A10-9446-49A6-93B2-4A47E1B59495}" destId="{3B217674-E4FC-4712-B943-C69BA1BCAAC0}" srcOrd="0" destOrd="0" parTransId="{ECB544AC-CC85-4763-9750-9B4C01274D8C}" sibTransId="{E29CDA99-938D-4E97-97D2-F777DB824ECB}"/>
    <dgm:cxn modelId="{EAF491FF-155C-4B82-99BA-83630BC0FD7C}" type="presOf" srcId="{B7128159-F89D-4BA9-AB44-C80B10736ECF}" destId="{4EC399B7-9632-4BF5-A018-E970BADD710B}" srcOrd="0" destOrd="0" presId="urn:microsoft.com/office/officeart/2016/7/layout/BasicLinearProcessNumbered"/>
    <dgm:cxn modelId="{C6D63861-39C2-466E-9C80-E4211609688A}" type="presParOf" srcId="{BB8E0FCE-1980-4F71-B6F3-72573D3ACBD1}" destId="{F54E5609-0B37-4A68-8BA2-4E80252DD229}" srcOrd="0" destOrd="0" presId="urn:microsoft.com/office/officeart/2016/7/layout/BasicLinearProcessNumbered"/>
    <dgm:cxn modelId="{00C9A3F6-E2D7-4F0B-BAF8-F19879E9138D}" type="presParOf" srcId="{F54E5609-0B37-4A68-8BA2-4E80252DD229}" destId="{6A79325E-1700-407F-86C1-1F442510F2DD}" srcOrd="0" destOrd="0" presId="urn:microsoft.com/office/officeart/2016/7/layout/BasicLinearProcessNumbered"/>
    <dgm:cxn modelId="{A5E28D44-9026-4BFA-BA56-BC7C663E758C}" type="presParOf" srcId="{F54E5609-0B37-4A68-8BA2-4E80252DD229}" destId="{D3EAC7F7-55A7-4C0C-857E-13A067B6049C}" srcOrd="1" destOrd="0" presId="urn:microsoft.com/office/officeart/2016/7/layout/BasicLinearProcessNumbered"/>
    <dgm:cxn modelId="{531296EC-A07A-4B39-AE3B-B10B1FB881E6}" type="presParOf" srcId="{F54E5609-0B37-4A68-8BA2-4E80252DD229}" destId="{E56D7854-EF7A-43C7-B959-A77376E168F1}" srcOrd="2" destOrd="0" presId="urn:microsoft.com/office/officeart/2016/7/layout/BasicLinearProcessNumbered"/>
    <dgm:cxn modelId="{DC07B0BD-9A95-4F50-829A-0C0B49A0708D}" type="presParOf" srcId="{F54E5609-0B37-4A68-8BA2-4E80252DD229}" destId="{80883B18-44F9-44B4-9753-9CA979AB555A}" srcOrd="3" destOrd="0" presId="urn:microsoft.com/office/officeart/2016/7/layout/BasicLinearProcessNumbered"/>
    <dgm:cxn modelId="{1C088728-67BD-4860-8B47-1A38442DFAD5}" type="presParOf" srcId="{BB8E0FCE-1980-4F71-B6F3-72573D3ACBD1}" destId="{E36CCBF1-E687-444B-8550-BE91AB376501}" srcOrd="1" destOrd="0" presId="urn:microsoft.com/office/officeart/2016/7/layout/BasicLinearProcessNumbered"/>
    <dgm:cxn modelId="{7F781DAD-7799-40FC-BE27-435D8BCEF35A}" type="presParOf" srcId="{BB8E0FCE-1980-4F71-B6F3-72573D3ACBD1}" destId="{F86723AA-D905-491B-86BD-564F2FE652F1}" srcOrd="2" destOrd="0" presId="urn:microsoft.com/office/officeart/2016/7/layout/BasicLinearProcessNumbered"/>
    <dgm:cxn modelId="{FE339A9D-7D84-4C87-B26E-40DAA944E039}" type="presParOf" srcId="{F86723AA-D905-491B-86BD-564F2FE652F1}" destId="{4EC399B7-9632-4BF5-A018-E970BADD710B}" srcOrd="0" destOrd="0" presId="urn:microsoft.com/office/officeart/2016/7/layout/BasicLinearProcessNumbered"/>
    <dgm:cxn modelId="{2BE2AE2F-72B7-42C0-9D26-7B514F4E8ABF}" type="presParOf" srcId="{F86723AA-D905-491B-86BD-564F2FE652F1}" destId="{FA9C8308-C877-4F9C-9705-2C450954EA2D}" srcOrd="1" destOrd="0" presId="urn:microsoft.com/office/officeart/2016/7/layout/BasicLinearProcessNumbered"/>
    <dgm:cxn modelId="{EC29E268-275D-4D89-97A7-B4B5B5D4E69B}" type="presParOf" srcId="{F86723AA-D905-491B-86BD-564F2FE652F1}" destId="{0A8488A0-82BE-44DE-8301-303C05931C96}" srcOrd="2" destOrd="0" presId="urn:microsoft.com/office/officeart/2016/7/layout/BasicLinearProcessNumbered"/>
    <dgm:cxn modelId="{FF191C34-02A1-47F7-A906-0EDE823E4B6F}" type="presParOf" srcId="{F86723AA-D905-491B-86BD-564F2FE652F1}" destId="{972E71B1-A12D-4AE1-B983-A76A8381A84C}" srcOrd="3" destOrd="0" presId="urn:microsoft.com/office/officeart/2016/7/layout/BasicLinearProcessNumbered"/>
    <dgm:cxn modelId="{B3A9A5ED-26B9-4602-BABC-8E7154DFC157}" type="presParOf" srcId="{BB8E0FCE-1980-4F71-B6F3-72573D3ACBD1}" destId="{C81269FC-5FC8-452A-B154-7A3DF74D311F}" srcOrd="3" destOrd="0" presId="urn:microsoft.com/office/officeart/2016/7/layout/BasicLinearProcessNumbered"/>
    <dgm:cxn modelId="{11E9E080-A6C0-488A-AC14-8AE7C785E872}" type="presParOf" srcId="{BB8E0FCE-1980-4F71-B6F3-72573D3ACBD1}" destId="{FC294BB0-0C4C-47B1-BFB7-240893ED7F35}" srcOrd="4" destOrd="0" presId="urn:microsoft.com/office/officeart/2016/7/layout/BasicLinearProcessNumbered"/>
    <dgm:cxn modelId="{6D12FC52-AD2F-4445-A20E-A7EE9BD8C747}" type="presParOf" srcId="{FC294BB0-0C4C-47B1-BFB7-240893ED7F35}" destId="{C2EBE849-083F-4554-AC3E-17B74C303059}" srcOrd="0" destOrd="0" presId="urn:microsoft.com/office/officeart/2016/7/layout/BasicLinearProcessNumbered"/>
    <dgm:cxn modelId="{2AE9ED87-C6AC-4FD7-AAEA-AD334015FF3D}" type="presParOf" srcId="{FC294BB0-0C4C-47B1-BFB7-240893ED7F35}" destId="{3737A040-844C-408B-A9B4-4ADD9ACE7781}" srcOrd="1" destOrd="0" presId="urn:microsoft.com/office/officeart/2016/7/layout/BasicLinearProcessNumbered"/>
    <dgm:cxn modelId="{EA7907E1-DE29-4D66-8381-899C74FE6E90}" type="presParOf" srcId="{FC294BB0-0C4C-47B1-BFB7-240893ED7F35}" destId="{D239677A-9758-448D-B176-91433816E646}" srcOrd="2" destOrd="0" presId="urn:microsoft.com/office/officeart/2016/7/layout/BasicLinearProcessNumbered"/>
    <dgm:cxn modelId="{AAE9887F-A30D-499B-B9D1-F471E7721B02}" type="presParOf" srcId="{FC294BB0-0C4C-47B1-BFB7-240893ED7F35}" destId="{87015033-B376-405B-A0C8-6C82B62280F4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D6C6C1C-70E2-4E69-8052-ED2A6CCD72C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7565533-E816-418E-BF81-2F8395177C16}">
      <dgm:prSet/>
      <dgm:spPr/>
      <dgm:t>
        <a:bodyPr/>
        <a:lstStyle/>
        <a:p>
          <a:r>
            <a:rPr lang="en-US" b="1"/>
            <a:t>Conversión de protocolos</a:t>
          </a:r>
          <a:r>
            <a:rPr lang="en-US"/>
            <a:t>: Traducen protocolos como CoAP a HTTP o MQTT a HTTP, permitiendo la interoperabilidad.</a:t>
          </a:r>
        </a:p>
      </dgm:t>
    </dgm:pt>
    <dgm:pt modelId="{43D9BD64-5347-423F-80CB-404535A38443}" type="parTrans" cxnId="{13890ACF-2873-4624-AD32-1EF1BE300D09}">
      <dgm:prSet/>
      <dgm:spPr/>
      <dgm:t>
        <a:bodyPr/>
        <a:lstStyle/>
        <a:p>
          <a:endParaRPr lang="en-US"/>
        </a:p>
      </dgm:t>
    </dgm:pt>
    <dgm:pt modelId="{B8DC9EAD-9F81-4285-ABF6-6B4E4894B8EB}" type="sibTrans" cxnId="{13890ACF-2873-4624-AD32-1EF1BE300D09}">
      <dgm:prSet/>
      <dgm:spPr/>
      <dgm:t>
        <a:bodyPr/>
        <a:lstStyle/>
        <a:p>
          <a:endParaRPr lang="en-US"/>
        </a:p>
      </dgm:t>
    </dgm:pt>
    <dgm:pt modelId="{53FB2678-A838-472A-A7A1-D84E0230E2DB}">
      <dgm:prSet/>
      <dgm:spPr/>
      <dgm:t>
        <a:bodyPr/>
        <a:lstStyle/>
        <a:p>
          <a:r>
            <a:rPr lang="es-ES" b="1"/>
            <a:t>Optimización de datos</a:t>
          </a:r>
          <a:r>
            <a:rPr lang="es-ES"/>
            <a:t>: Filtran y agrupan datos para reducir la cantidad de información enviada a la nube.</a:t>
          </a:r>
          <a:endParaRPr lang="en-US"/>
        </a:p>
      </dgm:t>
    </dgm:pt>
    <dgm:pt modelId="{D2802BDE-BFA0-4C44-91FB-8982DE1129A0}" type="parTrans" cxnId="{4B8FB1A4-C192-40F3-9174-B376A9CA1447}">
      <dgm:prSet/>
      <dgm:spPr/>
      <dgm:t>
        <a:bodyPr/>
        <a:lstStyle/>
        <a:p>
          <a:endParaRPr lang="en-US"/>
        </a:p>
      </dgm:t>
    </dgm:pt>
    <dgm:pt modelId="{69A5C62C-5FDD-489C-955D-3DF0D02C5313}" type="sibTrans" cxnId="{4B8FB1A4-C192-40F3-9174-B376A9CA1447}">
      <dgm:prSet/>
      <dgm:spPr/>
      <dgm:t>
        <a:bodyPr/>
        <a:lstStyle/>
        <a:p>
          <a:endParaRPr lang="en-US"/>
        </a:p>
      </dgm:t>
    </dgm:pt>
    <dgm:pt modelId="{0ED26365-E7C3-4BB7-9F75-630034B1F702}" type="pres">
      <dgm:prSet presAssocID="{FD6C6C1C-70E2-4E69-8052-ED2A6CCD72C8}" presName="root" presStyleCnt="0">
        <dgm:presLayoutVars>
          <dgm:dir/>
          <dgm:resizeHandles val="exact"/>
        </dgm:presLayoutVars>
      </dgm:prSet>
      <dgm:spPr/>
    </dgm:pt>
    <dgm:pt modelId="{946E64DC-4966-43DA-88C7-EB1E5CD1FD45}" type="pres">
      <dgm:prSet presAssocID="{F7565533-E816-418E-BF81-2F8395177C16}" presName="compNode" presStyleCnt="0"/>
      <dgm:spPr/>
    </dgm:pt>
    <dgm:pt modelId="{CC5395FF-F749-4BFC-9ACD-4362237C991A}" type="pres">
      <dgm:prSet presAssocID="{F7565533-E816-418E-BF81-2F8395177C16}" presName="bgRect" presStyleLbl="bgShp" presStyleIdx="0" presStyleCnt="2"/>
      <dgm:spPr/>
    </dgm:pt>
    <dgm:pt modelId="{830CB045-3086-4717-9BDF-6DD003A51D12}" type="pres">
      <dgm:prSet presAssocID="{F7565533-E816-418E-BF81-2F8395177C1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486A7F34-93DA-444D-ADFA-9E4E208217B3}" type="pres">
      <dgm:prSet presAssocID="{F7565533-E816-418E-BF81-2F8395177C16}" presName="spaceRect" presStyleCnt="0"/>
      <dgm:spPr/>
    </dgm:pt>
    <dgm:pt modelId="{BB19A6A0-FF57-4B29-9CE5-F9F4470B4195}" type="pres">
      <dgm:prSet presAssocID="{F7565533-E816-418E-BF81-2F8395177C16}" presName="parTx" presStyleLbl="revTx" presStyleIdx="0" presStyleCnt="2">
        <dgm:presLayoutVars>
          <dgm:chMax val="0"/>
          <dgm:chPref val="0"/>
        </dgm:presLayoutVars>
      </dgm:prSet>
      <dgm:spPr/>
    </dgm:pt>
    <dgm:pt modelId="{4F6BA176-3F08-4362-805B-17ADD802F863}" type="pres">
      <dgm:prSet presAssocID="{B8DC9EAD-9F81-4285-ABF6-6B4E4894B8EB}" presName="sibTrans" presStyleCnt="0"/>
      <dgm:spPr/>
    </dgm:pt>
    <dgm:pt modelId="{2CC23EDA-CE80-4531-BC2C-65FE898E7A5E}" type="pres">
      <dgm:prSet presAssocID="{53FB2678-A838-472A-A7A1-D84E0230E2DB}" presName="compNode" presStyleCnt="0"/>
      <dgm:spPr/>
    </dgm:pt>
    <dgm:pt modelId="{E12BA1D8-4411-48A0-8D3D-ADA7D503131E}" type="pres">
      <dgm:prSet presAssocID="{53FB2678-A838-472A-A7A1-D84E0230E2DB}" presName="bgRect" presStyleLbl="bgShp" presStyleIdx="1" presStyleCnt="2"/>
      <dgm:spPr/>
    </dgm:pt>
    <dgm:pt modelId="{34D59349-C950-4D11-B51A-DFC5053318E9}" type="pres">
      <dgm:prSet presAssocID="{53FB2678-A838-472A-A7A1-D84E0230E2D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7832B11-1535-45F0-8214-18E3A7D82D9D}" type="pres">
      <dgm:prSet presAssocID="{53FB2678-A838-472A-A7A1-D84E0230E2DB}" presName="spaceRect" presStyleCnt="0"/>
      <dgm:spPr/>
    </dgm:pt>
    <dgm:pt modelId="{E786809C-21AF-4610-A2EB-9663756049DF}" type="pres">
      <dgm:prSet presAssocID="{53FB2678-A838-472A-A7A1-D84E0230E2D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73BB811-2678-47A6-8D65-A984B1F3E813}" type="presOf" srcId="{FD6C6C1C-70E2-4E69-8052-ED2A6CCD72C8}" destId="{0ED26365-E7C3-4BB7-9F75-630034B1F702}" srcOrd="0" destOrd="0" presId="urn:microsoft.com/office/officeart/2018/2/layout/IconVerticalSolidList"/>
    <dgm:cxn modelId="{4B8FB1A4-C192-40F3-9174-B376A9CA1447}" srcId="{FD6C6C1C-70E2-4E69-8052-ED2A6CCD72C8}" destId="{53FB2678-A838-472A-A7A1-D84E0230E2DB}" srcOrd="1" destOrd="0" parTransId="{D2802BDE-BFA0-4C44-91FB-8982DE1129A0}" sibTransId="{69A5C62C-5FDD-489C-955D-3DF0D02C5313}"/>
    <dgm:cxn modelId="{13890ACF-2873-4624-AD32-1EF1BE300D09}" srcId="{FD6C6C1C-70E2-4E69-8052-ED2A6CCD72C8}" destId="{F7565533-E816-418E-BF81-2F8395177C16}" srcOrd="0" destOrd="0" parTransId="{43D9BD64-5347-423F-80CB-404535A38443}" sibTransId="{B8DC9EAD-9F81-4285-ABF6-6B4E4894B8EB}"/>
    <dgm:cxn modelId="{44421FE9-11DD-4D1C-8CC7-339B03826B18}" type="presOf" srcId="{F7565533-E816-418E-BF81-2F8395177C16}" destId="{BB19A6A0-FF57-4B29-9CE5-F9F4470B4195}" srcOrd="0" destOrd="0" presId="urn:microsoft.com/office/officeart/2018/2/layout/IconVerticalSolidList"/>
    <dgm:cxn modelId="{064562FD-0C3A-4E89-AABC-458325E13495}" type="presOf" srcId="{53FB2678-A838-472A-A7A1-D84E0230E2DB}" destId="{E786809C-21AF-4610-A2EB-9663756049DF}" srcOrd="0" destOrd="0" presId="urn:microsoft.com/office/officeart/2018/2/layout/IconVerticalSolidList"/>
    <dgm:cxn modelId="{44A185F3-E6D0-428C-AC78-A019690F56A4}" type="presParOf" srcId="{0ED26365-E7C3-4BB7-9F75-630034B1F702}" destId="{946E64DC-4966-43DA-88C7-EB1E5CD1FD45}" srcOrd="0" destOrd="0" presId="urn:microsoft.com/office/officeart/2018/2/layout/IconVerticalSolidList"/>
    <dgm:cxn modelId="{E7B2128D-3A70-417E-87C8-C4670276F5C6}" type="presParOf" srcId="{946E64DC-4966-43DA-88C7-EB1E5CD1FD45}" destId="{CC5395FF-F749-4BFC-9ACD-4362237C991A}" srcOrd="0" destOrd="0" presId="urn:microsoft.com/office/officeart/2018/2/layout/IconVerticalSolidList"/>
    <dgm:cxn modelId="{F351773E-A556-43AB-876F-DF338C2B05BC}" type="presParOf" srcId="{946E64DC-4966-43DA-88C7-EB1E5CD1FD45}" destId="{830CB045-3086-4717-9BDF-6DD003A51D12}" srcOrd="1" destOrd="0" presId="urn:microsoft.com/office/officeart/2018/2/layout/IconVerticalSolidList"/>
    <dgm:cxn modelId="{361B3B94-A570-452D-B573-97C26940A020}" type="presParOf" srcId="{946E64DC-4966-43DA-88C7-EB1E5CD1FD45}" destId="{486A7F34-93DA-444D-ADFA-9E4E208217B3}" srcOrd="2" destOrd="0" presId="urn:microsoft.com/office/officeart/2018/2/layout/IconVerticalSolidList"/>
    <dgm:cxn modelId="{7C9782B0-A97D-4F44-B01C-7519E3374373}" type="presParOf" srcId="{946E64DC-4966-43DA-88C7-EB1E5CD1FD45}" destId="{BB19A6A0-FF57-4B29-9CE5-F9F4470B4195}" srcOrd="3" destOrd="0" presId="urn:microsoft.com/office/officeart/2018/2/layout/IconVerticalSolidList"/>
    <dgm:cxn modelId="{490189D7-67B5-4741-8833-14224BD7C40A}" type="presParOf" srcId="{0ED26365-E7C3-4BB7-9F75-630034B1F702}" destId="{4F6BA176-3F08-4362-805B-17ADD802F863}" srcOrd="1" destOrd="0" presId="urn:microsoft.com/office/officeart/2018/2/layout/IconVerticalSolidList"/>
    <dgm:cxn modelId="{6EEFCA2D-0E8F-4CC7-97C2-016D8FB796D9}" type="presParOf" srcId="{0ED26365-E7C3-4BB7-9F75-630034B1F702}" destId="{2CC23EDA-CE80-4531-BC2C-65FE898E7A5E}" srcOrd="2" destOrd="0" presId="urn:microsoft.com/office/officeart/2018/2/layout/IconVerticalSolidList"/>
    <dgm:cxn modelId="{CBF1D936-55F7-4D30-87A8-9C5FB23D4209}" type="presParOf" srcId="{2CC23EDA-CE80-4531-BC2C-65FE898E7A5E}" destId="{E12BA1D8-4411-48A0-8D3D-ADA7D503131E}" srcOrd="0" destOrd="0" presId="urn:microsoft.com/office/officeart/2018/2/layout/IconVerticalSolidList"/>
    <dgm:cxn modelId="{E9EBD756-8936-4632-A496-AD4EFF490B15}" type="presParOf" srcId="{2CC23EDA-CE80-4531-BC2C-65FE898E7A5E}" destId="{34D59349-C950-4D11-B51A-DFC5053318E9}" srcOrd="1" destOrd="0" presId="urn:microsoft.com/office/officeart/2018/2/layout/IconVerticalSolidList"/>
    <dgm:cxn modelId="{BF26FDCE-BCA8-4851-9A75-A13119BE9582}" type="presParOf" srcId="{2CC23EDA-CE80-4531-BC2C-65FE898E7A5E}" destId="{77832B11-1535-45F0-8214-18E3A7D82D9D}" srcOrd="2" destOrd="0" presId="urn:microsoft.com/office/officeart/2018/2/layout/IconVerticalSolidList"/>
    <dgm:cxn modelId="{C1CFD1C6-91B4-4467-B1E8-5007B3305DAF}" type="presParOf" srcId="{2CC23EDA-CE80-4531-BC2C-65FE898E7A5E}" destId="{E786809C-21AF-4610-A2EB-9663756049D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289AD77-543E-4887-BC6B-51A38450A14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5686F71-7BDE-4DDC-B8FB-EC5C079EF33F}">
      <dgm:prSet custT="1"/>
      <dgm:spPr/>
      <dgm:t>
        <a:bodyPr/>
        <a:lstStyle/>
        <a:p>
          <a:pPr>
            <a:defRPr cap="all"/>
          </a:pPr>
          <a:r>
            <a:rPr lang="en-US" sz="2000" b="1" i="0" baseline="0" dirty="0" err="1"/>
            <a:t>Seguridad</a:t>
          </a:r>
          <a:r>
            <a:rPr lang="en-US" sz="2000" b="1" i="0" baseline="0" dirty="0"/>
            <a:t> </a:t>
          </a:r>
          <a:r>
            <a:rPr lang="en-US" sz="2000" b="1" i="0" baseline="0" dirty="0" err="1"/>
            <a:t>mejorada</a:t>
          </a:r>
          <a:r>
            <a:rPr lang="en-US" sz="2000" b="0" i="0" baseline="0" dirty="0"/>
            <a:t>: </a:t>
          </a:r>
          <a:r>
            <a:rPr lang="en-US" sz="2000" b="0" i="0" baseline="0" dirty="0" err="1"/>
            <a:t>Proveen</a:t>
          </a:r>
          <a:r>
            <a:rPr lang="en-US" sz="2000" b="0" i="0" baseline="0" dirty="0"/>
            <a:t> </a:t>
          </a:r>
          <a:r>
            <a:rPr lang="en-US" sz="2000" b="0" i="0" baseline="0" dirty="0" err="1"/>
            <a:t>capas</a:t>
          </a:r>
          <a:r>
            <a:rPr lang="en-US" sz="2000" b="0" i="0" baseline="0" dirty="0"/>
            <a:t> </a:t>
          </a:r>
          <a:r>
            <a:rPr lang="en-US" sz="2000" b="0" i="0" baseline="0" dirty="0" err="1"/>
            <a:t>adicionales</a:t>
          </a:r>
          <a:r>
            <a:rPr lang="en-US" sz="2000" b="0" i="0" baseline="0" dirty="0"/>
            <a:t> de </a:t>
          </a:r>
          <a:r>
            <a:rPr lang="en-US" sz="2000" b="0" i="0" baseline="0" dirty="0" err="1"/>
            <a:t>autenticación</a:t>
          </a:r>
          <a:r>
            <a:rPr lang="en-US" sz="2000" b="0" i="0" baseline="0" dirty="0"/>
            <a:t> y </a:t>
          </a:r>
          <a:r>
            <a:rPr lang="en-US" sz="2000" b="0" i="0" baseline="0" dirty="0" err="1"/>
            <a:t>cifrado</a:t>
          </a:r>
          <a:r>
            <a:rPr lang="en-US" sz="2000" b="0" i="0" baseline="0" dirty="0"/>
            <a:t>.</a:t>
          </a:r>
          <a:endParaRPr lang="en-US" sz="2000" dirty="0"/>
        </a:p>
      </dgm:t>
    </dgm:pt>
    <dgm:pt modelId="{15021542-B9F2-4F59-8967-2B21AD4CA198}" type="parTrans" cxnId="{955646C7-9524-4F85-8C2D-716FCD9DA048}">
      <dgm:prSet/>
      <dgm:spPr/>
      <dgm:t>
        <a:bodyPr/>
        <a:lstStyle/>
        <a:p>
          <a:endParaRPr lang="en-US"/>
        </a:p>
      </dgm:t>
    </dgm:pt>
    <dgm:pt modelId="{518F4565-AB95-4193-B76D-890DD6551AFE}" type="sibTrans" cxnId="{955646C7-9524-4F85-8C2D-716FCD9DA048}">
      <dgm:prSet/>
      <dgm:spPr/>
      <dgm:t>
        <a:bodyPr/>
        <a:lstStyle/>
        <a:p>
          <a:endParaRPr lang="en-US"/>
        </a:p>
      </dgm:t>
    </dgm:pt>
    <dgm:pt modelId="{EB9D9F9C-2B08-4A05-9143-ADA8D52C4760}">
      <dgm:prSet custT="1"/>
      <dgm:spPr/>
      <dgm:t>
        <a:bodyPr/>
        <a:lstStyle/>
        <a:p>
          <a:pPr>
            <a:defRPr cap="all"/>
          </a:pPr>
          <a:r>
            <a:rPr lang="en-US" sz="2000" b="1" i="0" baseline="0" dirty="0" err="1"/>
            <a:t>Gestión</a:t>
          </a:r>
          <a:r>
            <a:rPr lang="en-US" sz="2000" b="1" i="0" baseline="0" dirty="0"/>
            <a:t> de </a:t>
          </a:r>
          <a:r>
            <a:rPr lang="en-US" sz="2000" b="1" i="0" baseline="0" dirty="0" err="1"/>
            <a:t>dispositivos</a:t>
          </a:r>
          <a:r>
            <a:rPr lang="en-US" sz="2000" b="0" i="0" baseline="0" dirty="0"/>
            <a:t>: </a:t>
          </a:r>
          <a:r>
            <a:rPr lang="en-US" sz="2000" b="0" i="0" baseline="0" dirty="0" err="1"/>
            <a:t>Facilitan</a:t>
          </a:r>
          <a:r>
            <a:rPr lang="en-US" sz="2000" b="0" i="0" baseline="0" dirty="0"/>
            <a:t> la </a:t>
          </a:r>
          <a:r>
            <a:rPr lang="en-US" sz="2000" b="0" i="0" baseline="0" dirty="0" err="1"/>
            <a:t>administración</a:t>
          </a:r>
          <a:r>
            <a:rPr lang="en-US" sz="2000" b="0" i="0" baseline="0" dirty="0"/>
            <a:t> de </a:t>
          </a:r>
          <a:r>
            <a:rPr lang="en-US" sz="2000" b="0" i="0" baseline="0" dirty="0" err="1"/>
            <a:t>múltiples</a:t>
          </a:r>
          <a:r>
            <a:rPr lang="en-US" sz="2000" b="0" i="0" baseline="0" dirty="0"/>
            <a:t> </a:t>
          </a:r>
          <a:r>
            <a:rPr lang="en-US" sz="2000" b="0" i="0" baseline="0" dirty="0" err="1"/>
            <a:t>dispositivos</a:t>
          </a:r>
          <a:r>
            <a:rPr lang="en-US" sz="2000" b="0" i="0" baseline="0" dirty="0"/>
            <a:t> </a:t>
          </a:r>
          <a:r>
            <a:rPr lang="en-US" sz="2000" b="0" i="0" baseline="0" dirty="0" err="1"/>
            <a:t>en</a:t>
          </a:r>
          <a:r>
            <a:rPr lang="en-US" sz="2000" b="0" i="0" baseline="0" dirty="0"/>
            <a:t> la red IoT. </a:t>
          </a:r>
          <a:endParaRPr lang="en-US" sz="2000" dirty="0"/>
        </a:p>
      </dgm:t>
    </dgm:pt>
    <dgm:pt modelId="{700A0E90-247B-4965-B51F-C13741B6C24B}" type="parTrans" cxnId="{1DCEDDBB-DE47-4D63-93D4-085F70A4F6D1}">
      <dgm:prSet/>
      <dgm:spPr/>
      <dgm:t>
        <a:bodyPr/>
        <a:lstStyle/>
        <a:p>
          <a:endParaRPr lang="en-US"/>
        </a:p>
      </dgm:t>
    </dgm:pt>
    <dgm:pt modelId="{05850C28-53E7-4F54-8CFC-21DB40FB9238}" type="sibTrans" cxnId="{1DCEDDBB-DE47-4D63-93D4-085F70A4F6D1}">
      <dgm:prSet/>
      <dgm:spPr/>
      <dgm:t>
        <a:bodyPr/>
        <a:lstStyle/>
        <a:p>
          <a:endParaRPr lang="en-US"/>
        </a:p>
      </dgm:t>
    </dgm:pt>
    <dgm:pt modelId="{16545171-85A4-4FB4-A7B3-630952BF2686}" type="pres">
      <dgm:prSet presAssocID="{4289AD77-543E-4887-BC6B-51A38450A14A}" presName="root" presStyleCnt="0">
        <dgm:presLayoutVars>
          <dgm:dir/>
          <dgm:resizeHandles val="exact"/>
        </dgm:presLayoutVars>
      </dgm:prSet>
      <dgm:spPr/>
    </dgm:pt>
    <dgm:pt modelId="{05A8D804-DFE5-4D15-8BBC-4D299359F860}" type="pres">
      <dgm:prSet presAssocID="{75686F71-7BDE-4DDC-B8FB-EC5C079EF33F}" presName="compNode" presStyleCnt="0"/>
      <dgm:spPr/>
    </dgm:pt>
    <dgm:pt modelId="{125E625B-E934-4D64-9A3D-2E89CB2901BC}" type="pres">
      <dgm:prSet presAssocID="{75686F71-7BDE-4DDC-B8FB-EC5C079EF33F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F12254A4-42B8-43F6-8299-95EEE47D6DD1}" type="pres">
      <dgm:prSet presAssocID="{75686F71-7BDE-4DDC-B8FB-EC5C079EF33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bloquear"/>
        </a:ext>
      </dgm:extLst>
    </dgm:pt>
    <dgm:pt modelId="{22D966DC-6282-4493-9BCB-5C7FAC637A48}" type="pres">
      <dgm:prSet presAssocID="{75686F71-7BDE-4DDC-B8FB-EC5C079EF33F}" presName="spaceRect" presStyleCnt="0"/>
      <dgm:spPr/>
    </dgm:pt>
    <dgm:pt modelId="{D966ED91-97AD-4867-A4EF-4930A23E61FA}" type="pres">
      <dgm:prSet presAssocID="{75686F71-7BDE-4DDC-B8FB-EC5C079EF33F}" presName="textRect" presStyleLbl="revTx" presStyleIdx="0" presStyleCnt="2">
        <dgm:presLayoutVars>
          <dgm:chMax val="1"/>
          <dgm:chPref val="1"/>
        </dgm:presLayoutVars>
      </dgm:prSet>
      <dgm:spPr/>
    </dgm:pt>
    <dgm:pt modelId="{DFD7417D-6870-4653-BC96-59FB27D8B0B2}" type="pres">
      <dgm:prSet presAssocID="{518F4565-AB95-4193-B76D-890DD6551AFE}" presName="sibTrans" presStyleCnt="0"/>
      <dgm:spPr/>
    </dgm:pt>
    <dgm:pt modelId="{9825C277-F9CE-4383-BF0B-02A6F0FE7DEC}" type="pres">
      <dgm:prSet presAssocID="{EB9D9F9C-2B08-4A05-9143-ADA8D52C4760}" presName="compNode" presStyleCnt="0"/>
      <dgm:spPr/>
    </dgm:pt>
    <dgm:pt modelId="{B456181A-5B35-44EC-B610-DF57D7904D1E}" type="pres">
      <dgm:prSet presAssocID="{EB9D9F9C-2B08-4A05-9143-ADA8D52C4760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BA055C6A-6C00-4D01-949F-C29C101ADD2B}" type="pres">
      <dgm:prSet presAssocID="{EB9D9F9C-2B08-4A05-9143-ADA8D52C476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7D6E4063-1FA6-4729-97EC-E4415A9A1DCF}" type="pres">
      <dgm:prSet presAssocID="{EB9D9F9C-2B08-4A05-9143-ADA8D52C4760}" presName="spaceRect" presStyleCnt="0"/>
      <dgm:spPr/>
    </dgm:pt>
    <dgm:pt modelId="{5411F24E-A259-44CC-9673-84651557B142}" type="pres">
      <dgm:prSet presAssocID="{EB9D9F9C-2B08-4A05-9143-ADA8D52C476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27A1F30-6B73-43EF-AF8E-C455F6DBF11F}" type="presOf" srcId="{4289AD77-543E-4887-BC6B-51A38450A14A}" destId="{16545171-85A4-4FB4-A7B3-630952BF2686}" srcOrd="0" destOrd="0" presId="urn:microsoft.com/office/officeart/2018/5/layout/IconLeafLabelList"/>
    <dgm:cxn modelId="{0A28ED90-0C67-486D-8557-59EF26D7DD1D}" type="presOf" srcId="{75686F71-7BDE-4DDC-B8FB-EC5C079EF33F}" destId="{D966ED91-97AD-4867-A4EF-4930A23E61FA}" srcOrd="0" destOrd="0" presId="urn:microsoft.com/office/officeart/2018/5/layout/IconLeafLabelList"/>
    <dgm:cxn modelId="{1DCEDDBB-DE47-4D63-93D4-085F70A4F6D1}" srcId="{4289AD77-543E-4887-BC6B-51A38450A14A}" destId="{EB9D9F9C-2B08-4A05-9143-ADA8D52C4760}" srcOrd="1" destOrd="0" parTransId="{700A0E90-247B-4965-B51F-C13741B6C24B}" sibTransId="{05850C28-53E7-4F54-8CFC-21DB40FB9238}"/>
    <dgm:cxn modelId="{955646C7-9524-4F85-8C2D-716FCD9DA048}" srcId="{4289AD77-543E-4887-BC6B-51A38450A14A}" destId="{75686F71-7BDE-4DDC-B8FB-EC5C079EF33F}" srcOrd="0" destOrd="0" parTransId="{15021542-B9F2-4F59-8967-2B21AD4CA198}" sibTransId="{518F4565-AB95-4193-B76D-890DD6551AFE}"/>
    <dgm:cxn modelId="{082704D7-3015-4A7A-BFA9-4AB24E36DBE9}" type="presOf" srcId="{EB9D9F9C-2B08-4A05-9143-ADA8D52C4760}" destId="{5411F24E-A259-44CC-9673-84651557B142}" srcOrd="0" destOrd="0" presId="urn:microsoft.com/office/officeart/2018/5/layout/IconLeafLabelList"/>
    <dgm:cxn modelId="{DFA032A1-75DC-46D3-8A47-D17850C8E2ED}" type="presParOf" srcId="{16545171-85A4-4FB4-A7B3-630952BF2686}" destId="{05A8D804-DFE5-4D15-8BBC-4D299359F860}" srcOrd="0" destOrd="0" presId="urn:microsoft.com/office/officeart/2018/5/layout/IconLeafLabelList"/>
    <dgm:cxn modelId="{2F6F0D1F-9AB4-4ECD-BC40-F65962295DC9}" type="presParOf" srcId="{05A8D804-DFE5-4D15-8BBC-4D299359F860}" destId="{125E625B-E934-4D64-9A3D-2E89CB2901BC}" srcOrd="0" destOrd="0" presId="urn:microsoft.com/office/officeart/2018/5/layout/IconLeafLabelList"/>
    <dgm:cxn modelId="{C3C73186-E89A-40BB-933E-FD436BE8F3C7}" type="presParOf" srcId="{05A8D804-DFE5-4D15-8BBC-4D299359F860}" destId="{F12254A4-42B8-43F6-8299-95EEE47D6DD1}" srcOrd="1" destOrd="0" presId="urn:microsoft.com/office/officeart/2018/5/layout/IconLeafLabelList"/>
    <dgm:cxn modelId="{8134C5DD-1A02-47C1-915D-F100E1B45B98}" type="presParOf" srcId="{05A8D804-DFE5-4D15-8BBC-4D299359F860}" destId="{22D966DC-6282-4493-9BCB-5C7FAC637A48}" srcOrd="2" destOrd="0" presId="urn:microsoft.com/office/officeart/2018/5/layout/IconLeafLabelList"/>
    <dgm:cxn modelId="{1F36BD89-7672-4816-A7B7-7598A70659D6}" type="presParOf" srcId="{05A8D804-DFE5-4D15-8BBC-4D299359F860}" destId="{D966ED91-97AD-4867-A4EF-4930A23E61FA}" srcOrd="3" destOrd="0" presId="urn:microsoft.com/office/officeart/2018/5/layout/IconLeafLabelList"/>
    <dgm:cxn modelId="{33EDF3FB-D585-4024-8FD8-0E0435952E66}" type="presParOf" srcId="{16545171-85A4-4FB4-A7B3-630952BF2686}" destId="{DFD7417D-6870-4653-BC96-59FB27D8B0B2}" srcOrd="1" destOrd="0" presId="urn:microsoft.com/office/officeart/2018/5/layout/IconLeafLabelList"/>
    <dgm:cxn modelId="{D946C9DC-A2DB-415A-971E-B88A9A8CEF87}" type="presParOf" srcId="{16545171-85A4-4FB4-A7B3-630952BF2686}" destId="{9825C277-F9CE-4383-BF0B-02A6F0FE7DEC}" srcOrd="2" destOrd="0" presId="urn:microsoft.com/office/officeart/2018/5/layout/IconLeafLabelList"/>
    <dgm:cxn modelId="{A9C08876-AB5C-4E0C-B9DF-DBD56036296E}" type="presParOf" srcId="{9825C277-F9CE-4383-BF0B-02A6F0FE7DEC}" destId="{B456181A-5B35-44EC-B610-DF57D7904D1E}" srcOrd="0" destOrd="0" presId="urn:microsoft.com/office/officeart/2018/5/layout/IconLeafLabelList"/>
    <dgm:cxn modelId="{B0A96C20-E093-434A-BEE8-995D016D8ABB}" type="presParOf" srcId="{9825C277-F9CE-4383-BF0B-02A6F0FE7DEC}" destId="{BA055C6A-6C00-4D01-949F-C29C101ADD2B}" srcOrd="1" destOrd="0" presId="urn:microsoft.com/office/officeart/2018/5/layout/IconLeafLabelList"/>
    <dgm:cxn modelId="{44117518-EBE0-4A0C-B6A2-074A2AE2556D}" type="presParOf" srcId="{9825C277-F9CE-4383-BF0B-02A6F0FE7DEC}" destId="{7D6E4063-1FA6-4729-97EC-E4415A9A1DCF}" srcOrd="2" destOrd="0" presId="urn:microsoft.com/office/officeart/2018/5/layout/IconLeafLabelList"/>
    <dgm:cxn modelId="{67DA7A5C-250D-47ED-9153-F0AC4F0BD127}" type="presParOf" srcId="{9825C277-F9CE-4383-BF0B-02A6F0FE7DEC}" destId="{5411F24E-A259-44CC-9673-84651557B142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2817F6-906A-4824-8BCA-ABDB7E38BFBA}">
      <dsp:nvSpPr>
        <dsp:cNvPr id="0" name=""/>
        <dsp:cNvSpPr/>
      </dsp:nvSpPr>
      <dsp:spPr>
        <a:xfrm>
          <a:off x="0" y="680749"/>
          <a:ext cx="11033029" cy="12567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F5055A-8EB0-43E2-B532-2AF9E5CB595B}">
      <dsp:nvSpPr>
        <dsp:cNvPr id="0" name=""/>
        <dsp:cNvSpPr/>
      </dsp:nvSpPr>
      <dsp:spPr>
        <a:xfrm>
          <a:off x="380172" y="963522"/>
          <a:ext cx="691222" cy="6912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5E9B16-042B-4F38-A0D7-F633CF2EF834}">
      <dsp:nvSpPr>
        <dsp:cNvPr id="0" name=""/>
        <dsp:cNvSpPr/>
      </dsp:nvSpPr>
      <dsp:spPr>
        <a:xfrm>
          <a:off x="1451567" y="680749"/>
          <a:ext cx="9581461" cy="1256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008" tIns="133008" rIns="133008" bIns="13300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/>
            <a:t>Los dispositivos IoT suelen operar con restricciones de ancho de banda y recursos de procesamiento, lo que hace necesario optimizar la transmisión de datos.</a:t>
          </a:r>
          <a:endParaRPr lang="en-US" sz="2300" kern="1200"/>
        </a:p>
      </dsp:txBody>
      <dsp:txXfrm>
        <a:off x="1451567" y="680749"/>
        <a:ext cx="9581461" cy="1256768"/>
      </dsp:txXfrm>
    </dsp:sp>
    <dsp:sp modelId="{DD8F82BB-63F9-4EA4-B35E-CBD2885A6793}">
      <dsp:nvSpPr>
        <dsp:cNvPr id="0" name=""/>
        <dsp:cNvSpPr/>
      </dsp:nvSpPr>
      <dsp:spPr>
        <a:xfrm>
          <a:off x="0" y="2251710"/>
          <a:ext cx="11033029" cy="125676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F484A4-3147-4D74-A09A-FDFC498CEF42}">
      <dsp:nvSpPr>
        <dsp:cNvPr id="0" name=""/>
        <dsp:cNvSpPr/>
      </dsp:nvSpPr>
      <dsp:spPr>
        <a:xfrm>
          <a:off x="380172" y="2534483"/>
          <a:ext cx="691222" cy="6912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6D0A5C-BF2D-483F-BEBF-B1F00A3B639D}">
      <dsp:nvSpPr>
        <dsp:cNvPr id="0" name=""/>
        <dsp:cNvSpPr/>
      </dsp:nvSpPr>
      <dsp:spPr>
        <a:xfrm>
          <a:off x="1451567" y="2251710"/>
          <a:ext cx="9581461" cy="1256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008" tIns="133008" rIns="133008" bIns="13300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/>
            <a:t>Existen técnicas de comprensión de datos como: GZIP o CBOR para reducir el tamaño del payload. </a:t>
          </a:r>
          <a:endParaRPr lang="en-US" sz="2300" kern="1200"/>
        </a:p>
      </dsp:txBody>
      <dsp:txXfrm>
        <a:off x="1451567" y="2251710"/>
        <a:ext cx="9581461" cy="12567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3B287C-B4E8-4120-A12C-F22D969A6870}">
      <dsp:nvSpPr>
        <dsp:cNvPr id="0" name=""/>
        <dsp:cNvSpPr/>
      </dsp:nvSpPr>
      <dsp:spPr>
        <a:xfrm>
          <a:off x="2303514" y="41224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CF030C-F192-49ED-9524-E59434D1BF61}">
      <dsp:nvSpPr>
        <dsp:cNvPr id="0" name=""/>
        <dsp:cNvSpPr/>
      </dsp:nvSpPr>
      <dsp:spPr>
        <a:xfrm>
          <a:off x="2771514" y="509224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BD145D-5BDC-43DD-A803-A74AEA1B3778}">
      <dsp:nvSpPr>
        <dsp:cNvPr id="0" name=""/>
        <dsp:cNvSpPr/>
      </dsp:nvSpPr>
      <dsp:spPr>
        <a:xfrm>
          <a:off x="1601514" y="2706943"/>
          <a:ext cx="3600000" cy="1441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1" i="0" kern="1200" baseline="0" dirty="0" err="1"/>
            <a:t>Escalabilidad</a:t>
          </a:r>
          <a:r>
            <a:rPr lang="en-US" sz="1800" b="0" i="0" kern="1200" baseline="0" dirty="0"/>
            <a:t>: REST </a:t>
          </a:r>
          <a:r>
            <a:rPr lang="en-US" sz="1800" b="0" i="0" kern="1200" baseline="0" dirty="0" err="1"/>
            <a:t>permite</a:t>
          </a:r>
          <a:r>
            <a:rPr lang="en-US" sz="1800" b="0" i="0" kern="1200" baseline="0" dirty="0"/>
            <a:t> la </a:t>
          </a:r>
          <a:r>
            <a:rPr lang="en-US" sz="1800" b="0" i="0" kern="1200" baseline="0" dirty="0" err="1"/>
            <a:t>integración</a:t>
          </a:r>
          <a:r>
            <a:rPr lang="en-US" sz="1800" b="0" i="0" kern="1200" baseline="0" dirty="0"/>
            <a:t> de </a:t>
          </a:r>
          <a:r>
            <a:rPr lang="en-US" sz="1800" b="0" i="0" kern="1200" baseline="0" dirty="0" err="1"/>
            <a:t>múltiples</a:t>
          </a:r>
          <a:r>
            <a:rPr lang="en-US" sz="1800" b="0" i="0" kern="1200" baseline="0" dirty="0"/>
            <a:t> </a:t>
          </a:r>
          <a:r>
            <a:rPr lang="en-US" sz="1800" b="0" i="0" kern="1200" baseline="0" dirty="0" err="1"/>
            <a:t>dispositivos</a:t>
          </a:r>
          <a:r>
            <a:rPr lang="en-US" sz="1800" b="0" i="0" kern="1200" baseline="0" dirty="0"/>
            <a:t> sin </a:t>
          </a:r>
          <a:r>
            <a:rPr lang="en-US" sz="1800" b="0" i="0" kern="1200" baseline="0" dirty="0" err="1"/>
            <a:t>comprometer</a:t>
          </a:r>
          <a:r>
            <a:rPr lang="en-US" sz="1800" b="0" i="0" kern="1200" baseline="0" dirty="0"/>
            <a:t> la </a:t>
          </a:r>
          <a:r>
            <a:rPr lang="en-US" sz="1800" b="0" i="0" kern="1200" baseline="0" dirty="0" err="1"/>
            <a:t>eficiencia</a:t>
          </a:r>
          <a:r>
            <a:rPr lang="en-US" sz="1800" b="0" i="0" kern="1200" baseline="0" dirty="0"/>
            <a:t>.</a:t>
          </a:r>
          <a:endParaRPr lang="en-US" sz="1800" kern="1200" dirty="0"/>
        </a:p>
      </dsp:txBody>
      <dsp:txXfrm>
        <a:off x="1601514" y="2706943"/>
        <a:ext cx="3600000" cy="1441060"/>
      </dsp:txXfrm>
    </dsp:sp>
    <dsp:sp modelId="{13F4737A-6287-430E-B5D0-5AD7B5F0CAD6}">
      <dsp:nvSpPr>
        <dsp:cNvPr id="0" name=""/>
        <dsp:cNvSpPr/>
      </dsp:nvSpPr>
      <dsp:spPr>
        <a:xfrm>
          <a:off x="6533514" y="6528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E8F1F8-FD52-4CD2-9C1A-B42DB31C1930}">
      <dsp:nvSpPr>
        <dsp:cNvPr id="0" name=""/>
        <dsp:cNvSpPr/>
      </dsp:nvSpPr>
      <dsp:spPr>
        <a:xfrm>
          <a:off x="7001514" y="533288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0AD858-3861-4523-8F96-2F5BAAEA0A20}">
      <dsp:nvSpPr>
        <dsp:cNvPr id="0" name=""/>
        <dsp:cNvSpPr/>
      </dsp:nvSpPr>
      <dsp:spPr>
        <a:xfrm>
          <a:off x="5831514" y="2779137"/>
          <a:ext cx="3600000" cy="1344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1" i="0" kern="1200" baseline="0" dirty="0" err="1"/>
            <a:t>Estandarización</a:t>
          </a:r>
          <a:r>
            <a:rPr lang="en-US" sz="1800" b="0" i="0" kern="1200" baseline="0" dirty="0"/>
            <a:t>: </a:t>
          </a:r>
          <a:r>
            <a:rPr lang="en-US" sz="1800" b="0" i="0" kern="1200" baseline="0" dirty="0" err="1"/>
            <a:t>Uso</a:t>
          </a:r>
          <a:r>
            <a:rPr lang="en-US" sz="1800" b="0" i="0" kern="1200" baseline="0" dirty="0"/>
            <a:t> de </a:t>
          </a:r>
          <a:r>
            <a:rPr lang="en-US" sz="1800" b="0" i="0" kern="1200" baseline="0" dirty="0" err="1"/>
            <a:t>métodos</a:t>
          </a:r>
          <a:r>
            <a:rPr lang="en-US" sz="1800" b="0" i="0" kern="1200" baseline="0" dirty="0"/>
            <a:t> HTTP (GET, POST, PUT, DELETE) que </a:t>
          </a:r>
          <a:r>
            <a:rPr lang="en-US" sz="1800" b="0" i="0" kern="1200" baseline="0" dirty="0" err="1"/>
            <a:t>simplifican</a:t>
          </a:r>
          <a:r>
            <a:rPr lang="en-US" sz="1800" b="0" i="0" kern="1200" baseline="0" dirty="0"/>
            <a:t> la </a:t>
          </a:r>
          <a:r>
            <a:rPr lang="en-US" sz="1800" b="0" i="0" kern="1200" baseline="0" dirty="0" err="1"/>
            <a:t>interacción</a:t>
          </a:r>
          <a:r>
            <a:rPr lang="en-US" sz="1800" b="0" i="0" kern="1200" baseline="0" dirty="0"/>
            <a:t>. </a:t>
          </a:r>
          <a:endParaRPr lang="en-US" sz="1800" kern="1200" dirty="0"/>
        </a:p>
      </dsp:txBody>
      <dsp:txXfrm>
        <a:off x="5831514" y="2779137"/>
        <a:ext cx="3600000" cy="13448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79325E-1700-407F-86C1-1F442510F2DD}">
      <dsp:nvSpPr>
        <dsp:cNvPr id="0" name=""/>
        <dsp:cNvSpPr/>
      </dsp:nvSpPr>
      <dsp:spPr>
        <a:xfrm>
          <a:off x="0" y="0"/>
          <a:ext cx="3200399" cy="395935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9516" tIns="330200" rIns="249516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Ligero y eficiente</a:t>
          </a:r>
          <a:r>
            <a:rPr lang="en-US" sz="2000" b="0" i="0" kern="1200" baseline="0"/>
            <a:t>: Menor carga en términos de consumo de ancho de banda y recursos de procesamiento.</a:t>
          </a:r>
          <a:endParaRPr lang="en-US" sz="2000" kern="1200"/>
        </a:p>
      </dsp:txBody>
      <dsp:txXfrm>
        <a:off x="0" y="1504553"/>
        <a:ext cx="3200399" cy="2375611"/>
      </dsp:txXfrm>
    </dsp:sp>
    <dsp:sp modelId="{D3EAC7F7-55A7-4C0C-857E-13A067B6049C}">
      <dsp:nvSpPr>
        <dsp:cNvPr id="0" name=""/>
        <dsp:cNvSpPr/>
      </dsp:nvSpPr>
      <dsp:spPr>
        <a:xfrm>
          <a:off x="1006297" y="395935"/>
          <a:ext cx="1187805" cy="11878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606" tIns="12700" rIns="9260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80247" y="569885"/>
        <a:ext cx="839905" cy="839905"/>
      </dsp:txXfrm>
    </dsp:sp>
    <dsp:sp modelId="{E56D7854-EF7A-43C7-B959-A77376E168F1}">
      <dsp:nvSpPr>
        <dsp:cNvPr id="0" name=""/>
        <dsp:cNvSpPr/>
      </dsp:nvSpPr>
      <dsp:spPr>
        <a:xfrm>
          <a:off x="0" y="3959280"/>
          <a:ext cx="320039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C399B7-9632-4BF5-A018-E970BADD710B}">
      <dsp:nvSpPr>
        <dsp:cNvPr id="0" name=""/>
        <dsp:cNvSpPr/>
      </dsp:nvSpPr>
      <dsp:spPr>
        <a:xfrm>
          <a:off x="3520439" y="0"/>
          <a:ext cx="3200399" cy="395935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9516" tIns="330200" rIns="249516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Modelo de solicitud-respuesta similar a HTTP</a:t>
          </a:r>
          <a:r>
            <a:rPr lang="en-US" sz="2000" b="0" i="0" kern="1200" baseline="0"/>
            <a:t>: Permite operaciones como GET, POST, PUT y DELETE.</a:t>
          </a:r>
          <a:endParaRPr lang="en-US" sz="2000" kern="1200"/>
        </a:p>
      </dsp:txBody>
      <dsp:txXfrm>
        <a:off x="3520439" y="1504553"/>
        <a:ext cx="3200399" cy="2375611"/>
      </dsp:txXfrm>
    </dsp:sp>
    <dsp:sp modelId="{FA9C8308-C877-4F9C-9705-2C450954EA2D}">
      <dsp:nvSpPr>
        <dsp:cNvPr id="0" name=""/>
        <dsp:cNvSpPr/>
      </dsp:nvSpPr>
      <dsp:spPr>
        <a:xfrm>
          <a:off x="4526737" y="395935"/>
          <a:ext cx="1187805" cy="11878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606" tIns="12700" rIns="9260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700687" y="569885"/>
        <a:ext cx="839905" cy="839905"/>
      </dsp:txXfrm>
    </dsp:sp>
    <dsp:sp modelId="{0A8488A0-82BE-44DE-8301-303C05931C96}">
      <dsp:nvSpPr>
        <dsp:cNvPr id="0" name=""/>
        <dsp:cNvSpPr/>
      </dsp:nvSpPr>
      <dsp:spPr>
        <a:xfrm>
          <a:off x="3520439" y="3959280"/>
          <a:ext cx="320039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EBE849-083F-4554-AC3E-17B74C303059}">
      <dsp:nvSpPr>
        <dsp:cNvPr id="0" name=""/>
        <dsp:cNvSpPr/>
      </dsp:nvSpPr>
      <dsp:spPr>
        <a:xfrm>
          <a:off x="7040879" y="0"/>
          <a:ext cx="3200399" cy="395935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9516" tIns="330200" rIns="249516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Uso en redes limitadas</a:t>
          </a:r>
          <a:r>
            <a:rPr lang="en-US" sz="2000" b="0" i="0" kern="1200" baseline="0"/>
            <a:t>: Ideal para dispositivos con conectividad intermitente o baja. </a:t>
          </a:r>
          <a:endParaRPr lang="en-US" sz="2000" kern="1200"/>
        </a:p>
      </dsp:txBody>
      <dsp:txXfrm>
        <a:off x="7040879" y="1504553"/>
        <a:ext cx="3200399" cy="2375611"/>
      </dsp:txXfrm>
    </dsp:sp>
    <dsp:sp modelId="{3737A040-844C-408B-A9B4-4ADD9ACE7781}">
      <dsp:nvSpPr>
        <dsp:cNvPr id="0" name=""/>
        <dsp:cNvSpPr/>
      </dsp:nvSpPr>
      <dsp:spPr>
        <a:xfrm>
          <a:off x="8047177" y="395935"/>
          <a:ext cx="1187805" cy="11878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606" tIns="12700" rIns="9260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221127" y="569885"/>
        <a:ext cx="839905" cy="839905"/>
      </dsp:txXfrm>
    </dsp:sp>
    <dsp:sp modelId="{D239677A-9758-448D-B176-91433816E646}">
      <dsp:nvSpPr>
        <dsp:cNvPr id="0" name=""/>
        <dsp:cNvSpPr/>
      </dsp:nvSpPr>
      <dsp:spPr>
        <a:xfrm>
          <a:off x="7040879" y="3959280"/>
          <a:ext cx="320039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5395FF-F749-4BFC-9ACD-4362237C991A}">
      <dsp:nvSpPr>
        <dsp:cNvPr id="0" name=""/>
        <dsp:cNvSpPr/>
      </dsp:nvSpPr>
      <dsp:spPr>
        <a:xfrm>
          <a:off x="0" y="680749"/>
          <a:ext cx="11033029" cy="12567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0CB045-3086-4717-9BDF-6DD003A51D12}">
      <dsp:nvSpPr>
        <dsp:cNvPr id="0" name=""/>
        <dsp:cNvSpPr/>
      </dsp:nvSpPr>
      <dsp:spPr>
        <a:xfrm>
          <a:off x="380172" y="963522"/>
          <a:ext cx="691222" cy="6912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19A6A0-FF57-4B29-9CE5-F9F4470B4195}">
      <dsp:nvSpPr>
        <dsp:cNvPr id="0" name=""/>
        <dsp:cNvSpPr/>
      </dsp:nvSpPr>
      <dsp:spPr>
        <a:xfrm>
          <a:off x="1451567" y="680749"/>
          <a:ext cx="9581461" cy="1256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008" tIns="133008" rIns="133008" bIns="1330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Conversión de protocolos</a:t>
          </a:r>
          <a:r>
            <a:rPr lang="en-US" sz="2500" kern="1200"/>
            <a:t>: Traducen protocolos como CoAP a HTTP o MQTT a HTTP, permitiendo la interoperabilidad.</a:t>
          </a:r>
        </a:p>
      </dsp:txBody>
      <dsp:txXfrm>
        <a:off x="1451567" y="680749"/>
        <a:ext cx="9581461" cy="1256768"/>
      </dsp:txXfrm>
    </dsp:sp>
    <dsp:sp modelId="{E12BA1D8-4411-48A0-8D3D-ADA7D503131E}">
      <dsp:nvSpPr>
        <dsp:cNvPr id="0" name=""/>
        <dsp:cNvSpPr/>
      </dsp:nvSpPr>
      <dsp:spPr>
        <a:xfrm>
          <a:off x="0" y="2251710"/>
          <a:ext cx="11033029" cy="125676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D59349-C950-4D11-B51A-DFC5053318E9}">
      <dsp:nvSpPr>
        <dsp:cNvPr id="0" name=""/>
        <dsp:cNvSpPr/>
      </dsp:nvSpPr>
      <dsp:spPr>
        <a:xfrm>
          <a:off x="380172" y="2534483"/>
          <a:ext cx="691222" cy="6912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86809C-21AF-4610-A2EB-9663756049DF}">
      <dsp:nvSpPr>
        <dsp:cNvPr id="0" name=""/>
        <dsp:cNvSpPr/>
      </dsp:nvSpPr>
      <dsp:spPr>
        <a:xfrm>
          <a:off x="1451567" y="2251710"/>
          <a:ext cx="9581461" cy="1256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008" tIns="133008" rIns="133008" bIns="1330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1" kern="1200"/>
            <a:t>Optimización de datos</a:t>
          </a:r>
          <a:r>
            <a:rPr lang="es-ES" sz="2500" kern="1200"/>
            <a:t>: Filtran y agrupan datos para reducir la cantidad de información enviada a la nube.</a:t>
          </a:r>
          <a:endParaRPr lang="en-US" sz="2500" kern="1200"/>
        </a:p>
      </dsp:txBody>
      <dsp:txXfrm>
        <a:off x="1451567" y="2251710"/>
        <a:ext cx="9581461" cy="12567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5E625B-E934-4D64-9A3D-2E89CB2901BC}">
      <dsp:nvSpPr>
        <dsp:cNvPr id="0" name=""/>
        <dsp:cNvSpPr/>
      </dsp:nvSpPr>
      <dsp:spPr>
        <a:xfrm>
          <a:off x="2497966" y="360491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2254A4-42B8-43F6-8299-95EEE47D6DD1}">
      <dsp:nvSpPr>
        <dsp:cNvPr id="0" name=""/>
        <dsp:cNvSpPr/>
      </dsp:nvSpPr>
      <dsp:spPr>
        <a:xfrm>
          <a:off x="2965966" y="828491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66ED91-97AD-4867-A4EF-4930A23E61FA}">
      <dsp:nvSpPr>
        <dsp:cNvPr id="0" name=""/>
        <dsp:cNvSpPr/>
      </dsp:nvSpPr>
      <dsp:spPr>
        <a:xfrm>
          <a:off x="1795966" y="3240491"/>
          <a:ext cx="3600000" cy="138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b="1" i="0" kern="1200" baseline="0" dirty="0" err="1"/>
            <a:t>Seguridad</a:t>
          </a:r>
          <a:r>
            <a:rPr lang="en-US" sz="2000" b="1" i="0" kern="1200" baseline="0" dirty="0"/>
            <a:t> </a:t>
          </a:r>
          <a:r>
            <a:rPr lang="en-US" sz="2000" b="1" i="0" kern="1200" baseline="0" dirty="0" err="1"/>
            <a:t>mejorada</a:t>
          </a:r>
          <a:r>
            <a:rPr lang="en-US" sz="2000" b="0" i="0" kern="1200" baseline="0" dirty="0"/>
            <a:t>: </a:t>
          </a:r>
          <a:r>
            <a:rPr lang="en-US" sz="2000" b="0" i="0" kern="1200" baseline="0" dirty="0" err="1"/>
            <a:t>Proveen</a:t>
          </a:r>
          <a:r>
            <a:rPr lang="en-US" sz="2000" b="0" i="0" kern="1200" baseline="0" dirty="0"/>
            <a:t> </a:t>
          </a:r>
          <a:r>
            <a:rPr lang="en-US" sz="2000" b="0" i="0" kern="1200" baseline="0" dirty="0" err="1"/>
            <a:t>capas</a:t>
          </a:r>
          <a:r>
            <a:rPr lang="en-US" sz="2000" b="0" i="0" kern="1200" baseline="0" dirty="0"/>
            <a:t> </a:t>
          </a:r>
          <a:r>
            <a:rPr lang="en-US" sz="2000" b="0" i="0" kern="1200" baseline="0" dirty="0" err="1"/>
            <a:t>adicionales</a:t>
          </a:r>
          <a:r>
            <a:rPr lang="en-US" sz="2000" b="0" i="0" kern="1200" baseline="0" dirty="0"/>
            <a:t> de </a:t>
          </a:r>
          <a:r>
            <a:rPr lang="en-US" sz="2000" b="0" i="0" kern="1200" baseline="0" dirty="0" err="1"/>
            <a:t>autenticación</a:t>
          </a:r>
          <a:r>
            <a:rPr lang="en-US" sz="2000" b="0" i="0" kern="1200" baseline="0" dirty="0"/>
            <a:t> y </a:t>
          </a:r>
          <a:r>
            <a:rPr lang="en-US" sz="2000" b="0" i="0" kern="1200" baseline="0" dirty="0" err="1"/>
            <a:t>cifrado</a:t>
          </a:r>
          <a:r>
            <a:rPr lang="en-US" sz="2000" b="0" i="0" kern="1200" baseline="0" dirty="0"/>
            <a:t>.</a:t>
          </a:r>
          <a:endParaRPr lang="en-US" sz="2000" kern="1200" dirty="0"/>
        </a:p>
      </dsp:txBody>
      <dsp:txXfrm>
        <a:off x="1795966" y="3240491"/>
        <a:ext cx="3600000" cy="1388671"/>
      </dsp:txXfrm>
    </dsp:sp>
    <dsp:sp modelId="{B456181A-5B35-44EC-B610-DF57D7904D1E}">
      <dsp:nvSpPr>
        <dsp:cNvPr id="0" name=""/>
        <dsp:cNvSpPr/>
      </dsp:nvSpPr>
      <dsp:spPr>
        <a:xfrm>
          <a:off x="6727966" y="360491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055C6A-6C00-4D01-949F-C29C101ADD2B}">
      <dsp:nvSpPr>
        <dsp:cNvPr id="0" name=""/>
        <dsp:cNvSpPr/>
      </dsp:nvSpPr>
      <dsp:spPr>
        <a:xfrm>
          <a:off x="7195966" y="828491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11F24E-A259-44CC-9673-84651557B142}">
      <dsp:nvSpPr>
        <dsp:cNvPr id="0" name=""/>
        <dsp:cNvSpPr/>
      </dsp:nvSpPr>
      <dsp:spPr>
        <a:xfrm>
          <a:off x="6025966" y="3240491"/>
          <a:ext cx="3600000" cy="138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b="1" i="0" kern="1200" baseline="0" dirty="0" err="1"/>
            <a:t>Gestión</a:t>
          </a:r>
          <a:r>
            <a:rPr lang="en-US" sz="2000" b="1" i="0" kern="1200" baseline="0" dirty="0"/>
            <a:t> de </a:t>
          </a:r>
          <a:r>
            <a:rPr lang="en-US" sz="2000" b="1" i="0" kern="1200" baseline="0" dirty="0" err="1"/>
            <a:t>dispositivos</a:t>
          </a:r>
          <a:r>
            <a:rPr lang="en-US" sz="2000" b="0" i="0" kern="1200" baseline="0" dirty="0"/>
            <a:t>: </a:t>
          </a:r>
          <a:r>
            <a:rPr lang="en-US" sz="2000" b="0" i="0" kern="1200" baseline="0" dirty="0" err="1"/>
            <a:t>Facilitan</a:t>
          </a:r>
          <a:r>
            <a:rPr lang="en-US" sz="2000" b="0" i="0" kern="1200" baseline="0" dirty="0"/>
            <a:t> la </a:t>
          </a:r>
          <a:r>
            <a:rPr lang="en-US" sz="2000" b="0" i="0" kern="1200" baseline="0" dirty="0" err="1"/>
            <a:t>administración</a:t>
          </a:r>
          <a:r>
            <a:rPr lang="en-US" sz="2000" b="0" i="0" kern="1200" baseline="0" dirty="0"/>
            <a:t> de </a:t>
          </a:r>
          <a:r>
            <a:rPr lang="en-US" sz="2000" b="0" i="0" kern="1200" baseline="0" dirty="0" err="1"/>
            <a:t>múltiples</a:t>
          </a:r>
          <a:r>
            <a:rPr lang="en-US" sz="2000" b="0" i="0" kern="1200" baseline="0" dirty="0"/>
            <a:t> </a:t>
          </a:r>
          <a:r>
            <a:rPr lang="en-US" sz="2000" b="0" i="0" kern="1200" baseline="0" dirty="0" err="1"/>
            <a:t>dispositivos</a:t>
          </a:r>
          <a:r>
            <a:rPr lang="en-US" sz="2000" b="0" i="0" kern="1200" baseline="0" dirty="0"/>
            <a:t> </a:t>
          </a:r>
          <a:r>
            <a:rPr lang="en-US" sz="2000" b="0" i="0" kern="1200" baseline="0" dirty="0" err="1"/>
            <a:t>en</a:t>
          </a:r>
          <a:r>
            <a:rPr lang="en-US" sz="2000" b="0" i="0" kern="1200" baseline="0" dirty="0"/>
            <a:t> la red IoT. </a:t>
          </a:r>
          <a:endParaRPr lang="en-US" sz="2000" kern="1200" dirty="0"/>
        </a:p>
      </dsp:txBody>
      <dsp:txXfrm>
        <a:off x="6025966" y="3240491"/>
        <a:ext cx="3600000" cy="13886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Tuesday, November 5,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687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F3C6-0FD4-4939-991C-00DDE5C56815}" type="datetime2">
              <a:rPr lang="en-US" smtClean="0"/>
              <a:t>Tuesday, November 5,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36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7482-8128-47C6-A8DD-6452B0291CFF}" type="datetime2">
              <a:rPr lang="en-US" smtClean="0"/>
              <a:t>Tuesday, November 5,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603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F25-275E-41DE-BE3B-EBF0DB49F9B1}" type="datetime2">
              <a:rPr lang="en-US" smtClean="0"/>
              <a:t>Tuesday, November 5,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089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5572-4A44-4171-84AA-64D42C8050A6}" type="datetime2">
              <a:rPr lang="en-US" smtClean="0"/>
              <a:t>Tuesday, November 5, 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11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12E-528E-4FD5-9E9E-E15F1108F171}" type="datetime2">
              <a:rPr lang="en-US" smtClean="0"/>
              <a:t>Tuesday, November 5, 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499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62-A06D-436F-A92E-EBAAD50B6E50}" type="datetime2">
              <a:rPr lang="en-US" smtClean="0"/>
              <a:t>Tuesday, November 5, 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07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0B7D-2260-4809-8F0A-9E5F3E24F169}" type="datetime2">
              <a:rPr lang="en-US" smtClean="0"/>
              <a:t>Tuesday, November 5,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217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E4735-C637-46A3-94EB-AB3AC4188D2F}" type="datetime2">
              <a:rPr lang="en-US" smtClean="0"/>
              <a:t>Tuesday, November 5,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389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98AF-4574-4509-BF7A-519ACD5BF826}" type="datetime2">
              <a:rPr lang="en-US" smtClean="0"/>
              <a:t>Tuesday, November 5,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09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D97D4-9636-490F-85D0-E926C2B6F3B1}" type="datetime2">
              <a:rPr lang="en-US" smtClean="0"/>
              <a:t>Tuesday, November 5,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06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rgbClr val="FFFFFF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Tuesday, November 5, 2024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‹Nº›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646015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62" r:id="rId4"/>
    <p:sldLayoutId id="2147483663" r:id="rId5"/>
    <p:sldLayoutId id="2147483668" r:id="rId6"/>
    <p:sldLayoutId id="2147483664" r:id="rId7"/>
    <p:sldLayoutId id="2147483665" r:id="rId8"/>
    <p:sldLayoutId id="2147483666" r:id="rId9"/>
    <p:sldLayoutId id="2147483667" r:id="rId10"/>
    <p:sldLayoutId id="214748366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3F794D0-2982-490E-88DA-93D489750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101010 líneas de datos hasta el infinito">
            <a:extLst>
              <a:ext uri="{FF2B5EF4-FFF2-40B4-BE49-F238E27FC236}">
                <a16:creationId xmlns:a16="http://schemas.microsoft.com/office/drawing/2014/main" id="{A3538A7E-5564-3547-1F9B-007EE9D81B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450" b="9041"/>
          <a:stretch/>
        </p:blipFill>
        <p:spPr>
          <a:xfrm>
            <a:off x="-2" y="10"/>
            <a:ext cx="12192002" cy="44610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FD24A3D-F07A-44A9-BE55-5576292E1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460827"/>
            <a:ext cx="12192003" cy="2397392"/>
          </a:xfrm>
          <a:prstGeom prst="rect">
            <a:avLst/>
          </a:prstGeom>
          <a:gradFill>
            <a:gsLst>
              <a:gs pos="8000">
                <a:schemeClr val="accent6"/>
              </a:gs>
              <a:gs pos="86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4441C9-FD2D-4031-B5C5-67478196C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038600" y="4463553"/>
            <a:ext cx="8153401" cy="2394447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81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F09AEC-6E6E-418F-9974-8730F1B2B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4834054">
            <a:off x="2944145" y="2710934"/>
            <a:ext cx="3118759" cy="4639931"/>
          </a:xfrm>
          <a:custGeom>
            <a:avLst/>
            <a:gdLst>
              <a:gd name="connsiteX0" fmla="*/ 3118759 w 3118759"/>
              <a:gd name="connsiteY0" fmla="*/ 79510 h 4639931"/>
              <a:gd name="connsiteX1" fmla="*/ 1204940 w 3118759"/>
              <a:gd name="connsiteY1" fmla="*/ 4639931 h 4639931"/>
              <a:gd name="connsiteX2" fmla="*/ 1103495 w 3118759"/>
              <a:gd name="connsiteY2" fmla="*/ 4578302 h 4639931"/>
              <a:gd name="connsiteX3" fmla="*/ 0 w 3118759"/>
              <a:gd name="connsiteY3" fmla="*/ 2502877 h 4639931"/>
              <a:gd name="connsiteX4" fmla="*/ 2502877 w 3118759"/>
              <a:gd name="connsiteY4" fmla="*/ 0 h 4639931"/>
              <a:gd name="connsiteX5" fmla="*/ 3007294 w 3118759"/>
              <a:gd name="connsiteY5" fmla="*/ 50850 h 4639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8759" h="4639931">
                <a:moveTo>
                  <a:pt x="3118759" y="79510"/>
                </a:moveTo>
                <a:lnTo>
                  <a:pt x="1204940" y="4639931"/>
                </a:lnTo>
                <a:lnTo>
                  <a:pt x="1103495" y="4578302"/>
                </a:lnTo>
                <a:cubicBezTo>
                  <a:pt x="437725" y="4128517"/>
                  <a:pt x="0" y="3366815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2675665" y="0"/>
                  <a:pt x="2844363" y="17509"/>
                  <a:pt x="3007294" y="50850"/>
                </a:cubicBezTo>
                <a:close/>
              </a:path>
            </a:pathLst>
          </a:custGeom>
          <a:gradFill>
            <a:gsLst>
              <a:gs pos="0">
                <a:schemeClr val="accent6">
                  <a:alpha val="12000"/>
                </a:schemeClr>
              </a:gs>
              <a:gs pos="100000">
                <a:schemeClr val="accent6">
                  <a:lumMod val="60000"/>
                  <a:lumOff val="40000"/>
                  <a:alpha val="20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9D3989-3E00-4727-914E-959DFE8FA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76701" y="4460827"/>
            <a:ext cx="8115300" cy="1945408"/>
          </a:xfrm>
          <a:prstGeom prst="rect">
            <a:avLst/>
          </a:prstGeom>
          <a:gradFill>
            <a:gsLst>
              <a:gs pos="0">
                <a:schemeClr val="accent6">
                  <a:alpha val="16000"/>
                </a:schemeClr>
              </a:gs>
              <a:gs pos="62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CCD230D-34E7-BE7D-1E16-4800066CA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7702" y="4847753"/>
            <a:ext cx="9436593" cy="1171556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PROTOCOLO HTTP</a:t>
            </a:r>
          </a:p>
        </p:txBody>
      </p:sp>
    </p:spTree>
    <p:extLst>
      <p:ext uri="{BB962C8B-B14F-4D97-AF65-F5344CB8AC3E}">
        <p14:creationId xmlns:p14="http://schemas.microsoft.com/office/powerpoint/2010/main" val="2180207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1D6A2A3-F101-46F7-8B6F-1C699CAFE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A10E51-ED9A-F720-2238-7A3EB253D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57200"/>
            <a:ext cx="4911393" cy="1556724"/>
          </a:xfrm>
        </p:spPr>
        <p:txBody>
          <a:bodyPr anchor="b">
            <a:normAutofit/>
          </a:bodyPr>
          <a:lstStyle/>
          <a:p>
            <a:r>
              <a:rPr lang="en-US" dirty="0"/>
              <a:t>CONCEPTO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09A2E8-6EBE-257B-0AB8-19AD0B9A4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1" y="2345635"/>
            <a:ext cx="4911392" cy="3583940"/>
          </a:xfrm>
        </p:spPr>
        <p:txBody>
          <a:bodyPr anchor="t">
            <a:normAutofit/>
          </a:bodyPr>
          <a:lstStyle/>
          <a:p>
            <a:r>
              <a:rPr lang="es-ES" sz="2400" dirty="0"/>
              <a:t>HTTP es un protocolo de transferencia de hipertexto fundamental para la comunicación en la web. Se caracteriza por su simplicidad y uso en el intercambio de datos entre clientes y servidores.</a:t>
            </a:r>
            <a:endParaRPr lang="en-US" sz="2400" dirty="0"/>
          </a:p>
        </p:txBody>
      </p:sp>
      <p:pic>
        <p:nvPicPr>
          <p:cNvPr id="7" name="Graphic 6" descr="Web Design">
            <a:extLst>
              <a:ext uri="{FF2B5EF4-FFF2-40B4-BE49-F238E27FC236}">
                <a16:creationId xmlns:a16="http://schemas.microsoft.com/office/drawing/2014/main" id="{56129333-11DD-8E22-8E2E-871E6CF873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4639" y="648307"/>
            <a:ext cx="5090161" cy="509016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29E760E-527D-4053-A309-F2BDE1250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6400800"/>
            <a:ext cx="12191999" cy="457198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53D448-4ED1-429A-A28C-8316DE7CA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8"/>
            <a:ext cx="8153396" cy="448831"/>
          </a:xfrm>
          <a:prstGeom prst="rect">
            <a:avLst/>
          </a:prstGeom>
          <a:gradFill>
            <a:gsLst>
              <a:gs pos="0">
                <a:schemeClr val="accent5">
                  <a:alpha val="5000"/>
                </a:schemeClr>
              </a:gs>
              <a:gs pos="99000">
                <a:schemeClr val="accent5">
                  <a:alpha val="72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463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383CC5D-71E8-4CB2-8E4A-F1E4FF6DC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DA5AC1-43C5-4243-9028-07DBB80D0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"/>
            <a:ext cx="12192000" cy="1600201"/>
          </a:xfrm>
          <a:prstGeom prst="rect">
            <a:avLst/>
          </a:prstGeom>
          <a:gradFill>
            <a:gsLst>
              <a:gs pos="0">
                <a:schemeClr val="accent5">
                  <a:alpha val="83000"/>
                </a:schemeClr>
              </a:gs>
              <a:gs pos="100000">
                <a:schemeClr val="accent6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4EDA1C-27A1-4C83-ACE4-6675EC924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9161" y="9109"/>
            <a:ext cx="7792839" cy="1594270"/>
          </a:xfrm>
          <a:prstGeom prst="rect">
            <a:avLst/>
          </a:prstGeom>
          <a:gradFill>
            <a:gsLst>
              <a:gs pos="22000">
                <a:schemeClr val="accent2">
                  <a:alpha val="0"/>
                </a:schemeClr>
              </a:gs>
              <a:gs pos="9900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2185E4-B584-4B9D-9440-DEA0FB9D9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9021976" y="-906246"/>
            <a:ext cx="1602951" cy="3416298"/>
          </a:xfrm>
          <a:prstGeom prst="rect">
            <a:avLst/>
          </a:prstGeom>
          <a:gradFill>
            <a:gsLst>
              <a:gs pos="45000">
                <a:schemeClr val="accent4">
                  <a:alpha val="0"/>
                </a:schemeClr>
              </a:gs>
              <a:gs pos="99000">
                <a:schemeClr val="accent6">
                  <a:alpha val="33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33EC8A-EE0A-4395-97E2-DAD467CF7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451242" y="0"/>
            <a:ext cx="9729549" cy="1600198"/>
          </a:xfrm>
          <a:prstGeom prst="rect">
            <a:avLst/>
          </a:prstGeom>
          <a:gradFill>
            <a:gsLst>
              <a:gs pos="0">
                <a:schemeClr val="accent5">
                  <a:alpha val="30000"/>
                </a:schemeClr>
              </a:gs>
              <a:gs pos="99000">
                <a:schemeClr val="accent5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85DA95-16A4-404E-9BFF-27F8E4FC7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430"/>
            <a:ext cx="7910111" cy="1600198"/>
          </a:xfrm>
          <a:prstGeom prst="rect">
            <a:avLst/>
          </a:prstGeom>
          <a:gradFill>
            <a:gsLst>
              <a:gs pos="0">
                <a:schemeClr val="accent5">
                  <a:alpha val="21000"/>
                </a:schemeClr>
              </a:gs>
              <a:gs pos="99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10153BC-AB81-ED67-7EC6-7960F635C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084" y="374427"/>
            <a:ext cx="10374517" cy="971512"/>
          </a:xfrm>
        </p:spPr>
        <p:txBody>
          <a:bodyPr anchor="ctr">
            <a:normAutofit/>
          </a:bodyPr>
          <a:lstStyle/>
          <a:p>
            <a:r>
              <a:rPr lang="es-ES" sz="3200">
                <a:solidFill>
                  <a:schemeClr val="bg1"/>
                </a:solidFill>
              </a:rPr>
              <a:t>Optimización de HTTP para IoT</a:t>
            </a:r>
            <a:endParaRPr lang="en-US" sz="3200">
              <a:solidFill>
                <a:schemeClr val="bg1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FB54D2E-6892-9EC1-E7BE-0DF6F87517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9338709"/>
              </p:ext>
            </p:extLst>
          </p:nvPr>
        </p:nvGraphicFramePr>
        <p:xfrm>
          <a:off x="579474" y="2062715"/>
          <a:ext cx="11033029" cy="4189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3152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1D6A2A3-F101-46F7-8B6F-1C699CAFE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5B211F2-85FE-DAAE-A82C-6C8DED793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57200"/>
            <a:ext cx="4911393" cy="1556724"/>
          </a:xfrm>
        </p:spPr>
        <p:txBody>
          <a:bodyPr anchor="b">
            <a:normAutofit/>
          </a:bodyPr>
          <a:lstStyle/>
          <a:p>
            <a:r>
              <a:rPr lang="es-ES" b="1" dirty="0" err="1"/>
              <a:t>Payload</a:t>
            </a:r>
            <a:r>
              <a:rPr lang="es-ES" b="1" dirty="0"/>
              <a:t>: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0A0465-B3DF-A63B-B83D-15E969BDF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1" y="2345635"/>
            <a:ext cx="4911392" cy="358394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ES" sz="2200" dirty="0"/>
              <a:t>La carga útil de una comunicación; es la parte de un mensaje que contiene los datos reales que se quieren transmitir, sin incluir los encabezados ni la </a:t>
            </a:r>
            <a:r>
              <a:rPr lang="es-ES" sz="2200" dirty="0" err="1"/>
              <a:t>metadata</a:t>
            </a:r>
            <a:r>
              <a:rPr lang="es-ES" sz="2200" dirty="0"/>
              <a:t>. Reducir el tamaño del </a:t>
            </a:r>
            <a:r>
              <a:rPr lang="es-ES" sz="2200" dirty="0" err="1"/>
              <a:t>payload</a:t>
            </a:r>
            <a:r>
              <a:rPr lang="es-ES" sz="2200" dirty="0"/>
              <a:t> minimiza el uso de ancho de banda y acelera la transmisión de datos.</a:t>
            </a:r>
            <a:endParaRPr lang="en-US" sz="2200" b="1" dirty="0"/>
          </a:p>
          <a:p>
            <a:endParaRPr lang="en-US" sz="1600" dirty="0"/>
          </a:p>
        </p:txBody>
      </p:sp>
      <p:pic>
        <p:nvPicPr>
          <p:cNvPr id="7" name="Graphic 6" descr="Grúa">
            <a:extLst>
              <a:ext uri="{FF2B5EF4-FFF2-40B4-BE49-F238E27FC236}">
                <a16:creationId xmlns:a16="http://schemas.microsoft.com/office/drawing/2014/main" id="{B6A0ED19-BD98-FE16-66D6-C414CC4C24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4639" y="648307"/>
            <a:ext cx="5090161" cy="509016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29E760E-527D-4053-A309-F2BDE1250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6400800"/>
            <a:ext cx="12191999" cy="457198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53D448-4ED1-429A-A28C-8316DE7CA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8"/>
            <a:ext cx="8153396" cy="448831"/>
          </a:xfrm>
          <a:prstGeom prst="rect">
            <a:avLst/>
          </a:prstGeom>
          <a:gradFill>
            <a:gsLst>
              <a:gs pos="0">
                <a:schemeClr val="accent5">
                  <a:alpha val="5000"/>
                </a:schemeClr>
              </a:gs>
              <a:gs pos="99000">
                <a:schemeClr val="accent5">
                  <a:alpha val="72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93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ED9D89B5-CCAB-4617-B70E-501DBE3C8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8266709-601A-9FF7-9F80-563B5CAB1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275" y="4583953"/>
            <a:ext cx="4685857" cy="1465973"/>
          </a:xfrm>
        </p:spPr>
        <p:txBody>
          <a:bodyPr anchor="t">
            <a:normAutofit/>
          </a:bodyPr>
          <a:lstStyle/>
          <a:p>
            <a:r>
              <a:rPr lang="en-US" sz="2800" dirty="0"/>
              <a:t>CBOR</a:t>
            </a:r>
          </a:p>
        </p:txBody>
      </p:sp>
      <p:pic>
        <p:nvPicPr>
          <p:cNvPr id="1032" name="Picture 8" descr="Enable CBOR within ASP.NET Core OData - OData">
            <a:extLst>
              <a:ext uri="{FF2B5EF4-FFF2-40B4-BE49-F238E27FC236}">
                <a16:creationId xmlns:a16="http://schemas.microsoft.com/office/drawing/2014/main" id="{855CDB05-D822-2829-27CB-B18387EBA2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" r="634"/>
          <a:stretch/>
        </p:blipFill>
        <p:spPr bwMode="auto">
          <a:xfrm>
            <a:off x="365761" y="572850"/>
            <a:ext cx="11460478" cy="3438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398829-4141-17F2-F67F-1557298DB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600" y="4511043"/>
            <a:ext cx="7371806" cy="1465973"/>
          </a:xfrm>
        </p:spPr>
        <p:txBody>
          <a:bodyPr>
            <a:normAutofit/>
          </a:bodyPr>
          <a:lstStyle/>
          <a:p>
            <a:r>
              <a:rPr lang="es-ES" sz="2400" dirty="0"/>
              <a:t>Formato binario que representa estructuras de datos de forma más eficiente que JSON, mejorando la velocidad y el almacenamiento.</a:t>
            </a:r>
          </a:p>
          <a:p>
            <a:endParaRPr lang="en-US" sz="1400" dirty="0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955DEFE8-24AF-47F7-B020-D4D76ABA1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6EAE3873-25FC-4346-B1D5-82E5F9D95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7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939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ED9D89B5-CCAB-4617-B70E-501DBE3C8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D85425-D42D-F436-B4FF-5868DD32D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275" y="4583953"/>
            <a:ext cx="4685857" cy="1465973"/>
          </a:xfrm>
        </p:spPr>
        <p:txBody>
          <a:bodyPr anchor="t">
            <a:normAutofit/>
          </a:bodyPr>
          <a:lstStyle/>
          <a:p>
            <a:r>
              <a:rPr lang="es-ES" sz="2800" b="1"/>
              <a:t>GZIP</a:t>
            </a:r>
            <a:endParaRPr lang="en-US" sz="2800"/>
          </a:p>
        </p:txBody>
      </p:sp>
      <p:pic>
        <p:nvPicPr>
          <p:cNvPr id="2050" name="Picture 2" descr="Unzipping the GZIP compression protocol — Altior Technical Article |  ChipEstimate.com">
            <a:extLst>
              <a:ext uri="{FF2B5EF4-FFF2-40B4-BE49-F238E27FC236}">
                <a16:creationId xmlns:a16="http://schemas.microsoft.com/office/drawing/2014/main" id="{B6CFE014-1761-F6B7-4018-4D7AB69144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22" b="8757"/>
          <a:stretch/>
        </p:blipFill>
        <p:spPr bwMode="auto">
          <a:xfrm>
            <a:off x="1442861" y="654010"/>
            <a:ext cx="9306278" cy="3240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E0798B-1AE6-9266-0184-FF0F4E926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9223" y="4583953"/>
            <a:ext cx="8155577" cy="1465973"/>
          </a:xfrm>
        </p:spPr>
        <p:txBody>
          <a:bodyPr>
            <a:normAutofit/>
          </a:bodyPr>
          <a:lstStyle/>
          <a:p>
            <a:r>
              <a:rPr lang="es-ES" sz="2400" dirty="0"/>
              <a:t>Método de compresión ampliamente soportado que reduce significativamente el tamaño de los datos transmitidos.</a:t>
            </a:r>
            <a:endParaRPr lang="en-US" sz="2400" dirty="0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955DEFE8-24AF-47F7-B020-D4D76ABA1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6EAE3873-25FC-4346-B1D5-82E5F9D95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7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716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1D6A2A3-F101-46F7-8B6F-1C699CAFE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B3BCFF-00BF-0DF3-0727-2316E6066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57200"/>
            <a:ext cx="4911393" cy="1556724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000"/>
              <a:t>Comunicación entre Sistemas Embebidos y Servidores API </a:t>
            </a:r>
            <a:r>
              <a:rPr lang="es-ES" sz="2000" err="1"/>
              <a:t>RESTful</a:t>
            </a:r>
            <a:endParaRPr lang="en-US" sz="2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72946A-C963-3D4A-F69F-2B1D2F278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1" y="2345635"/>
            <a:ext cx="4911392" cy="3583940"/>
          </a:xfrm>
        </p:spPr>
        <p:txBody>
          <a:bodyPr anchor="t">
            <a:normAutofit/>
          </a:bodyPr>
          <a:lstStyle/>
          <a:p>
            <a:r>
              <a:rPr lang="en-US" sz="3200" dirty="0"/>
              <a:t>Los </a:t>
            </a:r>
            <a:r>
              <a:rPr lang="en-US" sz="3200" dirty="0" err="1"/>
              <a:t>sistemas</a:t>
            </a:r>
            <a:r>
              <a:rPr lang="en-US" sz="3200" dirty="0"/>
              <a:t> </a:t>
            </a:r>
            <a:r>
              <a:rPr lang="en-US" sz="3200" dirty="0" err="1"/>
              <a:t>embebidos</a:t>
            </a:r>
            <a:r>
              <a:rPr lang="en-US" sz="3200" dirty="0"/>
              <a:t>, </a:t>
            </a:r>
            <a:r>
              <a:rPr lang="en-US" sz="3200" dirty="0" err="1"/>
              <a:t>como</a:t>
            </a:r>
            <a:r>
              <a:rPr lang="en-US" sz="3200" dirty="0"/>
              <a:t> </a:t>
            </a:r>
            <a:r>
              <a:rPr lang="en-US" sz="3200" dirty="0" err="1"/>
              <a:t>sensores</a:t>
            </a:r>
            <a:r>
              <a:rPr lang="en-US" sz="3200" dirty="0"/>
              <a:t> y </a:t>
            </a:r>
            <a:r>
              <a:rPr lang="en-US" sz="3200" dirty="0" err="1"/>
              <a:t>controladores</a:t>
            </a:r>
            <a:r>
              <a:rPr lang="en-US" sz="3200" dirty="0"/>
              <a:t>, se </a:t>
            </a:r>
            <a:r>
              <a:rPr lang="en-US" sz="3200" dirty="0" err="1"/>
              <a:t>comunican</a:t>
            </a:r>
            <a:r>
              <a:rPr lang="en-US" sz="3200" dirty="0"/>
              <a:t> con </a:t>
            </a:r>
            <a:r>
              <a:rPr lang="en-US" sz="3200" dirty="0" err="1"/>
              <a:t>servidores</a:t>
            </a:r>
            <a:r>
              <a:rPr lang="en-US" sz="3200" dirty="0"/>
              <a:t> a </a:t>
            </a:r>
            <a:r>
              <a:rPr lang="en-US" sz="3200" dirty="0" err="1"/>
              <a:t>través</a:t>
            </a:r>
            <a:r>
              <a:rPr lang="en-US" sz="3200" dirty="0"/>
              <a:t> de APIs RESTful.</a:t>
            </a:r>
          </a:p>
        </p:txBody>
      </p:sp>
      <p:pic>
        <p:nvPicPr>
          <p:cNvPr id="7" name="Graphic 6" descr="Inalámbrico">
            <a:extLst>
              <a:ext uri="{FF2B5EF4-FFF2-40B4-BE49-F238E27FC236}">
                <a16:creationId xmlns:a16="http://schemas.microsoft.com/office/drawing/2014/main" id="{8197EFA1-CC71-BCAC-16CD-0EE91AEDF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4639" y="648307"/>
            <a:ext cx="5090161" cy="509016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29E760E-527D-4053-A309-F2BDE1250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6400800"/>
            <a:ext cx="12191999" cy="457198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53D448-4ED1-429A-A28C-8316DE7CA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8"/>
            <a:ext cx="8153396" cy="448831"/>
          </a:xfrm>
          <a:prstGeom prst="rect">
            <a:avLst/>
          </a:prstGeom>
          <a:gradFill>
            <a:gsLst>
              <a:gs pos="0">
                <a:schemeClr val="accent5">
                  <a:alpha val="5000"/>
                </a:schemeClr>
              </a:gs>
              <a:gs pos="99000">
                <a:schemeClr val="accent5">
                  <a:alpha val="72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037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CC0624C0-2477-1F83-9B97-263A225D683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1256" y="200393"/>
            <a:ext cx="6235783" cy="2952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ow to use Rest-API with Raspberry Pi, ESP32 &amp; Web Applications (PHP &amp;  Javascript)">
            <a:extLst>
              <a:ext uri="{FF2B5EF4-FFF2-40B4-BE49-F238E27FC236}">
                <a16:creationId xmlns:a16="http://schemas.microsoft.com/office/drawing/2014/main" id="{3377D6F0-E244-5579-550D-54C7F4479A5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0085" y="2481944"/>
            <a:ext cx="6560659" cy="3724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8112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3">
            <a:extLst>
              <a:ext uri="{FF2B5EF4-FFF2-40B4-BE49-F238E27FC236}">
                <a16:creationId xmlns:a16="http://schemas.microsoft.com/office/drawing/2014/main" id="{E383CC5D-71E8-4CB2-8E4A-F1E4FF6DC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5">
            <a:extLst>
              <a:ext uri="{FF2B5EF4-FFF2-40B4-BE49-F238E27FC236}">
                <a16:creationId xmlns:a16="http://schemas.microsoft.com/office/drawing/2014/main" id="{E2DA5AC1-43C5-4243-9028-07DBB80D0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"/>
            <a:ext cx="12192000" cy="1600201"/>
          </a:xfrm>
          <a:prstGeom prst="rect">
            <a:avLst/>
          </a:prstGeom>
          <a:gradFill>
            <a:gsLst>
              <a:gs pos="0">
                <a:schemeClr val="accent5">
                  <a:alpha val="83000"/>
                </a:schemeClr>
              </a:gs>
              <a:gs pos="100000">
                <a:schemeClr val="accent6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7">
            <a:extLst>
              <a:ext uri="{FF2B5EF4-FFF2-40B4-BE49-F238E27FC236}">
                <a16:creationId xmlns:a16="http://schemas.microsoft.com/office/drawing/2014/main" id="{8A4EDA1C-27A1-4C83-ACE4-6675EC924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9161" y="9109"/>
            <a:ext cx="7792839" cy="1594270"/>
          </a:xfrm>
          <a:prstGeom prst="rect">
            <a:avLst/>
          </a:prstGeom>
          <a:gradFill>
            <a:gsLst>
              <a:gs pos="22000">
                <a:schemeClr val="accent2">
                  <a:alpha val="0"/>
                </a:schemeClr>
              </a:gs>
              <a:gs pos="9900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19">
            <a:extLst>
              <a:ext uri="{FF2B5EF4-FFF2-40B4-BE49-F238E27FC236}">
                <a16:creationId xmlns:a16="http://schemas.microsoft.com/office/drawing/2014/main" id="{1C2185E4-B584-4B9D-9440-DEA0FB9D9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9021976" y="-906246"/>
            <a:ext cx="1602951" cy="3416298"/>
          </a:xfrm>
          <a:prstGeom prst="rect">
            <a:avLst/>
          </a:prstGeom>
          <a:gradFill>
            <a:gsLst>
              <a:gs pos="45000">
                <a:schemeClr val="accent4">
                  <a:alpha val="0"/>
                </a:schemeClr>
              </a:gs>
              <a:gs pos="99000">
                <a:schemeClr val="accent6">
                  <a:alpha val="33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1">
            <a:extLst>
              <a:ext uri="{FF2B5EF4-FFF2-40B4-BE49-F238E27FC236}">
                <a16:creationId xmlns:a16="http://schemas.microsoft.com/office/drawing/2014/main" id="{FF33EC8A-EE0A-4395-97E2-DAD467CF7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451242" y="0"/>
            <a:ext cx="9729549" cy="1600198"/>
          </a:xfrm>
          <a:prstGeom prst="rect">
            <a:avLst/>
          </a:prstGeom>
          <a:gradFill>
            <a:gsLst>
              <a:gs pos="0">
                <a:schemeClr val="accent5">
                  <a:alpha val="30000"/>
                </a:schemeClr>
              </a:gs>
              <a:gs pos="99000">
                <a:schemeClr val="accent5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23">
            <a:extLst>
              <a:ext uri="{FF2B5EF4-FFF2-40B4-BE49-F238E27FC236}">
                <a16:creationId xmlns:a16="http://schemas.microsoft.com/office/drawing/2014/main" id="{FF85DA95-16A4-404E-9BFF-27F8E4FC7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430"/>
            <a:ext cx="7910111" cy="1600198"/>
          </a:xfrm>
          <a:prstGeom prst="rect">
            <a:avLst/>
          </a:prstGeom>
          <a:gradFill>
            <a:gsLst>
              <a:gs pos="0">
                <a:schemeClr val="accent5">
                  <a:alpha val="21000"/>
                </a:schemeClr>
              </a:gs>
              <a:gs pos="99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D3067CD-75C1-168A-680F-F603721C5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084" y="374427"/>
            <a:ext cx="10374517" cy="971512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Beneficios</a:t>
            </a:r>
          </a:p>
        </p:txBody>
      </p:sp>
      <p:graphicFrame>
        <p:nvGraphicFramePr>
          <p:cNvPr id="32" name="Rectangle 2">
            <a:extLst>
              <a:ext uri="{FF2B5EF4-FFF2-40B4-BE49-F238E27FC236}">
                <a16:creationId xmlns:a16="http://schemas.microsoft.com/office/drawing/2014/main" id="{D0E0B84B-3081-EE7C-C471-8915A8E7E7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9293360"/>
              </p:ext>
            </p:extLst>
          </p:nvPr>
        </p:nvGraphicFramePr>
        <p:xfrm>
          <a:off x="579474" y="2062715"/>
          <a:ext cx="11033029" cy="4189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3588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8A22513-307E-4203-BEFF-5BBBFAFDD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211F11-4937-44F9-B733-211517A2D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9076" y="-431"/>
            <a:ext cx="11742924" cy="6858427"/>
          </a:xfrm>
          <a:prstGeom prst="rect">
            <a:avLst/>
          </a:prstGeom>
          <a:gradFill>
            <a:gsLst>
              <a:gs pos="2000">
                <a:schemeClr val="accent5">
                  <a:alpha val="17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F7BA0D-619B-4BA4-AF41-9F99DE301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9076" y="-429"/>
            <a:ext cx="11742924" cy="6400800"/>
          </a:xfrm>
          <a:prstGeom prst="rect">
            <a:avLst/>
          </a:prstGeom>
          <a:gradFill>
            <a:gsLst>
              <a:gs pos="0">
                <a:schemeClr val="accent5">
                  <a:alpha val="76000"/>
                </a:schemeClr>
              </a:gs>
              <a:gs pos="100000">
                <a:schemeClr val="accent2">
                  <a:lumMod val="20000"/>
                  <a:lumOff val="80000"/>
                  <a:alpha val="15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0A1EE3-9DEB-45B0-A9FA-080457925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-12648"/>
            <a:ext cx="11742924" cy="6870648"/>
          </a:xfrm>
          <a:prstGeom prst="rect">
            <a:avLst/>
          </a:prstGeom>
          <a:gradFill>
            <a:gsLst>
              <a:gs pos="37000">
                <a:schemeClr val="accent5">
                  <a:lumMod val="60000"/>
                  <a:lumOff val="40000"/>
                  <a:alpha val="25000"/>
                </a:schemeClr>
              </a:gs>
              <a:gs pos="100000">
                <a:schemeClr val="accent2">
                  <a:alpha val="74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9513AF-ACB9-491F-AB2C-AA27171C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8860813" cy="6857572"/>
          </a:xfrm>
          <a:prstGeom prst="rect">
            <a:avLst/>
          </a:prstGeom>
          <a:gradFill>
            <a:gsLst>
              <a:gs pos="6000">
                <a:schemeClr val="accent2">
                  <a:alpha val="88000"/>
                </a:schemeClr>
              </a:gs>
              <a:gs pos="100000">
                <a:schemeClr val="accent6">
                  <a:lumMod val="75000"/>
                  <a:alpha val="66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5F36B92-14BC-4E12-8F9A-737EFED6C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33214">
            <a:off x="5243949" y="-200984"/>
            <a:ext cx="6022658" cy="6022658"/>
          </a:xfrm>
          <a:custGeom>
            <a:avLst/>
            <a:gdLst>
              <a:gd name="connsiteX0" fmla="*/ 5757156 w 6022658"/>
              <a:gd name="connsiteY0" fmla="*/ 4243377 h 6022658"/>
              <a:gd name="connsiteX1" fmla="*/ 4298301 w 6022658"/>
              <a:gd name="connsiteY1" fmla="*/ 5730698 h 6022658"/>
              <a:gd name="connsiteX2" fmla="*/ 4183474 w 6022658"/>
              <a:gd name="connsiteY2" fmla="*/ 5786013 h 6022658"/>
              <a:gd name="connsiteX3" fmla="*/ 3011329 w 6022658"/>
              <a:gd name="connsiteY3" fmla="*/ 6022658 h 6022658"/>
              <a:gd name="connsiteX4" fmla="*/ 0 w 6022658"/>
              <a:gd name="connsiteY4" fmla="*/ 3011329 h 6022658"/>
              <a:gd name="connsiteX5" fmla="*/ 3011329 w 6022658"/>
              <a:gd name="connsiteY5" fmla="*/ 0 h 6022658"/>
              <a:gd name="connsiteX6" fmla="*/ 6022658 w 6022658"/>
              <a:gd name="connsiteY6" fmla="*/ 3011329 h 6022658"/>
              <a:gd name="connsiteX7" fmla="*/ 5786013 w 6022658"/>
              <a:gd name="connsiteY7" fmla="*/ 4183474 h 6022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22658" h="6022658">
                <a:moveTo>
                  <a:pt x="5757156" y="4243377"/>
                </a:moveTo>
                <a:lnTo>
                  <a:pt x="4298301" y="5730698"/>
                </a:lnTo>
                <a:lnTo>
                  <a:pt x="4183474" y="5786013"/>
                </a:lnTo>
                <a:cubicBezTo>
                  <a:pt x="3823203" y="5938395"/>
                  <a:pt x="3427106" y="6022658"/>
                  <a:pt x="3011329" y="6022658"/>
                </a:cubicBezTo>
                <a:cubicBezTo>
                  <a:pt x="1348218" y="6022658"/>
                  <a:pt x="0" y="4674440"/>
                  <a:pt x="0" y="3011329"/>
                </a:cubicBezTo>
                <a:cubicBezTo>
                  <a:pt x="0" y="1348218"/>
                  <a:pt x="1348218" y="0"/>
                  <a:pt x="3011329" y="0"/>
                </a:cubicBezTo>
                <a:cubicBezTo>
                  <a:pt x="4674440" y="0"/>
                  <a:pt x="6022658" y="1348218"/>
                  <a:pt x="6022658" y="3011329"/>
                </a:cubicBezTo>
                <a:cubicBezTo>
                  <a:pt x="6022658" y="3427107"/>
                  <a:pt x="5938394" y="3823204"/>
                  <a:pt x="5786013" y="4183474"/>
                </a:cubicBezTo>
                <a:close/>
              </a:path>
            </a:pathLst>
          </a:custGeom>
          <a:gradFill>
            <a:gsLst>
              <a:gs pos="21000">
                <a:schemeClr val="accent2">
                  <a:alpha val="0"/>
                </a:schemeClr>
              </a:gs>
              <a:gs pos="85000">
                <a:schemeClr val="accent6">
                  <a:alpha val="13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7BC0EC-DD3B-43B1-8DA6-2CF4110D0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638" y="1122362"/>
            <a:ext cx="6951109" cy="2842863"/>
          </a:xfrm>
        </p:spPr>
        <p:txBody>
          <a:bodyPr vert="horz" lIns="0" tIns="0" rIns="0" bIns="0" rtlCol="0" anchor="b">
            <a:normAutofit/>
          </a:bodyPr>
          <a:lstStyle/>
          <a:p>
            <a:pPr algn="r"/>
            <a:r>
              <a:rPr lang="en-US" sz="4400" spc="750">
                <a:solidFill>
                  <a:schemeClr val="bg1"/>
                </a:solidFill>
              </a:rPr>
              <a:t>CoAP como Alternativa</a:t>
            </a:r>
          </a:p>
        </p:txBody>
      </p:sp>
    </p:spTree>
    <p:extLst>
      <p:ext uri="{BB962C8B-B14F-4D97-AF65-F5344CB8AC3E}">
        <p14:creationId xmlns:p14="http://schemas.microsoft.com/office/powerpoint/2010/main" val="3750295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ED9D89B5-CCAB-4617-B70E-501DBE3C8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4C53EC-DBA0-C996-5E10-D0BA50C92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275" y="4583953"/>
            <a:ext cx="4685857" cy="146597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2600" b="1" dirty="0"/>
              <a:t>¿</a:t>
            </a:r>
            <a:r>
              <a:rPr lang="fr-FR" sz="2600" b="1" dirty="0" err="1"/>
              <a:t>Qué</a:t>
            </a:r>
            <a:r>
              <a:rPr lang="fr-FR" sz="2600" b="1" dirty="0"/>
              <a:t> es </a:t>
            </a:r>
            <a:r>
              <a:rPr lang="fr-FR" sz="2600" b="1" dirty="0" err="1"/>
              <a:t>CoAP</a:t>
            </a:r>
            <a:r>
              <a:rPr lang="fr-FR" sz="2600" b="1" dirty="0"/>
              <a:t> (</a:t>
            </a:r>
            <a:r>
              <a:rPr lang="fr-FR" sz="2600" b="1" dirty="0" err="1"/>
              <a:t>Constrained</a:t>
            </a:r>
            <a:r>
              <a:rPr lang="fr-FR" sz="2600" b="1" dirty="0"/>
              <a:t> Application Protocol)?</a:t>
            </a:r>
            <a:endParaRPr lang="en-US" sz="2600" dirty="0"/>
          </a:p>
        </p:txBody>
      </p:sp>
      <p:pic>
        <p:nvPicPr>
          <p:cNvPr id="5122" name="Picture 2" descr="CoAP Protocol: What is Meaning, Architecture and Function ?">
            <a:extLst>
              <a:ext uri="{FF2B5EF4-FFF2-40B4-BE49-F238E27FC236}">
                <a16:creationId xmlns:a16="http://schemas.microsoft.com/office/drawing/2014/main" id="{B30F8491-1C6A-F0F0-5BCB-FA25718043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8" b="23017"/>
          <a:stretch/>
        </p:blipFill>
        <p:spPr bwMode="auto">
          <a:xfrm>
            <a:off x="971985" y="397396"/>
            <a:ext cx="10248030" cy="3503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9D49E0-6405-F93A-3214-94F04D6CD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1389" y="4583953"/>
            <a:ext cx="6633411" cy="1465973"/>
          </a:xfrm>
        </p:spPr>
        <p:txBody>
          <a:bodyPr>
            <a:normAutofit fontScale="92500" lnSpcReduction="10000"/>
          </a:bodyPr>
          <a:lstStyle/>
          <a:p>
            <a:r>
              <a:rPr lang="es-ES" sz="2400" dirty="0"/>
              <a:t>Un protocolo de comunicación diseñado específicamente para entornos de IoT con recursos limitados, basado en el modelo de intercambio de mensajes de UDP.</a:t>
            </a:r>
            <a:endParaRPr lang="en-US" sz="2400" dirty="0"/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955DEFE8-24AF-47F7-B020-D4D76ABA1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6EAE3873-25FC-4346-B1D5-82E5F9D95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7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106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4AD78C-2645-A565-8989-023ECFBF1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Características</a:t>
            </a:r>
            <a:endParaRPr lang="en-US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33AA7B6-A3C9-9033-6138-60CB53F1D11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71600" y="2112264"/>
          <a:ext cx="10241280" cy="3959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322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D9D89B5-CCAB-4617-B70E-501DBE3C8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FE0B7D2-1378-51B4-2A89-A0DE5DD4E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275" y="4583953"/>
            <a:ext cx="4685857" cy="1465973"/>
          </a:xfrm>
        </p:spPr>
        <p:txBody>
          <a:bodyPr anchor="t">
            <a:normAutofit/>
          </a:bodyPr>
          <a:lstStyle/>
          <a:p>
            <a:r>
              <a:rPr lang="en-US" sz="2800"/>
              <a:t>Comparación con http</a:t>
            </a:r>
          </a:p>
        </p:txBody>
      </p:sp>
      <p:pic>
        <p:nvPicPr>
          <p:cNvPr id="5" name="Picture 4" descr="Logotipo de Wi-Fi artístico">
            <a:extLst>
              <a:ext uri="{FF2B5EF4-FFF2-40B4-BE49-F238E27FC236}">
                <a16:creationId xmlns:a16="http://schemas.microsoft.com/office/drawing/2014/main" id="{7B9C6EB8-3D1E-CAE3-1367-21DE5DC9FC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644" b="28619"/>
          <a:stretch/>
        </p:blipFill>
        <p:spPr>
          <a:xfrm>
            <a:off x="20" y="432"/>
            <a:ext cx="12191980" cy="4244759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3CB9E1-3BE6-9FB5-62B3-E2AD60E7A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132" y="4583953"/>
            <a:ext cx="6131668" cy="1465973"/>
          </a:xfrm>
        </p:spPr>
        <p:txBody>
          <a:bodyPr>
            <a:normAutofit fontScale="92500"/>
          </a:bodyPr>
          <a:lstStyle/>
          <a:p>
            <a:r>
              <a:rPr lang="es-ES" sz="2400" b="1" dirty="0"/>
              <a:t>Menor </a:t>
            </a:r>
            <a:r>
              <a:rPr lang="es-ES" sz="2400" b="1" dirty="0" err="1"/>
              <a:t>overhead</a:t>
            </a:r>
            <a:r>
              <a:rPr lang="es-ES" sz="2400" dirty="0"/>
              <a:t>: </a:t>
            </a:r>
            <a:r>
              <a:rPr lang="es-ES" sz="2400" dirty="0" err="1"/>
              <a:t>CoAP</a:t>
            </a:r>
            <a:r>
              <a:rPr lang="es-ES" sz="2400" dirty="0"/>
              <a:t> es más eficiente para dispositivos IoT que necesitan conservar energía y operar con conectividad limitada.</a:t>
            </a:r>
            <a:endParaRPr lang="en-US" sz="2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5DEFE8-24AF-47F7-B020-D4D76ABA1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AE3873-25FC-4346-B1D5-82E5F9D95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7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499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7" name="Rectangle 7176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9" name="Rectangle 7178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181" name="Rectangle 7180">
            <a:extLst>
              <a:ext uri="{FF2B5EF4-FFF2-40B4-BE49-F238E27FC236}">
                <a16:creationId xmlns:a16="http://schemas.microsoft.com/office/drawing/2014/main" id="{8F1DA978-2FF0-4E09-976F-91C6D4AA5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3" name="Rectangle 7182">
            <a:extLst>
              <a:ext uri="{FF2B5EF4-FFF2-40B4-BE49-F238E27FC236}">
                <a16:creationId xmlns:a16="http://schemas.microsoft.com/office/drawing/2014/main" id="{0EC398C5-5C2E-4038-9DB3-DE2B5A9BE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0619" y="381383"/>
            <a:ext cx="6858000" cy="6095233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5" name="Rectangle 7184">
            <a:extLst>
              <a:ext uri="{FF2B5EF4-FFF2-40B4-BE49-F238E27FC236}">
                <a16:creationId xmlns:a16="http://schemas.microsoft.com/office/drawing/2014/main" id="{A2F10B26-073B-4B10-8AAA-161242DD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25488" y="125488"/>
            <a:ext cx="6346209" cy="6095235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90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7" name="Rectangle 7186">
            <a:extLst>
              <a:ext uri="{FF2B5EF4-FFF2-40B4-BE49-F238E27FC236}">
                <a16:creationId xmlns:a16="http://schemas.microsoft.com/office/drawing/2014/main" id="{610DBBC7-698F-4A54-B1CB-A99F9CC35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788104" y="2550870"/>
            <a:ext cx="2501979" cy="6112279"/>
          </a:xfrm>
          <a:prstGeom prst="rect">
            <a:avLst/>
          </a:prstGeom>
          <a:gradFill>
            <a:gsLst>
              <a:gs pos="2000">
                <a:schemeClr val="accent5">
                  <a:alpha val="28000"/>
                </a:schemeClr>
              </a:gs>
              <a:gs pos="100000">
                <a:schemeClr val="accent4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9" name="Oval 7188">
            <a:extLst>
              <a:ext uri="{FF2B5EF4-FFF2-40B4-BE49-F238E27FC236}">
                <a16:creationId xmlns:a16="http://schemas.microsoft.com/office/drawing/2014/main" id="{579BBB12-9455-421B-86B2-0EA775202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72450" y="728296"/>
            <a:ext cx="4808302" cy="4808302"/>
          </a:xfrm>
          <a:prstGeom prst="ellipse">
            <a:avLst/>
          </a:pr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4ACD681-6EF8-F27A-FC05-AD75440FD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556" y="740563"/>
            <a:ext cx="4688488" cy="3232560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n-US" sz="4000" spc="750" dirty="0">
                <a:solidFill>
                  <a:schemeClr val="bg1"/>
                </a:solidFill>
              </a:rPr>
              <a:t>EJEMPLO COAP</a:t>
            </a:r>
          </a:p>
        </p:txBody>
      </p:sp>
      <p:pic>
        <p:nvPicPr>
          <p:cNvPr id="7172" name="Picture 4" descr="Protocolo CoAP: ¿Qué es significado, arquitectura y función? - Wallarm">
            <a:extLst>
              <a:ext uri="{FF2B5EF4-FFF2-40B4-BE49-F238E27FC236}">
                <a16:creationId xmlns:a16="http://schemas.microsoft.com/office/drawing/2014/main" id="{21B61124-0BE9-8C90-64AF-A56ADC178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233" y="1783749"/>
            <a:ext cx="5996911" cy="3598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8545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D9D89B5-CCAB-4617-B70E-501DBE3C8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3FA679-7447-4BB2-69E5-9000118B1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276" y="4583953"/>
            <a:ext cx="3889856" cy="1465973"/>
          </a:xfrm>
        </p:spPr>
        <p:txBody>
          <a:bodyPr anchor="t">
            <a:normAutofit/>
          </a:bodyPr>
          <a:lstStyle/>
          <a:p>
            <a:r>
              <a:rPr lang="en-US" sz="2800" dirty="0"/>
              <a:t>HTTP Y GATEWAYS</a:t>
            </a:r>
          </a:p>
        </p:txBody>
      </p:sp>
      <p:pic>
        <p:nvPicPr>
          <p:cNvPr id="5" name="Picture 4" descr="Un patrón en 3D de formas de anillos conectados por líneas">
            <a:extLst>
              <a:ext uri="{FF2B5EF4-FFF2-40B4-BE49-F238E27FC236}">
                <a16:creationId xmlns:a16="http://schemas.microsoft.com/office/drawing/2014/main" id="{C517F396-4DA4-6CC9-5479-F62ACF331E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148" b="25957"/>
          <a:stretch/>
        </p:blipFill>
        <p:spPr>
          <a:xfrm>
            <a:off x="20" y="432"/>
            <a:ext cx="12191980" cy="4244759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2C6BB8-EFCD-7027-03FA-47ADE052F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1371" y="4583953"/>
            <a:ext cx="7289075" cy="1465973"/>
          </a:xfrm>
        </p:spPr>
        <p:txBody>
          <a:bodyPr>
            <a:normAutofit/>
          </a:bodyPr>
          <a:lstStyle/>
          <a:p>
            <a:r>
              <a:rPr lang="en-US" sz="2200" b="1" dirty="0"/>
              <a:t>¿</a:t>
            </a:r>
            <a:r>
              <a:rPr lang="es-ES" sz="2200" b="1" dirty="0"/>
              <a:t>Qué son los </a:t>
            </a:r>
            <a:r>
              <a:rPr lang="es-ES" sz="2200" b="1" dirty="0" err="1"/>
              <a:t>Gateways</a:t>
            </a:r>
            <a:r>
              <a:rPr lang="es-ES" sz="2200" b="1" dirty="0"/>
              <a:t> en IoT?</a:t>
            </a:r>
            <a:r>
              <a:rPr lang="es-ES" sz="2200" dirty="0"/>
              <a:t>: Dispositivos o software que actúan como intermediarios entre los dispositivos IoT y la nube o servidores externos.</a:t>
            </a:r>
            <a:endParaRPr lang="en-US" sz="2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5DEFE8-24AF-47F7-B020-D4D76ABA1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AE3873-25FC-4346-B1D5-82E5F9D95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7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577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383CC5D-71E8-4CB2-8E4A-F1E4FF6DC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DA5AC1-43C5-4243-9028-07DBB80D0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"/>
            <a:ext cx="12192000" cy="1600201"/>
          </a:xfrm>
          <a:prstGeom prst="rect">
            <a:avLst/>
          </a:prstGeom>
          <a:gradFill>
            <a:gsLst>
              <a:gs pos="0">
                <a:schemeClr val="accent5">
                  <a:alpha val="83000"/>
                </a:schemeClr>
              </a:gs>
              <a:gs pos="100000">
                <a:schemeClr val="accent6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4EDA1C-27A1-4C83-ACE4-6675EC924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9161" y="9109"/>
            <a:ext cx="7792839" cy="1594270"/>
          </a:xfrm>
          <a:prstGeom prst="rect">
            <a:avLst/>
          </a:prstGeom>
          <a:gradFill>
            <a:gsLst>
              <a:gs pos="22000">
                <a:schemeClr val="accent2">
                  <a:alpha val="0"/>
                </a:schemeClr>
              </a:gs>
              <a:gs pos="9900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2185E4-B584-4B9D-9440-DEA0FB9D9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9021976" y="-906246"/>
            <a:ext cx="1602951" cy="3416298"/>
          </a:xfrm>
          <a:prstGeom prst="rect">
            <a:avLst/>
          </a:prstGeom>
          <a:gradFill>
            <a:gsLst>
              <a:gs pos="45000">
                <a:schemeClr val="accent4">
                  <a:alpha val="0"/>
                </a:schemeClr>
              </a:gs>
              <a:gs pos="99000">
                <a:schemeClr val="accent6">
                  <a:alpha val="33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33EC8A-EE0A-4395-97E2-DAD467CF7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451242" y="0"/>
            <a:ext cx="9729549" cy="1600198"/>
          </a:xfrm>
          <a:prstGeom prst="rect">
            <a:avLst/>
          </a:prstGeom>
          <a:gradFill>
            <a:gsLst>
              <a:gs pos="0">
                <a:schemeClr val="accent5">
                  <a:alpha val="30000"/>
                </a:schemeClr>
              </a:gs>
              <a:gs pos="99000">
                <a:schemeClr val="accent5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85DA95-16A4-404E-9BFF-27F8E4FC7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430"/>
            <a:ext cx="7910111" cy="1600198"/>
          </a:xfrm>
          <a:prstGeom prst="rect">
            <a:avLst/>
          </a:prstGeom>
          <a:gradFill>
            <a:gsLst>
              <a:gs pos="0">
                <a:schemeClr val="accent5">
                  <a:alpha val="21000"/>
                </a:schemeClr>
              </a:gs>
              <a:gs pos="99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90E1A17-4810-9D5A-65FC-0FE52FAC0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084" y="374427"/>
            <a:ext cx="10374517" cy="971512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FUNCIONES CLAVE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C107CE89-557A-D023-80A7-F2E9961CFC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465749"/>
              </p:ext>
            </p:extLst>
          </p:nvPr>
        </p:nvGraphicFramePr>
        <p:xfrm>
          <a:off x="579474" y="2062715"/>
          <a:ext cx="11033029" cy="4189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2594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C4AFFA-9868-4B7D-9F63-93C34D362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6483C6-AC76-FA53-39E8-BA4CA10F4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279" y="0"/>
            <a:ext cx="9549442" cy="1010093"/>
          </a:xfrm>
        </p:spPr>
        <p:txBody>
          <a:bodyPr anchor="b">
            <a:normAutofit/>
          </a:bodyPr>
          <a:lstStyle/>
          <a:p>
            <a:pPr algn="r"/>
            <a:r>
              <a:rPr lang="en-US" dirty="0"/>
              <a:t>VENTAJAS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4CCFE6-8D32-4963-9B5D-E74204429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8741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414B78-940D-4BE3-A24D-B003E1C9C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8316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67C5494-5EA7-225E-C0A6-A783202567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4735987"/>
              </p:ext>
            </p:extLst>
          </p:nvPr>
        </p:nvGraphicFramePr>
        <p:xfrm>
          <a:off x="385033" y="1025575"/>
          <a:ext cx="11421933" cy="4989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223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Rectangle 9228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31" name="Rectangle 9230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233" name="Rectangle 9232">
            <a:extLst>
              <a:ext uri="{FF2B5EF4-FFF2-40B4-BE49-F238E27FC236}">
                <a16:creationId xmlns:a16="http://schemas.microsoft.com/office/drawing/2014/main" id="{F6EAEA9B-2E1C-4FAD-8BCE-BCDAA88A0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35" name="Rectangle 9234">
            <a:extLst>
              <a:ext uri="{FF2B5EF4-FFF2-40B4-BE49-F238E27FC236}">
                <a16:creationId xmlns:a16="http://schemas.microsoft.com/office/drawing/2014/main" id="{18DDDDE9-F719-466E-8023-442157AD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5839"/>
            <a:ext cx="12203210" cy="1594273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37" name="Rectangle 9236">
            <a:extLst>
              <a:ext uri="{FF2B5EF4-FFF2-40B4-BE49-F238E27FC236}">
                <a16:creationId xmlns:a16="http://schemas.microsoft.com/office/drawing/2014/main" id="{939F77F6-77CF-46C0-AC00-152962613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209" y="-15839"/>
            <a:ext cx="8126510" cy="1594273"/>
          </a:xfrm>
          <a:prstGeom prst="rect">
            <a:avLst/>
          </a:prstGeom>
          <a:gradFill>
            <a:gsLst>
              <a:gs pos="0">
                <a:schemeClr val="accent5">
                  <a:alpha val="17000"/>
                </a:schemeClr>
              </a:gs>
              <a:gs pos="9900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39" name="Rectangle 9238">
            <a:extLst>
              <a:ext uri="{FF2B5EF4-FFF2-40B4-BE49-F238E27FC236}">
                <a16:creationId xmlns:a16="http://schemas.microsoft.com/office/drawing/2014/main" id="{181D6D53-7DE2-4564-9C40-9B261437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5440" y="-3031424"/>
            <a:ext cx="1594275" cy="7625444"/>
          </a:xfrm>
          <a:prstGeom prst="rect">
            <a:avLst/>
          </a:prstGeom>
          <a:gradFill>
            <a:gsLst>
              <a:gs pos="23000">
                <a:schemeClr val="accent4">
                  <a:alpha val="0"/>
                </a:schemeClr>
              </a:gs>
              <a:gs pos="99000">
                <a:schemeClr val="accent6">
                  <a:alpha val="59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4D551540-5B72-3C87-F4E8-5F1CBA6CA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694" y="322729"/>
            <a:ext cx="6717553" cy="992096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en-US" sz="3200" spc="750">
                <a:solidFill>
                  <a:schemeClr val="bg1"/>
                </a:solidFill>
              </a:rPr>
              <a:t>Ejemplo</a:t>
            </a:r>
          </a:p>
        </p:txBody>
      </p:sp>
      <p:pic>
        <p:nvPicPr>
          <p:cNvPr id="15" name="Marcador de contenido 14">
            <a:extLst>
              <a:ext uri="{FF2B5EF4-FFF2-40B4-BE49-F238E27FC236}">
                <a16:creationId xmlns:a16="http://schemas.microsoft.com/office/drawing/2014/main" id="{E63778B1-559D-8216-45E1-E1FFFBF7598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0533" y="1732264"/>
            <a:ext cx="5606145" cy="4896921"/>
          </a:xfrm>
          <a:prstGeom prst="rect">
            <a:avLst/>
          </a:prstGeom>
        </p:spPr>
      </p:pic>
      <p:pic>
        <p:nvPicPr>
          <p:cNvPr id="9224" name="Picture 8" descr="What is an IoT Gateway? - Internet of Things | Open Automation Software">
            <a:extLst>
              <a:ext uri="{FF2B5EF4-FFF2-40B4-BE49-F238E27FC236}">
                <a16:creationId xmlns:a16="http://schemas.microsoft.com/office/drawing/2014/main" id="{E5F1AAB5-5A37-B25D-8A83-EC31766CA36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5324" y="1732264"/>
            <a:ext cx="5637271" cy="4896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9443724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AnalogousFromDarkSeedLeftStep">
      <a:dk1>
        <a:srgbClr val="000000"/>
      </a:dk1>
      <a:lt1>
        <a:srgbClr val="FFFFFF"/>
      </a:lt1>
      <a:dk2>
        <a:srgbClr val="1C2431"/>
      </a:dk2>
      <a:lt2>
        <a:srgbClr val="F0F3F0"/>
      </a:lt2>
      <a:accent1>
        <a:srgbClr val="E329E7"/>
      </a:accent1>
      <a:accent2>
        <a:srgbClr val="8217D5"/>
      </a:accent2>
      <a:accent3>
        <a:srgbClr val="472CE7"/>
      </a:accent3>
      <a:accent4>
        <a:srgbClr val="174BD5"/>
      </a:accent4>
      <a:accent5>
        <a:srgbClr val="29ACE7"/>
      </a:accent5>
      <a:accent6>
        <a:srgbClr val="15C1AF"/>
      </a:accent6>
      <a:hlink>
        <a:srgbClr val="3F82BF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451</Words>
  <Application>Microsoft Office PowerPoint</Application>
  <PresentationFormat>Panorámica</PresentationFormat>
  <Paragraphs>39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Avenir Next LT Pro</vt:lpstr>
      <vt:lpstr>GradientRiseVTI</vt:lpstr>
      <vt:lpstr>PROTOCOLO HTTP</vt:lpstr>
      <vt:lpstr>CONCEPTO</vt:lpstr>
      <vt:lpstr>Optimización de HTTP para IoT</vt:lpstr>
      <vt:lpstr>Payload:</vt:lpstr>
      <vt:lpstr>CBOR</vt:lpstr>
      <vt:lpstr>GZIP</vt:lpstr>
      <vt:lpstr>Comunicación entre Sistemas Embebidos y Servidores API RESTful</vt:lpstr>
      <vt:lpstr>Presentación de PowerPoint</vt:lpstr>
      <vt:lpstr>Beneficios</vt:lpstr>
      <vt:lpstr>CoAP como Alternativa</vt:lpstr>
      <vt:lpstr>¿Qué es CoAP (Constrained Application Protocol)?</vt:lpstr>
      <vt:lpstr>Características</vt:lpstr>
      <vt:lpstr>Comparación con http</vt:lpstr>
      <vt:lpstr>EJEMPLO COAP</vt:lpstr>
      <vt:lpstr>HTTP Y GATEWAYS</vt:lpstr>
      <vt:lpstr>FUNCIONES CLAVE</vt:lpstr>
      <vt:lpstr>VENTAJAS</vt:lpstr>
      <vt:lpstr>Ejemplo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Sergio Lima</dc:creator>
  <cp:lastModifiedBy>Sergio Lima</cp:lastModifiedBy>
  <cp:revision>1</cp:revision>
  <dcterms:created xsi:type="dcterms:W3CDTF">2024-11-04T07:12:51Z</dcterms:created>
  <dcterms:modified xsi:type="dcterms:W3CDTF">2024-11-05T07:20:24Z</dcterms:modified>
</cp:coreProperties>
</file>