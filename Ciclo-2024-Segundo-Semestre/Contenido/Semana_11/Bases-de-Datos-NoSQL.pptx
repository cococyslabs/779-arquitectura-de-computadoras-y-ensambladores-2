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4630400" cy="8229600"/>
  <p:notesSz cx="8229600" cy="14630400"/>
  <p:embeddedFontLst>
    <p:embeddedFont>
      <p:font typeface="Fira Mono Medium"/>
      <p:regular r:id="rId15"/>
    </p:embeddedFont>
    <p:embeddedFont>
      <p:font typeface="Fira Mono Medium"/>
      <p:regular r:id="rId16"/>
    </p:embeddedFont>
    <p:embeddedFont>
      <p:font typeface="Fira Sans"/>
      <p:regular r:id="rId17"/>
    </p:embeddedFont>
    <p:embeddedFont>
      <p:font typeface="Fira Sans"/>
      <p:regular r:id="rId18"/>
    </p:embeddedFont>
    <p:embeddedFont>
      <p:font typeface="Fira Sans"/>
      <p:regular r:id="rId19"/>
    </p:embeddedFont>
    <p:embeddedFont>
      <p:font typeface="Fira Sans"/>
      <p:regular r:id="rId20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font" Target="fonts/font1.fntdata"/><Relationship Id="rId16" Type="http://schemas.openxmlformats.org/officeDocument/2006/relationships/font" Target="fonts/font2.fntdata"/><Relationship Id="rId17" Type="http://schemas.openxmlformats.org/officeDocument/2006/relationships/font" Target="fonts/font3.fntdata"/><Relationship Id="rId18" Type="http://schemas.openxmlformats.org/officeDocument/2006/relationships/font" Target="fonts/font4.fntdata"/><Relationship Id="rId19" Type="http://schemas.openxmlformats.org/officeDocument/2006/relationships/font" Target="fonts/font5.fntdata"/><Relationship Id="rId20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F0F1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F0F1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F0F1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F0F1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F0F1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F0F1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F0F1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F0F1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9.xml"/><Relationship Id="rId6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914644"/>
            <a:ext cx="7556421" cy="1956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700"/>
              </a:lnSpc>
              <a:buNone/>
            </a:pPr>
            <a:r>
              <a:rPr lang="en-US" sz="6150" dirty="0">
                <a:solidFill>
                  <a:srgbClr val="FBF3FA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Bases de Datos NoSQL</a:t>
            </a:r>
            <a:endParaRPr lang="en-US" sz="6150" dirty="0"/>
          </a:p>
        </p:txBody>
      </p:sp>
      <p:sp>
        <p:nvSpPr>
          <p:cNvPr id="4" name="Text 1"/>
          <p:cNvSpPr/>
          <p:nvPr/>
        </p:nvSpPr>
        <p:spPr>
          <a:xfrm>
            <a:off x="793790" y="4211241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Las bases de datos NoSQL son sistemas de gestión de datos diseñados para manejar grandes volúmenes de información de manera flexible y escalable, a diferencia de los sistemas de bases de datos relacionales tradicionales.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793790" y="5934908"/>
            <a:ext cx="362903" cy="362903"/>
          </a:xfrm>
          <a:prstGeom prst="roundRect">
            <a:avLst>
              <a:gd name="adj" fmla="val 25194296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410" y="5942528"/>
            <a:ext cx="347663" cy="34766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70040" y="5918002"/>
            <a:ext cx="4926687" cy="396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2200" b="1" dirty="0">
                <a:solidFill>
                  <a:srgbClr val="E0D6DE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por DANNY EDUARDO CUXUM SANCHEZ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913584"/>
            <a:ext cx="646354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BF3FA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Conceptos generales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5217676"/>
            <a:ext cx="510302" cy="510302"/>
          </a:xfrm>
          <a:prstGeom prst="roundRect">
            <a:avLst>
              <a:gd name="adj" fmla="val 6667"/>
            </a:avLst>
          </a:prstGeom>
          <a:solidFill>
            <a:srgbClr val="2E2E2F"/>
          </a:solidFill>
          <a:ln/>
        </p:spPr>
      </p:sp>
      <p:sp>
        <p:nvSpPr>
          <p:cNvPr id="5" name="Text 2"/>
          <p:cNvSpPr/>
          <p:nvPr/>
        </p:nvSpPr>
        <p:spPr>
          <a:xfrm>
            <a:off x="946785" y="5302687"/>
            <a:ext cx="204192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1530906" y="5217676"/>
            <a:ext cx="3459242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Estructura de datos flexible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530906" y="6062424"/>
            <a:ext cx="345924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Las bases de datos NoSQL no siguen un esquema rígido como las bases de datos relacionales.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5216962" y="5217676"/>
            <a:ext cx="510302" cy="510302"/>
          </a:xfrm>
          <a:prstGeom prst="roundRect">
            <a:avLst>
              <a:gd name="adj" fmla="val 6667"/>
            </a:avLst>
          </a:prstGeom>
          <a:solidFill>
            <a:srgbClr val="2E2E2F"/>
          </a:solidFill>
          <a:ln/>
        </p:spPr>
      </p:sp>
      <p:sp>
        <p:nvSpPr>
          <p:cNvPr id="9" name="Text 6"/>
          <p:cNvSpPr/>
          <p:nvPr/>
        </p:nvSpPr>
        <p:spPr>
          <a:xfrm>
            <a:off x="5369957" y="5302687"/>
            <a:ext cx="204192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5954078" y="5217676"/>
            <a:ext cx="3459242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Escalabilidad horizontal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954078" y="6062424"/>
            <a:ext cx="345924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Pueden agregar más nodos a un clúster para manejar cargas de trabajo crecientes.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9640133" y="5217676"/>
            <a:ext cx="510302" cy="510302"/>
          </a:xfrm>
          <a:prstGeom prst="roundRect">
            <a:avLst>
              <a:gd name="adj" fmla="val 6667"/>
            </a:avLst>
          </a:prstGeom>
          <a:solidFill>
            <a:srgbClr val="2E2E2F"/>
          </a:solidFill>
          <a:ln/>
        </p:spPr>
      </p:sp>
      <p:sp>
        <p:nvSpPr>
          <p:cNvPr id="13" name="Text 10"/>
          <p:cNvSpPr/>
          <p:nvPr/>
        </p:nvSpPr>
        <p:spPr>
          <a:xfrm>
            <a:off x="9793129" y="5302687"/>
            <a:ext cx="204192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1"/>
          <p:cNvSpPr/>
          <p:nvPr/>
        </p:nvSpPr>
        <p:spPr>
          <a:xfrm>
            <a:off x="10377249" y="5217676"/>
            <a:ext cx="323052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Alta disponibilidad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0377249" y="5708094"/>
            <a:ext cx="345924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Diseñadas para mantener la disponibilidad incluso en caso de fallos de hardware o de red.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539960"/>
            <a:ext cx="952523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BF3FA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Beneficios de una Base NoSQL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8157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BF3FA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Rendimiento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396859"/>
            <a:ext cx="39781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Las bases de datos NoSQL ofrecen tiempos de respuesta más rápidos para consultas complejas.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5332928" y="38157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BF3FA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Flexibilidad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32928" y="4396859"/>
            <a:ext cx="39781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Pueden adaptarse a requisitos cambiantes sin necesidad de rediseñar toda la estructura.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872067" y="38157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BF3FA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Escalabilidad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872067" y="4396859"/>
            <a:ext cx="39781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Pueden manejar grandes volúmenes de datos y usuarios simultáneos sin perder rendimiento.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912614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BF3FA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Plataformas interactivas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2670334"/>
            <a:ext cx="3664863" cy="2749987"/>
          </a:xfrm>
          <a:prstGeom prst="roundRect">
            <a:avLst>
              <a:gd name="adj" fmla="val 1237"/>
            </a:avLst>
          </a:prstGeom>
          <a:solidFill>
            <a:srgbClr val="2E2E2F"/>
          </a:solidFill>
          <a:ln/>
        </p:spPr>
      </p:sp>
      <p:sp>
        <p:nvSpPr>
          <p:cNvPr id="5" name="Text 2"/>
          <p:cNvSpPr/>
          <p:nvPr/>
        </p:nvSpPr>
        <p:spPr>
          <a:xfrm>
            <a:off x="6507004" y="2897148"/>
            <a:ext cx="321123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Administración de Datos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507004" y="3741896"/>
            <a:ext cx="321123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Herramientas como Compass, Robo 3T y DBeaver facilitan la interacción con las bases de datos NoSQL.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10171867" y="2670334"/>
            <a:ext cx="3664863" cy="2749987"/>
          </a:xfrm>
          <a:prstGeom prst="roundRect">
            <a:avLst>
              <a:gd name="adj" fmla="val 1237"/>
            </a:avLst>
          </a:prstGeom>
          <a:solidFill>
            <a:srgbClr val="2E2E2F"/>
          </a:solidFill>
          <a:ln/>
        </p:spPr>
      </p:sp>
      <p:sp>
        <p:nvSpPr>
          <p:cNvPr id="8" name="Text 5"/>
          <p:cNvSpPr/>
          <p:nvPr/>
        </p:nvSpPr>
        <p:spPr>
          <a:xfrm>
            <a:off x="10398681" y="2897148"/>
            <a:ext cx="321123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Visualización de Datos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398681" y="3741896"/>
            <a:ext cx="321123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Plataformas como Grafana y Kibana permiten analizar y visualizar los datos almacenados.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280190" y="5647134"/>
            <a:ext cx="7556421" cy="1669852"/>
          </a:xfrm>
          <a:prstGeom prst="roundRect">
            <a:avLst>
              <a:gd name="adj" fmla="val 2038"/>
            </a:avLst>
          </a:prstGeom>
          <a:solidFill>
            <a:srgbClr val="2E2E2F"/>
          </a:solidFill>
          <a:ln/>
        </p:spPr>
      </p:sp>
      <p:sp>
        <p:nvSpPr>
          <p:cNvPr id="11" name="Text 8"/>
          <p:cNvSpPr/>
          <p:nvPr/>
        </p:nvSpPr>
        <p:spPr>
          <a:xfrm>
            <a:off x="6507004" y="5873948"/>
            <a:ext cx="391060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Procesamiento de Flujos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507004" y="6364367"/>
            <a:ext cx="710279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Herramientas como Apache Spark y Apache Flink gestionan el procesamiento en tiempo real.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67722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BF3FA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MongoDB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605111" y="1726168"/>
            <a:ext cx="30480" cy="5826085"/>
          </a:xfrm>
          <a:prstGeom prst="roundRect">
            <a:avLst>
              <a:gd name="adj" fmla="val 111628"/>
            </a:avLst>
          </a:prstGeom>
          <a:solidFill>
            <a:srgbClr val="474748"/>
          </a:solidFill>
          <a:ln/>
        </p:spPr>
      </p:sp>
      <p:sp>
        <p:nvSpPr>
          <p:cNvPr id="5" name="Shape 2"/>
          <p:cNvSpPr/>
          <p:nvPr/>
        </p:nvSpPr>
        <p:spPr>
          <a:xfrm>
            <a:off x="6845022" y="2221230"/>
            <a:ext cx="793790" cy="30480"/>
          </a:xfrm>
          <a:prstGeom prst="roundRect">
            <a:avLst>
              <a:gd name="adj" fmla="val 111628"/>
            </a:avLst>
          </a:prstGeom>
          <a:solidFill>
            <a:srgbClr val="474748"/>
          </a:solidFill>
          <a:ln/>
        </p:spPr>
      </p:sp>
      <p:sp>
        <p:nvSpPr>
          <p:cNvPr id="6" name="Shape 3"/>
          <p:cNvSpPr/>
          <p:nvPr/>
        </p:nvSpPr>
        <p:spPr>
          <a:xfrm>
            <a:off x="6365200" y="1981319"/>
            <a:ext cx="510302" cy="510302"/>
          </a:xfrm>
          <a:prstGeom prst="roundRect">
            <a:avLst>
              <a:gd name="adj" fmla="val 6667"/>
            </a:avLst>
          </a:prstGeom>
          <a:solidFill>
            <a:srgbClr val="2E2E2F"/>
          </a:solidFill>
          <a:ln/>
        </p:spPr>
      </p:sp>
      <p:sp>
        <p:nvSpPr>
          <p:cNvPr id="7" name="Text 4"/>
          <p:cNvSpPr/>
          <p:nvPr/>
        </p:nvSpPr>
        <p:spPr>
          <a:xfrm>
            <a:off x="6518196" y="2066330"/>
            <a:ext cx="204192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1</a:t>
            </a:r>
            <a:endParaRPr lang="en-US" sz="2650" dirty="0"/>
          </a:p>
        </p:txBody>
      </p:sp>
      <p:sp>
        <p:nvSpPr>
          <p:cNvPr id="8" name="Text 5"/>
          <p:cNvSpPr/>
          <p:nvPr/>
        </p:nvSpPr>
        <p:spPr>
          <a:xfrm>
            <a:off x="7867888" y="195298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Modelo de Datos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867888" y="2443401"/>
            <a:ext cx="596872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MongoDB utiliza un modelo de datos de documentos, donde la información se almacena en colecciones de documentos JSON.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845022" y="4480798"/>
            <a:ext cx="793790" cy="30480"/>
          </a:xfrm>
          <a:prstGeom prst="roundRect">
            <a:avLst>
              <a:gd name="adj" fmla="val 111628"/>
            </a:avLst>
          </a:prstGeom>
          <a:solidFill>
            <a:srgbClr val="474748"/>
          </a:solidFill>
          <a:ln/>
        </p:spPr>
      </p:sp>
      <p:sp>
        <p:nvSpPr>
          <p:cNvPr id="11" name="Shape 8"/>
          <p:cNvSpPr/>
          <p:nvPr/>
        </p:nvSpPr>
        <p:spPr>
          <a:xfrm>
            <a:off x="6365200" y="4240887"/>
            <a:ext cx="510302" cy="510302"/>
          </a:xfrm>
          <a:prstGeom prst="roundRect">
            <a:avLst>
              <a:gd name="adj" fmla="val 6667"/>
            </a:avLst>
          </a:prstGeom>
          <a:solidFill>
            <a:srgbClr val="2E2E2F"/>
          </a:solidFill>
          <a:ln/>
        </p:spPr>
      </p:sp>
      <p:sp>
        <p:nvSpPr>
          <p:cNvPr id="12" name="Text 9"/>
          <p:cNvSpPr/>
          <p:nvPr/>
        </p:nvSpPr>
        <p:spPr>
          <a:xfrm>
            <a:off x="6518196" y="4325898"/>
            <a:ext cx="204192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2</a:t>
            </a:r>
            <a:endParaRPr lang="en-US" sz="2650" dirty="0"/>
          </a:p>
        </p:txBody>
      </p:sp>
      <p:sp>
        <p:nvSpPr>
          <p:cNvPr id="13" name="Text 10"/>
          <p:cNvSpPr/>
          <p:nvPr/>
        </p:nvSpPr>
        <p:spPr>
          <a:xfrm>
            <a:off x="7867888" y="4212550"/>
            <a:ext cx="323052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Consultas Flexibles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7867888" y="4702969"/>
            <a:ext cx="596872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Permite realizar consultas complejas utilizando un lenguaje de consulta poderoso y expresivo.</a:t>
            </a:r>
            <a:endParaRPr lang="en-US" sz="1750" dirty="0"/>
          </a:p>
        </p:txBody>
      </p:sp>
      <p:sp>
        <p:nvSpPr>
          <p:cNvPr id="15" name="Shape 12"/>
          <p:cNvSpPr/>
          <p:nvPr/>
        </p:nvSpPr>
        <p:spPr>
          <a:xfrm>
            <a:off x="6845022" y="6377464"/>
            <a:ext cx="793790" cy="30480"/>
          </a:xfrm>
          <a:prstGeom prst="roundRect">
            <a:avLst>
              <a:gd name="adj" fmla="val 111628"/>
            </a:avLst>
          </a:prstGeom>
          <a:solidFill>
            <a:srgbClr val="474748"/>
          </a:solidFill>
          <a:ln/>
        </p:spPr>
      </p:sp>
      <p:sp>
        <p:nvSpPr>
          <p:cNvPr id="16" name="Shape 13"/>
          <p:cNvSpPr/>
          <p:nvPr/>
        </p:nvSpPr>
        <p:spPr>
          <a:xfrm>
            <a:off x="6365200" y="6137553"/>
            <a:ext cx="510302" cy="510302"/>
          </a:xfrm>
          <a:prstGeom prst="roundRect">
            <a:avLst>
              <a:gd name="adj" fmla="val 6667"/>
            </a:avLst>
          </a:prstGeom>
          <a:solidFill>
            <a:srgbClr val="2E2E2F"/>
          </a:solidFill>
          <a:ln/>
        </p:spPr>
      </p:sp>
      <p:sp>
        <p:nvSpPr>
          <p:cNvPr id="17" name="Text 14"/>
          <p:cNvSpPr/>
          <p:nvPr/>
        </p:nvSpPr>
        <p:spPr>
          <a:xfrm>
            <a:off x="6518196" y="6222563"/>
            <a:ext cx="204192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3</a:t>
            </a:r>
            <a:endParaRPr lang="en-US" sz="2650" dirty="0"/>
          </a:p>
        </p:txBody>
      </p:sp>
      <p:sp>
        <p:nvSpPr>
          <p:cNvPr id="18" name="Text 15"/>
          <p:cNvSpPr/>
          <p:nvPr/>
        </p:nvSpPr>
        <p:spPr>
          <a:xfrm>
            <a:off x="7867888" y="610921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Escalabilidad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7867888" y="6599634"/>
            <a:ext cx="596872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Ofrece una escalabilidad horizontal a través de un sistema de particionamiento y replicación de datos.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3019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00683" y="550545"/>
            <a:ext cx="5005149" cy="625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4900"/>
              </a:lnSpc>
              <a:buNone/>
            </a:pPr>
            <a:r>
              <a:rPr lang="en-US" sz="3900" dirty="0">
                <a:solidFill>
                  <a:srgbClr val="FBF3FA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InfluxDB</a:t>
            </a:r>
            <a:endParaRPr lang="en-US" sz="39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683" y="1476494"/>
            <a:ext cx="500420" cy="50042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00683" y="2177058"/>
            <a:ext cx="2551628" cy="312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Series Temporales</a:t>
            </a:r>
            <a:endParaRPr lang="en-US" sz="1950" dirty="0"/>
          </a:p>
        </p:txBody>
      </p:sp>
      <p:sp>
        <p:nvSpPr>
          <p:cNvPr id="6" name="Text 2"/>
          <p:cNvSpPr/>
          <p:nvPr/>
        </p:nvSpPr>
        <p:spPr>
          <a:xfrm>
            <a:off x="700683" y="2609850"/>
            <a:ext cx="7742634" cy="640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InfluxDB es una base de datos optimizada para el almacenamiento y procesamiento de datos de series temporales.</a:t>
            </a:r>
            <a:endParaRPr lang="en-US" sz="15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683" y="3851196"/>
            <a:ext cx="500420" cy="50042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00683" y="4551759"/>
            <a:ext cx="3001804" cy="312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Análisis de Métricas</a:t>
            </a:r>
            <a:endParaRPr lang="en-US" sz="1950" dirty="0"/>
          </a:p>
        </p:txBody>
      </p:sp>
      <p:sp>
        <p:nvSpPr>
          <p:cNvPr id="9" name="Text 4"/>
          <p:cNvSpPr/>
          <p:nvPr/>
        </p:nvSpPr>
        <p:spPr>
          <a:xfrm>
            <a:off x="700683" y="4984552"/>
            <a:ext cx="7742634" cy="640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Permite realizar análisis avanzados de métricas en tiempo real, como monitoreo de sistemas y IoT.</a:t>
            </a:r>
            <a:endParaRPr lang="en-US" sz="15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683" y="6225897"/>
            <a:ext cx="500420" cy="5004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00683" y="6926461"/>
            <a:ext cx="2502575" cy="312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Escalabilidad</a:t>
            </a:r>
            <a:endParaRPr lang="en-US" sz="1950" dirty="0"/>
          </a:p>
        </p:txBody>
      </p:sp>
      <p:sp>
        <p:nvSpPr>
          <p:cNvPr id="12" name="Text 6"/>
          <p:cNvSpPr/>
          <p:nvPr/>
        </p:nvSpPr>
        <p:spPr>
          <a:xfrm>
            <a:off x="700683" y="7359253"/>
            <a:ext cx="7742634" cy="320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Ofrece una escalabilidad y alta disponibilidad gracias a su arquitectura distribuida.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97416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BF3FA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Redis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2023110"/>
            <a:ext cx="7556421" cy="5232321"/>
          </a:xfrm>
          <a:prstGeom prst="roundRect">
            <a:avLst>
              <a:gd name="adj" fmla="val 650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01410" y="2030730"/>
            <a:ext cx="7541181" cy="137612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1028224" y="2174438"/>
            <a:ext cx="33131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Estructuras de Datos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4802624" y="2174438"/>
            <a:ext cx="331315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Redis soporta una variedad de estructuras de datos, como listas, conjuntos, hashes y más.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801410" y="3406854"/>
            <a:ext cx="7541181" cy="210192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1028224" y="3550563"/>
            <a:ext cx="33131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Rendimiento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4802624" y="3550563"/>
            <a:ext cx="3313152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Es una base de datos en memoria que ofrece un rendimiento extremadamente alto para operaciones de lectura y escritura.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801410" y="5508784"/>
            <a:ext cx="7541181" cy="173902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1028224" y="5652492"/>
            <a:ext cx="33131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Caching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4802624" y="5652492"/>
            <a:ext cx="3313152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Comúnmente utilizado como capa de caché para mejorar el rendimiento de aplicaciones web y móviles.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21730" y="678418"/>
            <a:ext cx="7673340" cy="13132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150"/>
              </a:lnSpc>
              <a:buNone/>
            </a:pPr>
            <a:r>
              <a:rPr lang="en-US" sz="4100" dirty="0">
                <a:solidFill>
                  <a:srgbClr val="FBF3FA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Conclusiones y próximos pasos</a:t>
            </a:r>
            <a:endParaRPr lang="en-US" sz="41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1730" y="2306717"/>
            <a:ext cx="1050488" cy="168068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587258" y="2516743"/>
            <a:ext cx="2835473" cy="328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Adopción creciente</a:t>
            </a:r>
            <a:endParaRPr lang="en-US" sz="2050" dirty="0"/>
          </a:p>
        </p:txBody>
      </p:sp>
      <p:sp>
        <p:nvSpPr>
          <p:cNvPr id="6" name="Text 2"/>
          <p:cNvSpPr/>
          <p:nvPr/>
        </p:nvSpPr>
        <p:spPr>
          <a:xfrm>
            <a:off x="7587258" y="2970967"/>
            <a:ext cx="6307812" cy="672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Las bases de datos NoSQL han ganado una creciente adopción en diversos sectores y aplicaciones.</a:t>
            </a:r>
            <a:endParaRPr lang="en-US" sz="16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1730" y="3987403"/>
            <a:ext cx="1050488" cy="188297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587258" y="4197429"/>
            <a:ext cx="3308033" cy="328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Integración con IA/ML</a:t>
            </a:r>
            <a:endParaRPr lang="en-US" sz="2050" dirty="0"/>
          </a:p>
        </p:txBody>
      </p:sp>
      <p:sp>
        <p:nvSpPr>
          <p:cNvPr id="9" name="Text 4"/>
          <p:cNvSpPr/>
          <p:nvPr/>
        </p:nvSpPr>
        <p:spPr>
          <a:xfrm>
            <a:off x="7587258" y="4651653"/>
            <a:ext cx="6307812" cy="1008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La combinación de bases de datos NoSQL y tecnologías de inteligencia artificial/aprendizaje automático abre nuevas posibilidades.</a:t>
            </a:r>
            <a:endParaRPr lang="en-US" sz="16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1730" y="5870377"/>
            <a:ext cx="1050488" cy="168068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587258" y="6080403"/>
            <a:ext cx="2626162" cy="328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Futura evolución</a:t>
            </a:r>
            <a:endParaRPr lang="en-US" sz="2050" dirty="0"/>
          </a:p>
        </p:txBody>
      </p:sp>
      <p:sp>
        <p:nvSpPr>
          <p:cNvPr id="12" name="Text 6"/>
          <p:cNvSpPr/>
          <p:nvPr/>
        </p:nvSpPr>
        <p:spPr>
          <a:xfrm>
            <a:off x="7587258" y="6534626"/>
            <a:ext cx="6307812" cy="672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Seguiremos viendo innovaciones y mejoras en las plataformas NoSQL para satisfacer las necesidades cambiantes.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2024-11-04T20:13:21Z</dcterms:created>
  <dcterms:modified xsi:type="dcterms:W3CDTF">2024-11-04T20:13:21Z</dcterms:modified>
</cp:coreProperties>
</file>