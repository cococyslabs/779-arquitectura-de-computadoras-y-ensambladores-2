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10287000" cx="18288000"/>
  <p:notesSz cx="6858000" cy="9144000"/>
  <p:embeddedFontLst>
    <p:embeddedFont>
      <p:font typeface="Montserrat SemiBold"/>
      <p:regular r:id="rId55"/>
      <p:bold r:id="rId56"/>
      <p:italic r:id="rId57"/>
      <p:boldItalic r:id="rId58"/>
    </p:embeddedFont>
    <p:embeddedFont>
      <p:font typeface="Raleway"/>
      <p:regular r:id="rId59"/>
      <p:bold r:id="rId60"/>
      <p:italic r:id="rId61"/>
      <p:boldItalic r:id="rId62"/>
    </p:embeddedFont>
    <p:embeddedFont>
      <p:font typeface="Montserrat Black"/>
      <p:bold r:id="rId63"/>
      <p:boldItalic r:id="rId64"/>
    </p:embeddedFont>
    <p:embeddedFont>
      <p:font typeface="Montserrat"/>
      <p:bold r:id="rId65"/>
      <p:boldItalic r:id="rId66"/>
    </p:embeddedFont>
    <p:embeddedFont>
      <p:font typeface="DM Sans"/>
      <p:bold r:id="rId67"/>
      <p:boldItalic r:id="rId68"/>
    </p:embeddedFont>
    <p:embeddedFont>
      <p:font typeface="Open Sans"/>
      <p:bold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1" roundtripDataSignature="AMtx7miKYLx4nQq0wkuVPliINKaLWp0O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OpenSans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aleway-boldItalic.fntdata"/><Relationship Id="rId61" Type="http://schemas.openxmlformats.org/officeDocument/2006/relationships/font" Target="fonts/Raleway-italic.fntdata"/><Relationship Id="rId20" Type="http://schemas.openxmlformats.org/officeDocument/2006/relationships/slide" Target="slides/slide15.xml"/><Relationship Id="rId64" Type="http://schemas.openxmlformats.org/officeDocument/2006/relationships/font" Target="fonts/MontserratBlack-boldItalic.fntdata"/><Relationship Id="rId63" Type="http://schemas.openxmlformats.org/officeDocument/2006/relationships/font" Target="fonts/MontserratBlack-bold.fntdata"/><Relationship Id="rId22" Type="http://schemas.openxmlformats.org/officeDocument/2006/relationships/slide" Target="slides/slide17.xml"/><Relationship Id="rId66" Type="http://schemas.openxmlformats.org/officeDocument/2006/relationships/font" Target="fonts/Montserrat-bold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DMSans-boldItalic.fntdata"/><Relationship Id="rId23" Type="http://schemas.openxmlformats.org/officeDocument/2006/relationships/slide" Target="slides/slide18.xml"/><Relationship Id="rId67" Type="http://schemas.openxmlformats.org/officeDocument/2006/relationships/font" Target="fonts/DMSans-bold.fntdata"/><Relationship Id="rId60" Type="http://schemas.openxmlformats.org/officeDocument/2006/relationships/font" Target="fonts/Raleway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penSan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MontserratSemiBold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MontserratSemiBold-italic.fntdata"/><Relationship Id="rId12" Type="http://schemas.openxmlformats.org/officeDocument/2006/relationships/slide" Target="slides/slide7.xml"/><Relationship Id="rId56" Type="http://schemas.openxmlformats.org/officeDocument/2006/relationships/font" Target="fonts/MontserratSemiBold-bold.fntdata"/><Relationship Id="rId15" Type="http://schemas.openxmlformats.org/officeDocument/2006/relationships/slide" Target="slides/slide10.xml"/><Relationship Id="rId59" Type="http://schemas.openxmlformats.org/officeDocument/2006/relationships/font" Target="fonts/Raleway-regular.fntdata"/><Relationship Id="rId14" Type="http://schemas.openxmlformats.org/officeDocument/2006/relationships/slide" Target="slides/slide9.xml"/><Relationship Id="rId58" Type="http://schemas.openxmlformats.org/officeDocument/2006/relationships/font" Target="fonts/Montserrat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819f0034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2d819f00341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819f0034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d819f00341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19f0034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2d819f00341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d819f0034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2d819f00341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819f00341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d819f00341_0_2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819f00341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d819f00341_0_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d819f00341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d819f00341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d819f0034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2d819f00341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d819f003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d819f0034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d819f0034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d819f00341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d819f00341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d819f00341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819f0034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2d819f00341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d819f0034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2d819f00341_0_1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819f00341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2d819f00341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819f0034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2d819f00341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d819f0034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2d819f00341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d819f003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2d819f0034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83eb00d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2d83eb00d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d819f00341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2d819f00341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d819f0034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2d819f00341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jpg"/><Relationship Id="rId8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8.png"/><Relationship Id="rId6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5.png"/><Relationship Id="rId6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54.png"/><Relationship Id="rId13" Type="http://schemas.openxmlformats.org/officeDocument/2006/relationships/image" Target="../media/image68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41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44.png"/><Relationship Id="rId5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4.png"/><Relationship Id="rId6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7.png"/><Relationship Id="rId6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6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9.png"/><Relationship Id="rId6" Type="http://schemas.openxmlformats.org/officeDocument/2006/relationships/image" Target="../media/image65.png"/><Relationship Id="rId7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6.png"/><Relationship Id="rId6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1756814" y="-548268"/>
            <a:ext cx="6531186" cy="11786439"/>
            <a:chOff x="0" y="-38100"/>
            <a:chExt cx="1720148" cy="310424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2885966" y="2345777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Bienvenidos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5146982" y="7250190"/>
            <a:ext cx="9680270" cy="483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industria 4.0, Automatización y IoT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4355341" y="3559037"/>
            <a:ext cx="10471911" cy="274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41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Arquitectura de Computadores y Ensambladores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11756814" y="-548268"/>
            <a:ext cx="6531186" cy="11786439"/>
            <a:chOff x="0" y="-38100"/>
            <a:chExt cx="1720148" cy="3104247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3087479" y="2896515"/>
            <a:ext cx="11491619" cy="2282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 de Computadores y Ensambladores 2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146982" y="7250190"/>
            <a:ext cx="9680270" cy="483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82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industria 4.0, Automatización y IoT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348745" y="5400675"/>
            <a:ext cx="9506012" cy="1427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62" u="none" cap="none" strike="noStrike">
                <a:solidFill>
                  <a:srgbClr val="36E9FD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Lab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3"/>
          <p:cNvGrpSpPr/>
          <p:nvPr/>
        </p:nvGrpSpPr>
        <p:grpSpPr>
          <a:xfrm>
            <a:off x="11290946" y="-488497"/>
            <a:ext cx="6531186" cy="11786439"/>
            <a:chOff x="0" y="-38100"/>
            <a:chExt cx="1720148" cy="3104247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720148" cy="3066147"/>
            </a:xfrm>
            <a:custGeom>
              <a:rect b="b" l="l" r="r" t="t"/>
              <a:pathLst>
                <a:path extrusionOk="0" h="3066147" w="1720148">
                  <a:moveTo>
                    <a:pt x="0" y="0"/>
                  </a:moveTo>
                  <a:lnTo>
                    <a:pt x="1720148" y="0"/>
                  </a:lnTo>
                  <a:lnTo>
                    <a:pt x="1720148" y="3066147"/>
                  </a:lnTo>
                  <a:lnTo>
                    <a:pt x="0" y="3066147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720148" cy="31042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3"/>
          <p:cNvSpPr/>
          <p:nvPr/>
        </p:nvSpPr>
        <p:spPr>
          <a:xfrm rot="674092">
            <a:off x="-3513169" y="8339629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 rot="-9971081">
            <a:off x="1076036" y="-481941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 rotWithShape="1">
            <a:blip r:embed="rId3">
              <a:alphaModFix amt="4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1028700" y="911969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39"/>
                </a:lnTo>
                <a:lnTo>
                  <a:pt x="0" y="595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3064920" y="2270716"/>
            <a:ext cx="11491619" cy="79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79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Listado de Actividades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010107" y="1085859"/>
            <a:ext cx="6621669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3508961" y="3933753"/>
            <a:ext cx="15563969" cy="410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05532" lvl="1" marL="1211065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9"/>
              <a:buFont typeface="DM Sans"/>
              <a:buAutoNum type="arabicPeriod"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Presentación Auxiliares </a:t>
            </a:r>
            <a:endParaRPr/>
          </a:p>
          <a:p>
            <a:pPr indent="-605532" lvl="1" marL="1211065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9"/>
              <a:buFont typeface="DM Sans"/>
              <a:buAutoNum type="arabicPeriod"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Breve Introducción al curso </a:t>
            </a:r>
            <a:endParaRPr/>
          </a:p>
          <a:p>
            <a:pPr indent="-605532" lvl="1" marL="1211065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9"/>
              <a:buFont typeface="DM Sans"/>
              <a:buAutoNum type="arabicPeriod"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Lectura del Programa </a:t>
            </a:r>
            <a:endParaRPr/>
          </a:p>
          <a:p>
            <a:pPr indent="-605532" lvl="1" marL="1211065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9"/>
              <a:buFont typeface="DM Sans"/>
              <a:buAutoNum type="arabicPeriod"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Creación de Grupos </a:t>
            </a:r>
            <a:endParaRPr/>
          </a:p>
          <a:p>
            <a:pPr indent="-605532" lvl="1" marL="1211065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9"/>
              <a:buFont typeface="DM Sans"/>
              <a:buAutoNum type="arabicPeriod"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Repaso de Arqui 1 </a:t>
            </a:r>
            <a:endParaRPr/>
          </a:p>
          <a:p>
            <a:pPr indent="0" lvl="0" marL="0" marR="0" rtl="0" algn="l">
              <a:lnSpc>
                <a:spcPct val="94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0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(Introducción a Arduino)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 flipH="1" rot="-9227707">
            <a:off x="8920761" y="-3494855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0"/>
                </a:moveTo>
                <a:lnTo>
                  <a:pt x="19149891" y="6989710"/>
                </a:lnTo>
                <a:lnTo>
                  <a:pt x="19149891" y="0"/>
                </a:lnTo>
                <a:lnTo>
                  <a:pt x="0" y="0"/>
                </a:lnTo>
                <a:lnTo>
                  <a:pt x="0" y="698971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4"/>
          <p:cNvSpPr/>
          <p:nvPr/>
        </p:nvSpPr>
        <p:spPr>
          <a:xfrm>
            <a:off x="10045519" y="1028700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6" y="0"/>
                </a:lnTo>
                <a:lnTo>
                  <a:pt x="658166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11016816" y="1202581"/>
            <a:ext cx="6757025" cy="591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86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6143457" y="4690835"/>
            <a:ext cx="7366041" cy="1105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72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Auxiliares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 rot="-1314761">
            <a:off x="8683260" y="741946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5"/>
          <p:cNvSpPr/>
          <p:nvPr/>
        </p:nvSpPr>
        <p:spPr>
          <a:xfrm>
            <a:off x="2701455" y="3765106"/>
            <a:ext cx="2291887" cy="2291887"/>
          </a:xfrm>
          <a:custGeom>
            <a:rect b="b" l="l" r="r" t="t"/>
            <a:pathLst>
              <a:path extrusionOk="0" h="2291887" w="2291887">
                <a:moveTo>
                  <a:pt x="0" y="0"/>
                </a:moveTo>
                <a:lnTo>
                  <a:pt x="2291887" y="0"/>
                </a:lnTo>
                <a:lnTo>
                  <a:pt x="2291887" y="2291886"/>
                </a:lnTo>
                <a:lnTo>
                  <a:pt x="0" y="2291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5"/>
          <p:cNvSpPr/>
          <p:nvPr/>
        </p:nvSpPr>
        <p:spPr>
          <a:xfrm>
            <a:off x="7722650" y="3765106"/>
            <a:ext cx="2431346" cy="2444681"/>
          </a:xfrm>
          <a:custGeom>
            <a:rect b="b" l="l" r="r" t="t"/>
            <a:pathLst>
              <a:path extrusionOk="0" h="2444681" w="2431346">
                <a:moveTo>
                  <a:pt x="0" y="0"/>
                </a:moveTo>
                <a:lnTo>
                  <a:pt x="2431346" y="0"/>
                </a:lnTo>
                <a:lnTo>
                  <a:pt x="2431346" y="2444681"/>
                </a:lnTo>
                <a:lnTo>
                  <a:pt x="0" y="2444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5"/>
          <p:cNvSpPr/>
          <p:nvPr/>
        </p:nvSpPr>
        <p:spPr>
          <a:xfrm>
            <a:off x="13232775" y="4098647"/>
            <a:ext cx="2186039" cy="2150267"/>
          </a:xfrm>
          <a:custGeom>
            <a:rect b="b" l="l" r="r" t="t"/>
            <a:pathLst>
              <a:path extrusionOk="0" h="2150267" w="2186039">
                <a:moveTo>
                  <a:pt x="0" y="0"/>
                </a:moveTo>
                <a:lnTo>
                  <a:pt x="2186039" y="0"/>
                </a:lnTo>
                <a:lnTo>
                  <a:pt x="2186039" y="2150267"/>
                </a:lnTo>
                <a:lnTo>
                  <a:pt x="0" y="2150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4336957" y="1808664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ACE2 se Basa en:</a:t>
            </a: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1629535" y="6130280"/>
            <a:ext cx="4435726" cy="1115104"/>
            <a:chOff x="0" y="-38100"/>
            <a:chExt cx="1768157" cy="444500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1768157" cy="406400"/>
            </a:xfrm>
            <a:custGeom>
              <a:rect b="b" l="l" r="r" t="t"/>
              <a:pathLst>
                <a:path extrusionOk="0"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5"/>
          <p:cNvSpPr txBox="1"/>
          <p:nvPr/>
        </p:nvSpPr>
        <p:spPr>
          <a:xfrm>
            <a:off x="1770446" y="6657282"/>
            <a:ext cx="4153906" cy="339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3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OF THINGS</a:t>
            </a:r>
            <a:endParaRPr/>
          </a:p>
        </p:txBody>
      </p:sp>
      <p:grpSp>
        <p:nvGrpSpPr>
          <p:cNvPr id="146" name="Google Shape;146;p5"/>
          <p:cNvGrpSpPr/>
          <p:nvPr/>
        </p:nvGrpSpPr>
        <p:grpSpPr>
          <a:xfrm>
            <a:off x="6821610" y="6236864"/>
            <a:ext cx="4233426" cy="1064248"/>
            <a:chOff x="0" y="-38100"/>
            <a:chExt cx="1768157" cy="444500"/>
          </a:xfrm>
        </p:grpSpPr>
        <p:sp>
          <p:nvSpPr>
            <p:cNvPr id="147" name="Google Shape;147;p5"/>
            <p:cNvSpPr/>
            <p:nvPr/>
          </p:nvSpPr>
          <p:spPr>
            <a:xfrm>
              <a:off x="0" y="0"/>
              <a:ext cx="1768157" cy="406400"/>
            </a:xfrm>
            <a:custGeom>
              <a:rect b="b" l="l" r="r" t="t"/>
              <a:pathLst>
                <a:path extrusionOk="0"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5"/>
          <p:cNvSpPr txBox="1"/>
          <p:nvPr/>
        </p:nvSpPr>
        <p:spPr>
          <a:xfrm>
            <a:off x="7011397" y="6635876"/>
            <a:ext cx="3853852" cy="441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34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INDUSTRIA</a:t>
            </a:r>
            <a:endParaRPr/>
          </a:p>
        </p:txBody>
      </p:sp>
      <p:grpSp>
        <p:nvGrpSpPr>
          <p:cNvPr id="150" name="Google Shape;150;p5"/>
          <p:cNvGrpSpPr/>
          <p:nvPr/>
        </p:nvGrpSpPr>
        <p:grpSpPr>
          <a:xfrm>
            <a:off x="11472993" y="6275020"/>
            <a:ext cx="6030395" cy="1026092"/>
            <a:chOff x="0" y="-38100"/>
            <a:chExt cx="2612351" cy="444500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2612351" cy="406400"/>
            </a:xfrm>
            <a:custGeom>
              <a:rect b="b" l="l" r="r" t="t"/>
              <a:pathLst>
                <a:path extrusionOk="0" h="406400" w="2612351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5"/>
          <p:cNvSpPr txBox="1"/>
          <p:nvPr/>
        </p:nvSpPr>
        <p:spPr>
          <a:xfrm>
            <a:off x="11696637" y="6653276"/>
            <a:ext cx="5525233" cy="4318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7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AUTOMATIZACIÓN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819f00341_0_22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g2d819f00341_0_22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g2d819f00341_0_2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g2d819f00341_0_22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62" name="Google Shape;162;g2d819f00341_0_22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63" name="Google Shape;163;g2d819f00341_0_22"/>
          <p:cNvSpPr txBox="1"/>
          <p:nvPr/>
        </p:nvSpPr>
        <p:spPr>
          <a:xfrm>
            <a:off x="3401473" y="1599125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164" name="Google Shape;164;g2d819f00341_0_22"/>
          <p:cNvSpPr txBox="1"/>
          <p:nvPr/>
        </p:nvSpPr>
        <p:spPr>
          <a:xfrm>
            <a:off x="8183804" y="4288150"/>
            <a:ext cx="87303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5" name="Google Shape;165;g2d819f00341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600" y="3061475"/>
            <a:ext cx="9872551" cy="60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819f00341_0_134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g2d819f00341_0_134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g2d819f00341_0_13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g2d819f00341_0_134"/>
          <p:cNvSpPr/>
          <p:nvPr/>
        </p:nvSpPr>
        <p:spPr>
          <a:xfrm>
            <a:off x="1503205" y="3359631"/>
            <a:ext cx="2291887" cy="2291887"/>
          </a:xfrm>
          <a:custGeom>
            <a:rect b="b" l="l" r="r" t="t"/>
            <a:pathLst>
              <a:path extrusionOk="0" h="2291887" w="2291887">
                <a:moveTo>
                  <a:pt x="0" y="0"/>
                </a:moveTo>
                <a:lnTo>
                  <a:pt x="2291887" y="0"/>
                </a:lnTo>
                <a:lnTo>
                  <a:pt x="2291887" y="2291886"/>
                </a:lnTo>
                <a:lnTo>
                  <a:pt x="0" y="2291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2d819f00341_0_134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75" name="Google Shape;175;g2d819f00341_0_134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6" name="Google Shape;176;g2d819f00341_0_134"/>
          <p:cNvSpPr txBox="1"/>
          <p:nvPr/>
        </p:nvSpPr>
        <p:spPr>
          <a:xfrm>
            <a:off x="3401473" y="1599125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grpSp>
        <p:nvGrpSpPr>
          <p:cNvPr id="177" name="Google Shape;177;g2d819f00341_0_134"/>
          <p:cNvGrpSpPr/>
          <p:nvPr/>
        </p:nvGrpSpPr>
        <p:grpSpPr>
          <a:xfrm>
            <a:off x="747785" y="6130279"/>
            <a:ext cx="4435883" cy="1115368"/>
            <a:chOff x="0" y="-38100"/>
            <a:chExt cx="1768200" cy="444600"/>
          </a:xfrm>
        </p:grpSpPr>
        <p:sp>
          <p:nvSpPr>
            <p:cNvPr id="178" name="Google Shape;178;g2d819f00341_0_134"/>
            <p:cNvSpPr/>
            <p:nvPr/>
          </p:nvSpPr>
          <p:spPr>
            <a:xfrm>
              <a:off x="0" y="0"/>
              <a:ext cx="1768157" cy="406400"/>
            </a:xfrm>
            <a:custGeom>
              <a:rect b="b" l="l" r="r" t="t"/>
              <a:pathLst>
                <a:path extrusionOk="0" h="406400" w="1768157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>
              <a:gsLst>
                <a:gs pos="0">
                  <a:srgbClr val="032A64"/>
                </a:gs>
                <a:gs pos="100000">
                  <a:srgbClr val="414C94"/>
                </a:gs>
              </a:gsLst>
              <a:lin ang="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2d819f00341_0_134"/>
            <p:cNvSpPr txBox="1"/>
            <p:nvPr/>
          </p:nvSpPr>
          <p:spPr>
            <a:xfrm>
              <a:off x="0" y="-38100"/>
              <a:ext cx="17682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g2d819f00341_0_134"/>
          <p:cNvSpPr txBox="1"/>
          <p:nvPr/>
        </p:nvSpPr>
        <p:spPr>
          <a:xfrm>
            <a:off x="888821" y="6493270"/>
            <a:ext cx="41538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63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OF THINGS</a:t>
            </a:r>
            <a:endParaRPr/>
          </a:p>
        </p:txBody>
      </p:sp>
      <p:sp>
        <p:nvSpPr>
          <p:cNvPr id="181" name="Google Shape;181;g2d819f00341_0_134"/>
          <p:cNvSpPr txBox="1"/>
          <p:nvPr/>
        </p:nvSpPr>
        <p:spPr>
          <a:xfrm>
            <a:off x="8183804" y="4288150"/>
            <a:ext cx="8730300" cy="27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Internet de las cosas (IoT) es una red de objetos físicos que se conectan a internet y pueden enviar y recibir datos. Los dispositivos IoT están equipados con sensores y otras tecnologías que les permiten comunicarse con otros dispositivos y sistemas</a:t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819f00341_0_150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g2d819f00341_0_150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g2d819f00341_0_15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g2d819f00341_0_150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190" name="Google Shape;190;g2d819f00341_0_150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91" name="Google Shape;191;g2d819f00341_0_150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192" name="Google Shape;192;g2d819f00341_0_150"/>
          <p:cNvSpPr txBox="1"/>
          <p:nvPr/>
        </p:nvSpPr>
        <p:spPr>
          <a:xfrm>
            <a:off x="9171979" y="2210050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93" name="Google Shape;193;g2d819f00341_0_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700" y="2089775"/>
            <a:ext cx="7267800" cy="762034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d819f00341_0_150"/>
          <p:cNvSpPr txBox="1"/>
          <p:nvPr/>
        </p:nvSpPr>
        <p:spPr>
          <a:xfrm>
            <a:off x="9676575" y="2311350"/>
            <a:ext cx="6493200" cy="6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La producción agrícola enfrenta pérdidas significativas debido a la proliferación descontrolada de plagas, especialmente porque estas suelen ser detectadas tarde, una vez que ya han causado daño sustancial. Los métodos tradicionales de monitoreo y control de plagas presentan limitaciones:</a:t>
            </a:r>
            <a:endParaRPr sz="24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400">
                <a:solidFill>
                  <a:schemeClr val="lt1"/>
                </a:solidFill>
              </a:rPr>
              <a:t>Inspección manual ineficiente.</a:t>
            </a:r>
            <a:endParaRPr sz="24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400">
                <a:solidFill>
                  <a:schemeClr val="lt1"/>
                </a:solidFill>
              </a:rPr>
              <a:t>Uso excesivo de pesticidas, causando daño ambiental y residuos en cultivos.</a:t>
            </a:r>
            <a:endParaRPr sz="2400">
              <a:solidFill>
                <a:schemeClr val="lt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en-US" sz="2400">
                <a:solidFill>
                  <a:schemeClr val="lt1"/>
                </a:solidFill>
              </a:rPr>
              <a:t>Falta de precisión en la ubicación y control de las plagas.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lt1"/>
                </a:solidFill>
              </a:rPr>
              <a:t>Esto conlleva a una mayor demanda de mano de obra, menor productividad agrícola y un impacto ambiental negativo.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d819f00341_0_214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g2d819f00341_0_214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g2d819f00341_0_21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g2d819f00341_0_214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03" name="Google Shape;203;g2d819f00341_0_214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4" name="Google Shape;204;g2d819f00341_0_214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205" name="Google Shape;205;g2d819f00341_0_214"/>
          <p:cNvSpPr txBox="1"/>
          <p:nvPr/>
        </p:nvSpPr>
        <p:spPr>
          <a:xfrm>
            <a:off x="9171979" y="2210050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06" name="Google Shape;206;g2d819f00341_0_2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3825" y="2451018"/>
            <a:ext cx="14573175" cy="67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819f00341_0_228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g2d819f00341_0_228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g2d819f00341_0_22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g2d819f00341_0_228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15" name="Google Shape;215;g2d819f00341_0_228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16" name="Google Shape;216;g2d819f00341_0_228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217" name="Google Shape;217;g2d819f00341_0_228"/>
          <p:cNvSpPr txBox="1"/>
          <p:nvPr/>
        </p:nvSpPr>
        <p:spPr>
          <a:xfrm>
            <a:off x="9239804" y="2187425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8" name="Google Shape;218;g2d819f00341_0_2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0725" y="2496245"/>
            <a:ext cx="6887974" cy="70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2d819f00341_0_2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77153" y="2606353"/>
            <a:ext cx="6069991" cy="720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d819f00341_0_241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g2d819f00341_0_241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g2d819f00341_0_24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g2d819f00341_0_241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28" name="Google Shape;228;g2d819f00341_0_241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9" name="Google Shape;229;g2d819f00341_0_241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230" name="Google Shape;230;g2d819f00341_0_241"/>
          <p:cNvSpPr txBox="1"/>
          <p:nvPr/>
        </p:nvSpPr>
        <p:spPr>
          <a:xfrm>
            <a:off x="9239804" y="2187425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1" name="Google Shape;231;g2d819f00341_0_241"/>
          <p:cNvPicPr preferRelativeResize="0"/>
          <p:nvPr/>
        </p:nvPicPr>
        <p:blipFill rotWithShape="1">
          <a:blip r:embed="rId5">
            <a:alphaModFix/>
          </a:blip>
          <a:srcRect b="0" l="0" r="0" t="54718"/>
          <a:stretch/>
        </p:blipFill>
        <p:spPr>
          <a:xfrm>
            <a:off x="2325575" y="2339249"/>
            <a:ext cx="13636849" cy="73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819f00341_0_254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g2d819f00341_0_254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g2d819f00341_0_25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g2d819f00341_0_254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40" name="Google Shape;240;g2d819f00341_0_254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41" name="Google Shape;241;g2d819f00341_0_254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242" name="Google Shape;242;g2d819f00341_0_254"/>
          <p:cNvSpPr txBox="1"/>
          <p:nvPr/>
        </p:nvSpPr>
        <p:spPr>
          <a:xfrm>
            <a:off x="9239804" y="2187425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43" name="Google Shape;243;g2d819f00341_0_2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437" y="2791425"/>
            <a:ext cx="9150887" cy="61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2d819f00341_0_2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93300" y="2791425"/>
            <a:ext cx="9294066" cy="61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819f00341_0_267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g2d819f00341_0_267"/>
          <p:cNvSpPr/>
          <p:nvPr/>
        </p:nvSpPr>
        <p:spPr>
          <a:xfrm flipH="1" rot="-9225302">
            <a:off x="3666310" y="-540683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g2d819f00341_0_26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g2d819f00341_0_267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53" name="Google Shape;253;g2d819f00341_0_267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54" name="Google Shape;254;g2d819f00341_0_267"/>
          <p:cNvSpPr txBox="1"/>
          <p:nvPr/>
        </p:nvSpPr>
        <p:spPr>
          <a:xfrm>
            <a:off x="9239804" y="2187425"/>
            <a:ext cx="87303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just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6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ctr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63">
              <a:solidFill>
                <a:srgbClr val="36E9FD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55" name="Google Shape;255;g2d819f00341_0_2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3200" y="2187426"/>
            <a:ext cx="9341950" cy="64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2d819f00341_0_2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62855" y="891030"/>
            <a:ext cx="6412475" cy="87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d819f00341_0_69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2" name="Google Shape;262;g2d819f00341_0_69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g2d819f00341_0_6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g2d819f00341_0_69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65" name="Google Shape;265;g2d819f00341_0_69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6" name="Google Shape;266;g2d819f00341_0_69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pic>
        <p:nvPicPr>
          <p:cNvPr id="267" name="Google Shape;267;g2d819f00341_0_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000" y="2184837"/>
            <a:ext cx="7795774" cy="24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2d819f00341_0_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1676" y="2994925"/>
            <a:ext cx="8879580" cy="64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2d819f00341_0_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000" y="4673150"/>
            <a:ext cx="10242951" cy="21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819f00341_0_121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2d819f00341_0_121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g2d819f00341_0_12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g2d819f00341_0_121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78" name="Google Shape;278;g2d819f00341_0_121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79" name="Google Shape;279;g2d819f00341_0_121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pic>
        <p:nvPicPr>
          <p:cNvPr id="280" name="Google Shape;280;g2d819f00341_0_1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554750"/>
            <a:ext cx="15323900" cy="70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d819f00341_0_318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g2d819f00341_0_318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g2d819f00341_0_31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g2d819f00341_0_318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289" name="Google Shape;289;g2d819f00341_0_318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90" name="Google Shape;290;g2d819f00341_0_318"/>
          <p:cNvSpPr txBox="1"/>
          <p:nvPr/>
        </p:nvSpPr>
        <p:spPr>
          <a:xfrm>
            <a:off x="3401473" y="96420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pic>
        <p:nvPicPr>
          <p:cNvPr id="291" name="Google Shape;291;g2d819f00341_0_3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801" y="6913775"/>
            <a:ext cx="4968749" cy="184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2d819f00341_0_3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01600" y="8690125"/>
            <a:ext cx="18491223" cy="15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g2d819f00341_0_3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5618" y="2344863"/>
            <a:ext cx="4153456" cy="311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2d819f00341_0_3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8238" y="2421052"/>
            <a:ext cx="2962680" cy="296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2d819f00341_0_3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81466" y="2421052"/>
            <a:ext cx="8320001" cy="52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d819f00341_0_51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g2d819f00341_0_51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g2d819f00341_0_5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g2d819f00341_0_51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04" name="Google Shape;304;g2d819f00341_0_51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05" name="Google Shape;305;g2d819f00341_0_51"/>
          <p:cNvSpPr txBox="1"/>
          <p:nvPr/>
        </p:nvSpPr>
        <p:spPr>
          <a:xfrm>
            <a:off x="3514498" y="118315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306" name="Google Shape;306;g2d819f00341_0_51"/>
          <p:cNvSpPr txBox="1"/>
          <p:nvPr/>
        </p:nvSpPr>
        <p:spPr>
          <a:xfrm>
            <a:off x="544301" y="2437219"/>
            <a:ext cx="4705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¿Cómo se conectan?</a:t>
            </a:r>
            <a:endParaRPr sz="2100"/>
          </a:p>
        </p:txBody>
      </p:sp>
      <p:sp>
        <p:nvSpPr>
          <p:cNvPr id="307" name="Google Shape;307;g2d819f00341_0_51"/>
          <p:cNvSpPr txBox="1"/>
          <p:nvPr/>
        </p:nvSpPr>
        <p:spPr>
          <a:xfrm>
            <a:off x="2219250" y="3041800"/>
            <a:ext cx="65175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WANs (Wireless Area Network) 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		 Redes Inalámbricas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8" name="Google Shape;308;g2d819f00341_0_51"/>
          <p:cNvSpPr txBox="1"/>
          <p:nvPr/>
        </p:nvSpPr>
        <p:spPr>
          <a:xfrm>
            <a:off x="189650" y="4743125"/>
            <a:ext cx="63390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¿Cómo se comportan?</a:t>
            </a:r>
            <a:endParaRPr sz="2100"/>
          </a:p>
        </p:txBody>
      </p:sp>
      <p:sp>
        <p:nvSpPr>
          <p:cNvPr id="309" name="Google Shape;309;g2d819f00341_0_51"/>
          <p:cNvSpPr txBox="1"/>
          <p:nvPr/>
        </p:nvSpPr>
        <p:spPr>
          <a:xfrm>
            <a:off x="1901100" y="5150088"/>
            <a:ext cx="6517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Protocolos de comunicación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0" name="Google Shape;310;g2d819f00341_0_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9800" y="2527675"/>
            <a:ext cx="8725825" cy="70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d819f00341_0_51"/>
          <p:cNvSpPr txBox="1"/>
          <p:nvPr/>
        </p:nvSpPr>
        <p:spPr>
          <a:xfrm>
            <a:off x="189650" y="6274675"/>
            <a:ext cx="77733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¿Dónde se guardan los datos?</a:t>
            </a:r>
            <a:endParaRPr sz="2100"/>
          </a:p>
        </p:txBody>
      </p:sp>
      <p:sp>
        <p:nvSpPr>
          <p:cNvPr id="312" name="Google Shape;312;g2d819f00341_0_51"/>
          <p:cNvSpPr txBox="1"/>
          <p:nvPr/>
        </p:nvSpPr>
        <p:spPr>
          <a:xfrm>
            <a:off x="2305425" y="6896000"/>
            <a:ext cx="65175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Time Series DataBase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3" name="Google Shape;313;g2d819f00341_0_51"/>
          <p:cNvSpPr txBox="1"/>
          <p:nvPr/>
        </p:nvSpPr>
        <p:spPr>
          <a:xfrm>
            <a:off x="370525" y="7517325"/>
            <a:ext cx="77733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¿Se procesan los datos antes de enviarse?</a:t>
            </a:r>
            <a:endParaRPr sz="2100"/>
          </a:p>
        </p:txBody>
      </p:sp>
      <p:sp>
        <p:nvSpPr>
          <p:cNvPr id="314" name="Google Shape;314;g2d819f00341_0_51"/>
          <p:cNvSpPr txBox="1"/>
          <p:nvPr/>
        </p:nvSpPr>
        <p:spPr>
          <a:xfrm>
            <a:off x="1767075" y="8630650"/>
            <a:ext cx="65175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Arquitecturas para sistemas edge y sistemas multitarea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d819f00341_0_186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g2d819f00341_0_186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g2d819f00341_0_18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g2d819f00341_0_186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23" name="Google Shape;323;g2d819f00341_0_186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24" name="Google Shape;324;g2d819f00341_0_186"/>
          <p:cNvSpPr txBox="1"/>
          <p:nvPr/>
        </p:nvSpPr>
        <p:spPr>
          <a:xfrm>
            <a:off x="3514498" y="118315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325" name="Google Shape;325;g2d819f00341_0_186"/>
          <p:cNvSpPr txBox="1"/>
          <p:nvPr/>
        </p:nvSpPr>
        <p:spPr>
          <a:xfrm>
            <a:off x="544301" y="2437219"/>
            <a:ext cx="47055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¿Se conectan los dispositivos a cloud?</a:t>
            </a:r>
            <a:endParaRPr sz="2100"/>
          </a:p>
        </p:txBody>
      </p:sp>
      <p:sp>
        <p:nvSpPr>
          <p:cNvPr id="326" name="Google Shape;326;g2d819f00341_0_186"/>
          <p:cNvSpPr txBox="1"/>
          <p:nvPr/>
        </p:nvSpPr>
        <p:spPr>
          <a:xfrm>
            <a:off x="189650" y="4743125"/>
            <a:ext cx="63390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¿Qué tan lejos están los </a:t>
            </a: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dispositivos</a:t>
            </a:r>
            <a:r>
              <a:rPr b="1" lang="en-US" sz="3363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?</a:t>
            </a:r>
            <a:endParaRPr sz="2100"/>
          </a:p>
        </p:txBody>
      </p:sp>
      <p:sp>
        <p:nvSpPr>
          <p:cNvPr id="327" name="Google Shape;327;g2d819f00341_0_186"/>
          <p:cNvSpPr txBox="1"/>
          <p:nvPr/>
        </p:nvSpPr>
        <p:spPr>
          <a:xfrm>
            <a:off x="1990350" y="5764950"/>
            <a:ext cx="78372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Wi-Fi (solo 100 mts) como AP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28" name="Google Shape;328;g2d819f00341_0_1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9800" y="2527675"/>
            <a:ext cx="8725825" cy="7082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2d819f00341_0_186"/>
          <p:cNvSpPr txBox="1"/>
          <p:nvPr/>
        </p:nvSpPr>
        <p:spPr>
          <a:xfrm>
            <a:off x="189650" y="6670800"/>
            <a:ext cx="7773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30" name="Google Shape;330;g2d819f00341_0_186"/>
          <p:cNvSpPr txBox="1"/>
          <p:nvPr/>
        </p:nvSpPr>
        <p:spPr>
          <a:xfrm>
            <a:off x="2079600" y="3520575"/>
            <a:ext cx="6339000" cy="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AWS IoT Greengrass 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442150" lvl="0" marL="45720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63"/>
              <a:buFont typeface="Montserrat SemiBold"/>
              <a:buChar char="-"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IoT Gateways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31" name="Google Shape;331;g2d819f00341_0_186"/>
          <p:cNvSpPr txBox="1"/>
          <p:nvPr/>
        </p:nvSpPr>
        <p:spPr>
          <a:xfrm>
            <a:off x="2278400" y="6294763"/>
            <a:ext cx="78372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63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LoRaWAN</a:t>
            </a:r>
            <a:endParaRPr b="1" sz="3363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d819f00341_0_281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g2d819f00341_0_281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g2d819f00341_0_28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g2d819f00341_0_281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40" name="Google Shape;340;g2d819f00341_0_281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41" name="Google Shape;341;g2d819f00341_0_281"/>
          <p:cNvSpPr txBox="1"/>
          <p:nvPr/>
        </p:nvSpPr>
        <p:spPr>
          <a:xfrm>
            <a:off x="3514498" y="1183150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sp>
        <p:nvSpPr>
          <p:cNvPr id="342" name="Google Shape;342;g2d819f00341_0_281"/>
          <p:cNvSpPr txBox="1"/>
          <p:nvPr/>
        </p:nvSpPr>
        <p:spPr>
          <a:xfrm>
            <a:off x="189650" y="6670800"/>
            <a:ext cx="77733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343" name="Google Shape;343;g2d819f00341_0_2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1200" y="3180300"/>
            <a:ext cx="13846100" cy="57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d819f00341_0_162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g2d819f00341_0_162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0" name="Google Shape;350;g2d819f00341_0_16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g2d819f00341_0_162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52" name="Google Shape;352;g2d819f00341_0_162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53" name="Google Shape;353;g2d819f00341_0_162"/>
          <p:cNvSpPr txBox="1"/>
          <p:nvPr/>
        </p:nvSpPr>
        <p:spPr>
          <a:xfrm>
            <a:off x="3401473" y="1030925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pic>
        <p:nvPicPr>
          <p:cNvPr id="354" name="Google Shape;354;g2d819f00341_0_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825" y="2993649"/>
            <a:ext cx="9044900" cy="57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2d819f00341_0_162"/>
          <p:cNvSpPr txBox="1"/>
          <p:nvPr/>
        </p:nvSpPr>
        <p:spPr>
          <a:xfrm>
            <a:off x="11010475" y="2993650"/>
            <a:ext cx="57471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0F6FC"/>
                </a:solidFill>
              </a:rPr>
              <a:t>The term “Internet of Things,” also known as “cyber–physical systems (CPS),” at macro level, was first coined by Kevin Ashton in his presentation made to Procter &amp; Gamble (P&amp;G) in 1999. Kevin was working at MIT’s AutoID Lab to improved P&amp;G business by linking its supply chain with Radio‐Frequency Identification (RFID) information to the Internet.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d819f00341_0_298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g2d819f00341_0_298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g2d819f00341_0_29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g2d819f00341_0_298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64" name="Google Shape;364;g2d819f00341_0_298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65" name="Google Shape;365;g2d819f00341_0_298"/>
          <p:cNvSpPr txBox="1"/>
          <p:nvPr/>
        </p:nvSpPr>
        <p:spPr>
          <a:xfrm>
            <a:off x="3401473" y="1030925"/>
            <a:ext cx="123528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Internet de las Cosas</a:t>
            </a:r>
            <a:endParaRPr/>
          </a:p>
        </p:txBody>
      </p:sp>
      <p:pic>
        <p:nvPicPr>
          <p:cNvPr id="366" name="Google Shape;366;g2d819f00341_0_2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600" y="2643771"/>
            <a:ext cx="12352799" cy="6598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d819f00341_0_0"/>
          <p:cNvSpPr/>
          <p:nvPr/>
        </p:nvSpPr>
        <p:spPr>
          <a:xfrm rot="-1312875">
            <a:off x="8683137" y="7426939"/>
            <a:ext cx="19140433" cy="6986258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g2d819f00341_0_0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3" name="Google Shape;373;g2d819f00341_0_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g2d819f00341_0_0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75" name="Google Shape;375;g2d819f00341_0_0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76" name="Google Shape;376;g2d819f00341_0_0"/>
          <p:cNvSpPr txBox="1"/>
          <p:nvPr/>
        </p:nvSpPr>
        <p:spPr>
          <a:xfrm>
            <a:off x="3966919" y="4791409"/>
            <a:ext cx="9614100" cy="21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Otros ejemplos de ACE2</a:t>
            </a: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en la vida real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7"/>
          <p:cNvSpPr/>
          <p:nvPr/>
        </p:nvSpPr>
        <p:spPr>
          <a:xfrm>
            <a:off x="4078257" y="1637214"/>
            <a:ext cx="14015946" cy="8033831"/>
          </a:xfrm>
          <a:custGeom>
            <a:rect b="b" l="l" r="r" t="t"/>
            <a:pathLst>
              <a:path extrusionOk="0" h="8033831" w="14015946">
                <a:moveTo>
                  <a:pt x="0" y="0"/>
                </a:moveTo>
                <a:lnTo>
                  <a:pt x="14015946" y="0"/>
                </a:lnTo>
                <a:lnTo>
                  <a:pt x="14015946" y="8033831"/>
                </a:lnTo>
                <a:lnTo>
                  <a:pt x="0" y="8033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7"/>
          <p:cNvSpPr txBox="1"/>
          <p:nvPr/>
        </p:nvSpPr>
        <p:spPr>
          <a:xfrm>
            <a:off x="370533" y="3278871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Digital Twins</a:t>
            </a:r>
            <a:endParaRPr/>
          </a:p>
        </p:txBody>
      </p:sp>
      <p:sp>
        <p:nvSpPr>
          <p:cNvPr id="385" name="Google Shape;385;p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86" name="Google Shape;386;p7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387" name="Google Shape;387;p7"/>
          <p:cNvSpPr txBox="1"/>
          <p:nvPr/>
        </p:nvSpPr>
        <p:spPr>
          <a:xfrm>
            <a:off x="370533" y="5749380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Sensores</a:t>
            </a:r>
            <a:endParaRPr/>
          </a:p>
        </p:txBody>
      </p:sp>
      <p:cxnSp>
        <p:nvCxnSpPr>
          <p:cNvPr id="388" name="Google Shape;388;p7"/>
          <p:cNvCxnSpPr/>
          <p:nvPr/>
        </p:nvCxnSpPr>
        <p:spPr>
          <a:xfrm flipH="1" rot="10800000">
            <a:off x="3401475" y="3481896"/>
            <a:ext cx="2948712" cy="714109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7"/>
          <p:cNvCxnSpPr/>
          <p:nvPr/>
        </p:nvCxnSpPr>
        <p:spPr>
          <a:xfrm>
            <a:off x="3035008" y="6250678"/>
            <a:ext cx="10912189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7"/>
          <p:cNvSpPr txBox="1"/>
          <p:nvPr/>
        </p:nvSpPr>
        <p:spPr>
          <a:xfrm>
            <a:off x="4060435" y="9468021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Laboratorios Huawei Suiza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8"/>
          <p:cNvSpPr/>
          <p:nvPr/>
        </p:nvSpPr>
        <p:spPr>
          <a:xfrm>
            <a:off x="1877910" y="2753067"/>
            <a:ext cx="14786016" cy="5609454"/>
          </a:xfrm>
          <a:custGeom>
            <a:rect b="b" l="l" r="r" t="t"/>
            <a:pathLst>
              <a:path extrusionOk="0" h="5609454" w="14786016">
                <a:moveTo>
                  <a:pt x="0" y="0"/>
                </a:moveTo>
                <a:lnTo>
                  <a:pt x="14786017" y="0"/>
                </a:lnTo>
                <a:lnTo>
                  <a:pt x="14786017" y="5609454"/>
                </a:lnTo>
                <a:lnTo>
                  <a:pt x="0" y="5609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8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99" name="Google Shape;399;p8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00" name="Google Shape;400;p8"/>
          <p:cNvSpPr txBox="1"/>
          <p:nvPr/>
        </p:nvSpPr>
        <p:spPr>
          <a:xfrm>
            <a:off x="1877910" y="8757002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Laboratorios Huawei Suiza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9"/>
          <p:cNvSpPr/>
          <p:nvPr/>
        </p:nvSpPr>
        <p:spPr>
          <a:xfrm>
            <a:off x="2859822" y="1876053"/>
            <a:ext cx="13181270" cy="7511114"/>
          </a:xfrm>
          <a:custGeom>
            <a:rect b="b" l="l" r="r" t="t"/>
            <a:pathLst>
              <a:path extrusionOk="0" h="7511114" w="13181270">
                <a:moveTo>
                  <a:pt x="0" y="0"/>
                </a:moveTo>
                <a:lnTo>
                  <a:pt x="13181269" y="0"/>
                </a:lnTo>
                <a:lnTo>
                  <a:pt x="13181269" y="7511115"/>
                </a:lnTo>
                <a:lnTo>
                  <a:pt x="0" y="7511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9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09" name="Google Shape;409;p9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10" name="Google Shape;410;p9"/>
          <p:cNvSpPr txBox="1"/>
          <p:nvPr/>
        </p:nvSpPr>
        <p:spPr>
          <a:xfrm>
            <a:off x="2859822" y="9482418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Laboratorios Huawei Suiza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1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10"/>
          <p:cNvSpPr/>
          <p:nvPr/>
        </p:nvSpPr>
        <p:spPr>
          <a:xfrm>
            <a:off x="2859822" y="1387943"/>
            <a:ext cx="13181270" cy="7511114"/>
          </a:xfrm>
          <a:custGeom>
            <a:rect b="b" l="l" r="r" t="t"/>
            <a:pathLst>
              <a:path extrusionOk="0" h="7511114" w="13181270">
                <a:moveTo>
                  <a:pt x="0" y="0"/>
                </a:moveTo>
                <a:lnTo>
                  <a:pt x="13181269" y="0"/>
                </a:lnTo>
                <a:lnTo>
                  <a:pt x="13181269" y="7511114"/>
                </a:lnTo>
                <a:lnTo>
                  <a:pt x="0" y="7511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p10"/>
          <p:cNvSpPr/>
          <p:nvPr/>
        </p:nvSpPr>
        <p:spPr>
          <a:xfrm>
            <a:off x="0" y="7741265"/>
            <a:ext cx="4346377" cy="2545735"/>
          </a:xfrm>
          <a:custGeom>
            <a:rect b="b" l="l" r="r" t="t"/>
            <a:pathLst>
              <a:path extrusionOk="0" h="2545735" w="4346377">
                <a:moveTo>
                  <a:pt x="0" y="0"/>
                </a:moveTo>
                <a:lnTo>
                  <a:pt x="4346377" y="0"/>
                </a:lnTo>
                <a:lnTo>
                  <a:pt x="4346377" y="2545735"/>
                </a:lnTo>
                <a:lnTo>
                  <a:pt x="0" y="2545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10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cxnSp>
        <p:nvCxnSpPr>
          <p:cNvPr id="421" name="Google Shape;421;p10"/>
          <p:cNvCxnSpPr/>
          <p:nvPr/>
        </p:nvCxnSpPr>
        <p:spPr>
          <a:xfrm flipH="1" rot="10800000">
            <a:off x="1453124" y="5143500"/>
            <a:ext cx="9471422" cy="189737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0"/>
          <p:cNvSpPr txBox="1"/>
          <p:nvPr/>
        </p:nvSpPr>
        <p:spPr>
          <a:xfrm>
            <a:off x="-1206441" y="4319274"/>
            <a:ext cx="5014332" cy="824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Cloud</a:t>
            </a:r>
            <a:endParaRPr/>
          </a:p>
        </p:txBody>
      </p:sp>
      <p:sp>
        <p:nvSpPr>
          <p:cNvPr id="423" name="Google Shape;423;p10"/>
          <p:cNvSpPr txBox="1"/>
          <p:nvPr/>
        </p:nvSpPr>
        <p:spPr>
          <a:xfrm>
            <a:off x="4962812" y="9109382"/>
            <a:ext cx="14033768" cy="501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Laboratorios Huawei Suiza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9" name="Google Shape;429;p1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0" name="Google Shape;430;p11"/>
          <p:cNvSpPr/>
          <p:nvPr/>
        </p:nvSpPr>
        <p:spPr>
          <a:xfrm>
            <a:off x="1453124" y="3380836"/>
            <a:ext cx="7242943" cy="4056048"/>
          </a:xfrm>
          <a:custGeom>
            <a:rect b="b" l="l" r="r" t="t"/>
            <a:pathLst>
              <a:path extrusionOk="0" h="4056048" w="7242943">
                <a:moveTo>
                  <a:pt x="0" y="0"/>
                </a:moveTo>
                <a:lnTo>
                  <a:pt x="7242943" y="0"/>
                </a:lnTo>
                <a:lnTo>
                  <a:pt x="7242943" y="4056048"/>
                </a:lnTo>
                <a:lnTo>
                  <a:pt x="0" y="40560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11"/>
          <p:cNvSpPr/>
          <p:nvPr/>
        </p:nvSpPr>
        <p:spPr>
          <a:xfrm>
            <a:off x="10049149" y="3380836"/>
            <a:ext cx="6972863" cy="3904803"/>
          </a:xfrm>
          <a:custGeom>
            <a:rect b="b" l="l" r="r" t="t"/>
            <a:pathLst>
              <a:path extrusionOk="0" h="3904803" w="6972863">
                <a:moveTo>
                  <a:pt x="0" y="0"/>
                </a:moveTo>
                <a:lnTo>
                  <a:pt x="6972863" y="0"/>
                </a:lnTo>
                <a:lnTo>
                  <a:pt x="6972863" y="3904803"/>
                </a:lnTo>
                <a:lnTo>
                  <a:pt x="0" y="3904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1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33" name="Google Shape;433;p11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34" name="Google Shape;434;p11"/>
          <p:cNvSpPr txBox="1"/>
          <p:nvPr/>
        </p:nvSpPr>
        <p:spPr>
          <a:xfrm>
            <a:off x="686536" y="1990353"/>
            <a:ext cx="16914929" cy="1156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3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Potenciales Aplicaciones de Industria 4.0 </a:t>
            </a:r>
            <a:endParaRPr/>
          </a:p>
          <a:p>
            <a:pPr indent="0" lvl="0" marL="0" marR="0" rtl="0" algn="ctr">
              <a:lnSpc>
                <a:spcPct val="94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34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 Guatemala</a:t>
            </a:r>
            <a:endParaRPr/>
          </a:p>
        </p:txBody>
      </p:sp>
      <p:sp>
        <p:nvSpPr>
          <p:cNvPr id="435" name="Google Shape;435;p11"/>
          <p:cNvSpPr txBox="1"/>
          <p:nvPr/>
        </p:nvSpPr>
        <p:spPr>
          <a:xfrm>
            <a:off x="3401475" y="8008972"/>
            <a:ext cx="12365486" cy="433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9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Forbes, 2024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1" name="Google Shape;441;p1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12"/>
          <p:cNvSpPr/>
          <p:nvPr/>
        </p:nvSpPr>
        <p:spPr>
          <a:xfrm>
            <a:off x="1471598" y="3280996"/>
            <a:ext cx="2144502" cy="2144502"/>
          </a:xfrm>
          <a:custGeom>
            <a:rect b="b" l="l" r="r" t="t"/>
            <a:pathLst>
              <a:path extrusionOk="0" h="2144502" w="2144502">
                <a:moveTo>
                  <a:pt x="0" y="0"/>
                </a:moveTo>
                <a:lnTo>
                  <a:pt x="2144501" y="0"/>
                </a:lnTo>
                <a:lnTo>
                  <a:pt x="2144501" y="2144502"/>
                </a:lnTo>
                <a:lnTo>
                  <a:pt x="0" y="21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3" name="Google Shape;443;p12"/>
          <p:cNvSpPr/>
          <p:nvPr/>
        </p:nvSpPr>
        <p:spPr>
          <a:xfrm>
            <a:off x="4172363" y="3280996"/>
            <a:ext cx="2102104" cy="2102104"/>
          </a:xfrm>
          <a:custGeom>
            <a:rect b="b" l="l" r="r" t="t"/>
            <a:pathLst>
              <a:path extrusionOk="0" h="2102104" w="2102104">
                <a:moveTo>
                  <a:pt x="0" y="0"/>
                </a:moveTo>
                <a:lnTo>
                  <a:pt x="2102104" y="0"/>
                </a:lnTo>
                <a:lnTo>
                  <a:pt x="2102104" y="2102104"/>
                </a:lnTo>
                <a:lnTo>
                  <a:pt x="0" y="2102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12"/>
          <p:cNvSpPr/>
          <p:nvPr/>
        </p:nvSpPr>
        <p:spPr>
          <a:xfrm>
            <a:off x="14605997" y="1840351"/>
            <a:ext cx="2653303" cy="1768869"/>
          </a:xfrm>
          <a:custGeom>
            <a:rect b="b" l="l" r="r" t="t"/>
            <a:pathLst>
              <a:path extrusionOk="0" h="1768869" w="2653303">
                <a:moveTo>
                  <a:pt x="0" y="0"/>
                </a:moveTo>
                <a:lnTo>
                  <a:pt x="2653303" y="0"/>
                </a:lnTo>
                <a:lnTo>
                  <a:pt x="2653303" y="1768869"/>
                </a:lnTo>
                <a:lnTo>
                  <a:pt x="0" y="1768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p12"/>
          <p:cNvSpPr/>
          <p:nvPr/>
        </p:nvSpPr>
        <p:spPr>
          <a:xfrm>
            <a:off x="14853709" y="3798437"/>
            <a:ext cx="2157879" cy="2157879"/>
          </a:xfrm>
          <a:custGeom>
            <a:rect b="b" l="l" r="r" t="t"/>
            <a:pathLst>
              <a:path extrusionOk="0" h="2157879" w="2157879">
                <a:moveTo>
                  <a:pt x="0" y="0"/>
                </a:moveTo>
                <a:lnTo>
                  <a:pt x="2157879" y="0"/>
                </a:lnTo>
                <a:lnTo>
                  <a:pt x="2157879" y="2157879"/>
                </a:lnTo>
                <a:lnTo>
                  <a:pt x="0" y="2157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6" name="Google Shape;446;p12"/>
          <p:cNvSpPr/>
          <p:nvPr/>
        </p:nvSpPr>
        <p:spPr>
          <a:xfrm>
            <a:off x="14605997" y="6145534"/>
            <a:ext cx="2653303" cy="1777713"/>
          </a:xfrm>
          <a:custGeom>
            <a:rect b="b" l="l" r="r" t="t"/>
            <a:pathLst>
              <a:path extrusionOk="0" h="1777713" w="2653303">
                <a:moveTo>
                  <a:pt x="0" y="0"/>
                </a:moveTo>
                <a:lnTo>
                  <a:pt x="2653303" y="0"/>
                </a:lnTo>
                <a:lnTo>
                  <a:pt x="2653303" y="1777713"/>
                </a:lnTo>
                <a:lnTo>
                  <a:pt x="0" y="177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12"/>
          <p:cNvSpPr/>
          <p:nvPr/>
        </p:nvSpPr>
        <p:spPr>
          <a:xfrm>
            <a:off x="14853709" y="8316782"/>
            <a:ext cx="2201381" cy="1464919"/>
          </a:xfrm>
          <a:custGeom>
            <a:rect b="b" l="l" r="r" t="t"/>
            <a:pathLst>
              <a:path extrusionOk="0" h="1464919" w="2201381">
                <a:moveTo>
                  <a:pt x="0" y="0"/>
                </a:moveTo>
                <a:lnTo>
                  <a:pt x="2201381" y="0"/>
                </a:lnTo>
                <a:lnTo>
                  <a:pt x="2201381" y="1464919"/>
                </a:lnTo>
                <a:lnTo>
                  <a:pt x="0" y="1464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8" name="Google Shape;448;p12"/>
          <p:cNvSpPr/>
          <p:nvPr/>
        </p:nvSpPr>
        <p:spPr>
          <a:xfrm>
            <a:off x="370533" y="6354940"/>
            <a:ext cx="6829083" cy="3312105"/>
          </a:xfrm>
          <a:custGeom>
            <a:rect b="b" l="l" r="r" t="t"/>
            <a:pathLst>
              <a:path extrusionOk="0" h="3312105" w="6829083">
                <a:moveTo>
                  <a:pt x="0" y="0"/>
                </a:moveTo>
                <a:lnTo>
                  <a:pt x="6829083" y="0"/>
                </a:lnTo>
                <a:lnTo>
                  <a:pt x="6829083" y="3312105"/>
                </a:lnTo>
                <a:lnTo>
                  <a:pt x="0" y="3312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12"/>
          <p:cNvSpPr/>
          <p:nvPr/>
        </p:nvSpPr>
        <p:spPr>
          <a:xfrm>
            <a:off x="8414465" y="6663842"/>
            <a:ext cx="5731514" cy="2694301"/>
          </a:xfrm>
          <a:custGeom>
            <a:rect b="b" l="l" r="r" t="t"/>
            <a:pathLst>
              <a:path extrusionOk="0" h="2694301" w="5731514">
                <a:moveTo>
                  <a:pt x="0" y="0"/>
                </a:moveTo>
                <a:lnTo>
                  <a:pt x="5731514" y="0"/>
                </a:lnTo>
                <a:lnTo>
                  <a:pt x="5731514" y="2694301"/>
                </a:lnTo>
                <a:lnTo>
                  <a:pt x="0" y="2694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12"/>
          <p:cNvSpPr/>
          <p:nvPr/>
        </p:nvSpPr>
        <p:spPr>
          <a:xfrm>
            <a:off x="8414465" y="2621831"/>
            <a:ext cx="5640078" cy="3420435"/>
          </a:xfrm>
          <a:custGeom>
            <a:rect b="b" l="l" r="r" t="t"/>
            <a:pathLst>
              <a:path extrusionOk="0" h="3420435" w="5640078">
                <a:moveTo>
                  <a:pt x="0" y="0"/>
                </a:moveTo>
                <a:lnTo>
                  <a:pt x="5640078" y="0"/>
                </a:lnTo>
                <a:lnTo>
                  <a:pt x="5640078" y="3420434"/>
                </a:lnTo>
                <a:lnTo>
                  <a:pt x="0" y="34204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-42894" l="-38151" r="-34667" t="-47081"/>
            </a:stretch>
          </a:blipFill>
          <a:ln>
            <a:noFill/>
          </a:ln>
        </p:spPr>
      </p:sp>
      <p:sp>
        <p:nvSpPr>
          <p:cNvPr id="451" name="Google Shape;451;p12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52" name="Google Shape;452;p12"/>
          <p:cNvSpPr txBox="1"/>
          <p:nvPr/>
        </p:nvSpPr>
        <p:spPr>
          <a:xfrm>
            <a:off x="1453124" y="6945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-647325" y="2602843"/>
            <a:ext cx="8526848" cy="301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Potenciales inversores y actualidad</a:t>
            </a:r>
            <a:endParaRPr/>
          </a:p>
        </p:txBody>
      </p:sp>
      <p:sp>
        <p:nvSpPr>
          <p:cNvPr id="454" name="Google Shape;454;p12"/>
          <p:cNvSpPr txBox="1"/>
          <p:nvPr/>
        </p:nvSpPr>
        <p:spPr>
          <a:xfrm>
            <a:off x="370533" y="5699203"/>
            <a:ext cx="6244682" cy="214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Forbes, 2024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8282207" y="742423"/>
            <a:ext cx="10897837" cy="3815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Países Líderes</a:t>
            </a:r>
            <a:endParaRPr/>
          </a:p>
        </p:txBody>
      </p:sp>
      <p:sp>
        <p:nvSpPr>
          <p:cNvPr id="456" name="Google Shape;456;p12"/>
          <p:cNvSpPr txBox="1"/>
          <p:nvPr/>
        </p:nvSpPr>
        <p:spPr>
          <a:xfrm>
            <a:off x="2169783" y="9829326"/>
            <a:ext cx="6244682" cy="214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Industria 4.0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"/>
          <p:cNvSpPr/>
          <p:nvPr/>
        </p:nvSpPr>
        <p:spPr>
          <a:xfrm rot="-1314761">
            <a:off x="8683260" y="7419462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p6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3" name="Google Shape;463;p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4" name="Google Shape;464;p6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65" name="Google Shape;465;p6"/>
          <p:cNvSpPr txBox="1"/>
          <p:nvPr/>
        </p:nvSpPr>
        <p:spPr>
          <a:xfrm>
            <a:off x="1028699" y="1282589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66" name="Google Shape;466;p6"/>
          <p:cNvSpPr txBox="1"/>
          <p:nvPr/>
        </p:nvSpPr>
        <p:spPr>
          <a:xfrm>
            <a:off x="4147769" y="4768809"/>
            <a:ext cx="9614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d83eb00d84_0_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2" name="Google Shape;472;g2d83eb00d84_0_0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73" name="Google Shape;473;g2d83eb00d84_0_0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74" name="Google Shape;474;g2d83eb00d84_0_0"/>
          <p:cNvSpPr txBox="1"/>
          <p:nvPr/>
        </p:nvSpPr>
        <p:spPr>
          <a:xfrm>
            <a:off x="4427807" y="4617293"/>
            <a:ext cx="96141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97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Semana 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13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13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82" name="Google Shape;482;p13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83" name="Google Shape;483;p13"/>
          <p:cNvSpPr txBox="1"/>
          <p:nvPr/>
        </p:nvSpPr>
        <p:spPr>
          <a:xfrm>
            <a:off x="2739908" y="2275177"/>
            <a:ext cx="12808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89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DTT (Seccion A)</a:t>
            </a:r>
            <a:endParaRPr/>
          </a:p>
        </p:txBody>
      </p:sp>
      <p:pic>
        <p:nvPicPr>
          <p:cNvPr id="484" name="Google Shape;48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600" y="3873307"/>
            <a:ext cx="5256800" cy="53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d819f00341_0_310"/>
          <p:cNvSpPr/>
          <p:nvPr/>
        </p:nvSpPr>
        <p:spPr>
          <a:xfrm flipH="1" rot="-9225302">
            <a:off x="3960235" y="-5519885"/>
            <a:ext cx="19162454" cy="6994295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g2d819f00341_0_31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g2d819f00341_0_310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492" name="Google Shape;492;g2d819f00341_0_310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493" name="Google Shape;493;g2d819f00341_0_310"/>
          <p:cNvSpPr txBox="1"/>
          <p:nvPr/>
        </p:nvSpPr>
        <p:spPr>
          <a:xfrm>
            <a:off x="2739883" y="4069152"/>
            <a:ext cx="12808200" cy="1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89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Creacion de Grupos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9" name="Google Shape;499;p14"/>
          <p:cNvSpPr/>
          <p:nvPr/>
        </p:nvSpPr>
        <p:spPr>
          <a:xfrm>
            <a:off x="1028700" y="3120392"/>
            <a:ext cx="7889945" cy="3234076"/>
          </a:xfrm>
          <a:custGeom>
            <a:rect b="b" l="l" r="r" t="t"/>
            <a:pathLst>
              <a:path extrusionOk="0" h="3234076" w="7889945">
                <a:moveTo>
                  <a:pt x="0" y="0"/>
                </a:moveTo>
                <a:lnTo>
                  <a:pt x="7889945" y="0"/>
                </a:lnTo>
                <a:lnTo>
                  <a:pt x="7889945" y="3234077"/>
                </a:lnTo>
                <a:lnTo>
                  <a:pt x="0" y="32340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p14"/>
          <p:cNvSpPr/>
          <p:nvPr/>
        </p:nvSpPr>
        <p:spPr>
          <a:xfrm>
            <a:off x="12139685" y="2114892"/>
            <a:ext cx="3483588" cy="5412270"/>
          </a:xfrm>
          <a:custGeom>
            <a:rect b="b" l="l" r="r" t="t"/>
            <a:pathLst>
              <a:path extrusionOk="0" h="5412270" w="3483588">
                <a:moveTo>
                  <a:pt x="0" y="0"/>
                </a:moveTo>
                <a:lnTo>
                  <a:pt x="3483588" y="0"/>
                </a:lnTo>
                <a:lnTo>
                  <a:pt x="3483588" y="5412270"/>
                </a:lnTo>
                <a:lnTo>
                  <a:pt x="0" y="5412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1" name="Google Shape;501;p14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03" name="Google Shape;503;p14"/>
          <p:cNvSpPr txBox="1"/>
          <p:nvPr/>
        </p:nvSpPr>
        <p:spPr>
          <a:xfrm>
            <a:off x="1877910" y="6849538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Neso Academy (2024) </a:t>
            </a:r>
            <a:endParaRPr/>
          </a:p>
        </p:txBody>
      </p:sp>
      <p:sp>
        <p:nvSpPr>
          <p:cNvPr id="504" name="Google Shape;504;p14"/>
          <p:cNvSpPr txBox="1"/>
          <p:nvPr/>
        </p:nvSpPr>
        <p:spPr>
          <a:xfrm>
            <a:off x="11194333" y="8084790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Neso Academy (2024) </a:t>
            </a:r>
            <a:endParaRPr/>
          </a:p>
        </p:txBody>
      </p:sp>
      <p:sp>
        <p:nvSpPr>
          <p:cNvPr id="505" name="Google Shape;505;p14"/>
          <p:cNvSpPr txBox="1"/>
          <p:nvPr/>
        </p:nvSpPr>
        <p:spPr>
          <a:xfrm>
            <a:off x="4336957" y="1135643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5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1" name="Google Shape;511;p15"/>
          <p:cNvSpPr/>
          <p:nvPr/>
        </p:nvSpPr>
        <p:spPr>
          <a:xfrm>
            <a:off x="5209701" y="2419197"/>
            <a:ext cx="7868598" cy="5448605"/>
          </a:xfrm>
          <a:custGeom>
            <a:rect b="b" l="l" r="r" t="t"/>
            <a:pathLst>
              <a:path extrusionOk="0" h="5448605" w="7868598">
                <a:moveTo>
                  <a:pt x="0" y="0"/>
                </a:moveTo>
                <a:lnTo>
                  <a:pt x="7868598" y="0"/>
                </a:lnTo>
                <a:lnTo>
                  <a:pt x="7868598" y="5448606"/>
                </a:lnTo>
                <a:lnTo>
                  <a:pt x="0" y="5448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2" name="Google Shape;512;p15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13" name="Google Shape;513;p15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14" name="Google Shape;514;p15"/>
          <p:cNvSpPr txBox="1"/>
          <p:nvPr/>
        </p:nvSpPr>
        <p:spPr>
          <a:xfrm>
            <a:off x="6456854" y="8270782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Neso Academy (2024)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0" name="Google Shape;520;p16"/>
          <p:cNvSpPr/>
          <p:nvPr/>
        </p:nvSpPr>
        <p:spPr>
          <a:xfrm>
            <a:off x="3275033" y="2605234"/>
            <a:ext cx="11737933" cy="5076532"/>
          </a:xfrm>
          <a:custGeom>
            <a:rect b="b" l="l" r="r" t="t"/>
            <a:pathLst>
              <a:path extrusionOk="0" h="5076532" w="11737933">
                <a:moveTo>
                  <a:pt x="0" y="0"/>
                </a:moveTo>
                <a:lnTo>
                  <a:pt x="11737934" y="0"/>
                </a:lnTo>
                <a:lnTo>
                  <a:pt x="11737934" y="5076532"/>
                </a:lnTo>
                <a:lnTo>
                  <a:pt x="0" y="507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1" name="Google Shape;521;p16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22" name="Google Shape;522;p16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23" name="Google Shape;523;p16"/>
          <p:cNvSpPr txBox="1"/>
          <p:nvPr/>
        </p:nvSpPr>
        <p:spPr>
          <a:xfrm>
            <a:off x="6456854" y="7932390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Neso Academy (2024)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7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9" name="Google Shape;529;p1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0" name="Google Shape;530;p17"/>
          <p:cNvSpPr/>
          <p:nvPr/>
        </p:nvSpPr>
        <p:spPr>
          <a:xfrm>
            <a:off x="753140" y="5143500"/>
            <a:ext cx="7889945" cy="3234076"/>
          </a:xfrm>
          <a:custGeom>
            <a:rect b="b" l="l" r="r" t="t"/>
            <a:pathLst>
              <a:path extrusionOk="0" h="3234076" w="7889945">
                <a:moveTo>
                  <a:pt x="0" y="0"/>
                </a:moveTo>
                <a:lnTo>
                  <a:pt x="7889945" y="0"/>
                </a:lnTo>
                <a:lnTo>
                  <a:pt x="7889945" y="3234076"/>
                </a:lnTo>
                <a:lnTo>
                  <a:pt x="0" y="3234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1" name="Google Shape;531;p17"/>
          <p:cNvSpPr/>
          <p:nvPr/>
        </p:nvSpPr>
        <p:spPr>
          <a:xfrm>
            <a:off x="10411101" y="4322138"/>
            <a:ext cx="6248958" cy="4616290"/>
          </a:xfrm>
          <a:custGeom>
            <a:rect b="b" l="l" r="r" t="t"/>
            <a:pathLst>
              <a:path extrusionOk="0" h="4616290" w="6248958">
                <a:moveTo>
                  <a:pt x="0" y="0"/>
                </a:moveTo>
                <a:lnTo>
                  <a:pt x="6248958" y="0"/>
                </a:lnTo>
                <a:lnTo>
                  <a:pt x="6248958" y="4616290"/>
                </a:lnTo>
                <a:lnTo>
                  <a:pt x="0" y="4616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2" name="Google Shape;532;p17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33" name="Google Shape;533;p1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34" name="Google Shape;534;p17"/>
          <p:cNvSpPr txBox="1"/>
          <p:nvPr/>
        </p:nvSpPr>
        <p:spPr>
          <a:xfrm>
            <a:off x="4336957" y="1808664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Microcontroladores</a:t>
            </a:r>
            <a:endParaRPr/>
          </a:p>
        </p:txBody>
      </p:sp>
      <p:sp>
        <p:nvSpPr>
          <p:cNvPr id="535" name="Google Shape;535;p17"/>
          <p:cNvSpPr txBox="1"/>
          <p:nvPr/>
        </p:nvSpPr>
        <p:spPr>
          <a:xfrm>
            <a:off x="753140" y="2840390"/>
            <a:ext cx="16781720" cy="1186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5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microcontrolador (abreviado µC, UC o mCU) es un </a:t>
            </a:r>
            <a:r>
              <a:rPr b="1" i="0" lang="en-US" sz="3395" u="none" cap="none" strike="noStrike">
                <a:solidFill>
                  <a:srgbClr val="FF313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circuito integrado programable</a:t>
            </a:r>
            <a:endParaRPr/>
          </a:p>
        </p:txBody>
      </p:sp>
      <p:sp>
        <p:nvSpPr>
          <p:cNvPr id="536" name="Google Shape;536;p17"/>
          <p:cNvSpPr txBox="1"/>
          <p:nvPr/>
        </p:nvSpPr>
        <p:spPr>
          <a:xfrm>
            <a:off x="1028700" y="8721970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Neso Academy (2024) </a:t>
            </a:r>
            <a:endParaRPr/>
          </a:p>
        </p:txBody>
      </p:sp>
      <p:sp>
        <p:nvSpPr>
          <p:cNvPr id="537" name="Google Shape;537;p17"/>
          <p:cNvSpPr txBox="1"/>
          <p:nvPr/>
        </p:nvSpPr>
        <p:spPr>
          <a:xfrm>
            <a:off x="10848434" y="9013948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Arduino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Arduno Cook book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8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3" name="Google Shape;543;p18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4" name="Google Shape;544;p18"/>
          <p:cNvSpPr/>
          <p:nvPr/>
        </p:nvSpPr>
        <p:spPr>
          <a:xfrm>
            <a:off x="1636768" y="4026863"/>
            <a:ext cx="6731243" cy="4972568"/>
          </a:xfrm>
          <a:custGeom>
            <a:rect b="b" l="l" r="r" t="t"/>
            <a:pathLst>
              <a:path extrusionOk="0" h="4972568" w="6731243">
                <a:moveTo>
                  <a:pt x="0" y="0"/>
                </a:moveTo>
                <a:lnTo>
                  <a:pt x="6731243" y="0"/>
                </a:lnTo>
                <a:lnTo>
                  <a:pt x="6731243" y="4972568"/>
                </a:lnTo>
                <a:lnTo>
                  <a:pt x="0" y="4972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5" name="Google Shape;545;p18"/>
          <p:cNvSpPr/>
          <p:nvPr/>
        </p:nvSpPr>
        <p:spPr>
          <a:xfrm>
            <a:off x="11242875" y="4207838"/>
            <a:ext cx="4888506" cy="4888506"/>
          </a:xfrm>
          <a:custGeom>
            <a:rect b="b" l="l" r="r" t="t"/>
            <a:pathLst>
              <a:path extrusionOk="0" h="4888506" w="4888506">
                <a:moveTo>
                  <a:pt x="0" y="0"/>
                </a:moveTo>
                <a:lnTo>
                  <a:pt x="4888505" y="0"/>
                </a:lnTo>
                <a:lnTo>
                  <a:pt x="4888505" y="4888506"/>
                </a:lnTo>
                <a:lnTo>
                  <a:pt x="0" y="4888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6" name="Google Shape;546;p18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47" name="Google Shape;547;p18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48" name="Google Shape;548;p18"/>
          <p:cNvSpPr txBox="1"/>
          <p:nvPr/>
        </p:nvSpPr>
        <p:spPr>
          <a:xfrm>
            <a:off x="4336957" y="1808664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Microcontroladores</a:t>
            </a:r>
            <a:endParaRPr/>
          </a:p>
        </p:txBody>
      </p:sp>
      <p:sp>
        <p:nvSpPr>
          <p:cNvPr id="549" name="Google Shape;549;p18"/>
          <p:cNvSpPr txBox="1"/>
          <p:nvPr/>
        </p:nvSpPr>
        <p:spPr>
          <a:xfrm>
            <a:off x="753140" y="2840390"/>
            <a:ext cx="16781720" cy="1186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5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microcontrolador (abreviado µC, UC o mCU) es un </a:t>
            </a:r>
            <a:r>
              <a:rPr b="1" i="0" lang="en-US" sz="3395" u="none" cap="none" strike="noStrike">
                <a:solidFill>
                  <a:srgbClr val="FF313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circuito integrado programable</a:t>
            </a:r>
            <a:endParaRPr/>
          </a:p>
        </p:txBody>
      </p:sp>
      <p:sp>
        <p:nvSpPr>
          <p:cNvPr id="550" name="Google Shape;550;p18"/>
          <p:cNvSpPr txBox="1"/>
          <p:nvPr/>
        </p:nvSpPr>
        <p:spPr>
          <a:xfrm>
            <a:off x="2315243" y="9171863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Arduino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Arduno Cook book</a:t>
            </a:r>
            <a:endParaRPr/>
          </a:p>
        </p:txBody>
      </p:sp>
      <p:sp>
        <p:nvSpPr>
          <p:cNvPr id="551" name="Google Shape;551;p18"/>
          <p:cNvSpPr txBox="1"/>
          <p:nvPr/>
        </p:nvSpPr>
        <p:spPr>
          <a:xfrm>
            <a:off x="10676783" y="9143969"/>
            <a:ext cx="5374292" cy="53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Arduino</a:t>
            </a:r>
            <a:endParaRPr/>
          </a:p>
          <a:p>
            <a:pPr indent="0" lvl="0" marL="0" marR="0" rtl="0" algn="ctr">
              <a:lnSpc>
                <a:spcPct val="95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8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Fuente: Arduno Cook book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d819f00341_0_9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7" name="Google Shape;557;g2d819f00341_0_90"/>
          <p:cNvSpPr txBox="1"/>
          <p:nvPr/>
        </p:nvSpPr>
        <p:spPr>
          <a:xfrm>
            <a:off x="1300724" y="542135"/>
            <a:ext cx="8526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58" name="Google Shape;558;g2d819f00341_0_90"/>
          <p:cNvSpPr txBox="1"/>
          <p:nvPr/>
        </p:nvSpPr>
        <p:spPr>
          <a:xfrm>
            <a:off x="1300724" y="1599114"/>
            <a:ext cx="1154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59" name="Google Shape;559;g2d819f00341_0_90"/>
          <p:cNvSpPr txBox="1"/>
          <p:nvPr/>
        </p:nvSpPr>
        <p:spPr>
          <a:xfrm>
            <a:off x="4336957" y="1135643"/>
            <a:ext cx="96141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Microprocesadores</a:t>
            </a:r>
            <a:endParaRPr/>
          </a:p>
        </p:txBody>
      </p:sp>
      <p:pic>
        <p:nvPicPr>
          <p:cNvPr id="560" name="Google Shape;560;g2d819f00341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3550" y="2717737"/>
            <a:ext cx="18288000" cy="485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6" name="Google Shape;566;p1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7" name="Google Shape;567;p19"/>
          <p:cNvSpPr/>
          <p:nvPr/>
        </p:nvSpPr>
        <p:spPr>
          <a:xfrm>
            <a:off x="3973376" y="5143500"/>
            <a:ext cx="10341248" cy="3730116"/>
          </a:xfrm>
          <a:custGeom>
            <a:rect b="b" l="l" r="r" t="t"/>
            <a:pathLst>
              <a:path extrusionOk="0" h="3730116" w="10341248">
                <a:moveTo>
                  <a:pt x="0" y="0"/>
                </a:moveTo>
                <a:lnTo>
                  <a:pt x="10341248" y="0"/>
                </a:lnTo>
                <a:lnTo>
                  <a:pt x="10341248" y="3730116"/>
                </a:lnTo>
                <a:lnTo>
                  <a:pt x="0" y="3730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581" r="0" t="-282599"/>
            </a:stretch>
          </a:blipFill>
          <a:ln>
            <a:noFill/>
          </a:ln>
        </p:spPr>
      </p:sp>
      <p:sp>
        <p:nvSpPr>
          <p:cNvPr id="568" name="Google Shape;568;p19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69" name="Google Shape;569;p19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70" name="Google Shape;570;p19"/>
          <p:cNvSpPr txBox="1"/>
          <p:nvPr/>
        </p:nvSpPr>
        <p:spPr>
          <a:xfrm>
            <a:off x="4336957" y="1808664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Microcontroladores</a:t>
            </a:r>
            <a:endParaRPr/>
          </a:p>
        </p:txBody>
      </p:sp>
      <p:sp>
        <p:nvSpPr>
          <p:cNvPr id="571" name="Google Shape;571;p19"/>
          <p:cNvSpPr txBox="1"/>
          <p:nvPr/>
        </p:nvSpPr>
        <p:spPr>
          <a:xfrm>
            <a:off x="753140" y="2840390"/>
            <a:ext cx="16781720" cy="1186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5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 microcontrolador (abreviado µC, UC o mCU) es un </a:t>
            </a:r>
            <a:r>
              <a:rPr b="1" i="0" lang="en-US" sz="3395" u="none" cap="none" strike="noStrike">
                <a:solidFill>
                  <a:srgbClr val="FF313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circuito integrado programable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0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20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8" name="Google Shape;578;p20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79" name="Google Shape;579;p20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80" name="Google Shape;580;p20"/>
          <p:cNvSpPr txBox="1"/>
          <p:nvPr/>
        </p:nvSpPr>
        <p:spPr>
          <a:xfrm>
            <a:off x="4336957" y="4412405"/>
            <a:ext cx="9614085" cy="1784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Arduino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1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6" name="Google Shape;586;p21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7" name="Google Shape;587;p21"/>
          <p:cNvSpPr/>
          <p:nvPr/>
        </p:nvSpPr>
        <p:spPr>
          <a:xfrm>
            <a:off x="3401475" y="1637214"/>
            <a:ext cx="11580792" cy="8103645"/>
          </a:xfrm>
          <a:custGeom>
            <a:rect b="b" l="l" r="r" t="t"/>
            <a:pathLst>
              <a:path extrusionOk="0" h="8103645" w="11580792">
                <a:moveTo>
                  <a:pt x="0" y="0"/>
                </a:moveTo>
                <a:lnTo>
                  <a:pt x="11580792" y="0"/>
                </a:lnTo>
                <a:lnTo>
                  <a:pt x="11580792" y="8103645"/>
                </a:lnTo>
                <a:lnTo>
                  <a:pt x="0" y="810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8" name="Google Shape;588;p21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89" name="Google Shape;589;p21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2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5" name="Google Shape;595;p22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6" name="Google Shape;596;p22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597" name="Google Shape;597;p22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98" name="Google Shape;598;p22"/>
          <p:cNvSpPr txBox="1"/>
          <p:nvPr/>
        </p:nvSpPr>
        <p:spPr>
          <a:xfrm>
            <a:off x="4336957" y="4412405"/>
            <a:ext cx="9614085" cy="1784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15 Puntos Para Conocer tu Arduino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4" name="Google Shape;604;p23"/>
          <p:cNvSpPr/>
          <p:nvPr/>
        </p:nvSpPr>
        <p:spPr>
          <a:xfrm>
            <a:off x="6077911" y="0"/>
            <a:ext cx="12210089" cy="10287000"/>
          </a:xfrm>
          <a:custGeom>
            <a:rect b="b" l="l" r="r" t="t"/>
            <a:pathLst>
              <a:path extrusionOk="0" h="10287000" w="12210089">
                <a:moveTo>
                  <a:pt x="0" y="0"/>
                </a:moveTo>
                <a:lnTo>
                  <a:pt x="12210089" y="0"/>
                </a:lnTo>
                <a:lnTo>
                  <a:pt x="122100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5" name="Google Shape;605;p23"/>
          <p:cNvSpPr txBox="1"/>
          <p:nvPr/>
        </p:nvSpPr>
        <p:spPr>
          <a:xfrm>
            <a:off x="204994" y="981075"/>
            <a:ext cx="5707378" cy="9207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7623" lvl="1" marL="515245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86"/>
              <a:buFont typeface="DM Sans"/>
              <a:buAutoNum type="arabicPeriod"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Conector de alimentación: Entrada de 7 a 12V DC.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Regulador de voltaje.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3. Cristal de 16 MHz.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4. ATmega16U2: Controlador USB.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5. Puerto USB-B para conexión a computadora.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6. Botón de reset.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7. Salidas de voltaje: 3.3V y 5V.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8. Pines de tierra (GND).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9. Entradas analógicas (A0 a A5).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10. Pines de referencia (AREF e I/O Reference).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11. Pines digitales (0 a 13).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12. Pines de comunicación serial (TX y RX).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13. Pines de interfaz SPI: SCK, MISO, MOSI, SS.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14. Interrupciones: Interrupt 0 y 1.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15. ICSP: Pines de programación en circuito.</a:t>
            </a:r>
            <a:endParaRPr/>
          </a:p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16. LED en pin 13.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4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1" name="Google Shape;611;p24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2" name="Google Shape;612;p24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613" name="Google Shape;613;p24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14" name="Google Shape;614;p24"/>
          <p:cNvSpPr txBox="1"/>
          <p:nvPr/>
        </p:nvSpPr>
        <p:spPr>
          <a:xfrm>
            <a:off x="4336957" y="4768809"/>
            <a:ext cx="9614085" cy="920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Sintaxis de Arduino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0" name="Google Shape;620;p25"/>
          <p:cNvSpPr/>
          <p:nvPr/>
        </p:nvSpPr>
        <p:spPr>
          <a:xfrm>
            <a:off x="0" y="2926080"/>
            <a:ext cx="18288000" cy="6332220"/>
          </a:xfrm>
          <a:custGeom>
            <a:rect b="b" l="l" r="r" t="t"/>
            <a:pathLst>
              <a:path extrusionOk="0" h="6332220" w="18288000">
                <a:moveTo>
                  <a:pt x="0" y="0"/>
                </a:moveTo>
                <a:lnTo>
                  <a:pt x="18288000" y="0"/>
                </a:lnTo>
                <a:lnTo>
                  <a:pt x="18288000" y="6332220"/>
                </a:lnTo>
                <a:lnTo>
                  <a:pt x="0" y="6332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1" name="Google Shape;621;p25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622" name="Google Shape;622;p25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23" name="Google Shape;623;p25"/>
          <p:cNvSpPr txBox="1"/>
          <p:nvPr/>
        </p:nvSpPr>
        <p:spPr>
          <a:xfrm>
            <a:off x="3750894" y="1402526"/>
            <a:ext cx="13379815" cy="923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¿Qué es un Sistema Embebido y qué tiene que ver con Arduino?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6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9" name="Google Shape;629;p26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0" name="Google Shape;630;p26"/>
          <p:cNvSpPr/>
          <p:nvPr/>
        </p:nvSpPr>
        <p:spPr>
          <a:xfrm>
            <a:off x="1028700" y="2367218"/>
            <a:ext cx="9538582" cy="7104525"/>
          </a:xfrm>
          <a:custGeom>
            <a:rect b="b" l="l" r="r" t="t"/>
            <a:pathLst>
              <a:path extrusionOk="0" h="7104525" w="9538582">
                <a:moveTo>
                  <a:pt x="0" y="0"/>
                </a:moveTo>
                <a:lnTo>
                  <a:pt x="9538582" y="0"/>
                </a:lnTo>
                <a:lnTo>
                  <a:pt x="9538582" y="7104525"/>
                </a:lnTo>
                <a:lnTo>
                  <a:pt x="0" y="7104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7909"/>
            </a:stretch>
          </a:blipFill>
          <a:ln>
            <a:noFill/>
          </a:ln>
        </p:spPr>
      </p:sp>
      <p:grpSp>
        <p:nvGrpSpPr>
          <p:cNvPr id="631" name="Google Shape;631;p26"/>
          <p:cNvGrpSpPr/>
          <p:nvPr/>
        </p:nvGrpSpPr>
        <p:grpSpPr>
          <a:xfrm>
            <a:off x="1300724" y="2559915"/>
            <a:ext cx="2100750" cy="721247"/>
            <a:chOff x="0" y="0"/>
            <a:chExt cx="553284" cy="189958"/>
          </a:xfrm>
        </p:grpSpPr>
        <p:sp>
          <p:nvSpPr>
            <p:cNvPr id="632" name="Google Shape;632;p26"/>
            <p:cNvSpPr/>
            <p:nvPr/>
          </p:nvSpPr>
          <p:spPr>
            <a:xfrm>
              <a:off x="0" y="0"/>
              <a:ext cx="553284" cy="189958"/>
            </a:xfrm>
            <a:custGeom>
              <a:rect b="b" l="l" r="r" t="t"/>
              <a:pathLst>
                <a:path extrusionOk="0" h="189958" w="553284">
                  <a:moveTo>
                    <a:pt x="0" y="0"/>
                  </a:moveTo>
                  <a:lnTo>
                    <a:pt x="553284" y="0"/>
                  </a:lnTo>
                  <a:lnTo>
                    <a:pt x="553284" y="189958"/>
                  </a:lnTo>
                  <a:lnTo>
                    <a:pt x="0" y="189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3" name="Google Shape;633;p26"/>
            <p:cNvSpPr txBox="1"/>
            <p:nvPr/>
          </p:nvSpPr>
          <p:spPr>
            <a:xfrm>
              <a:off x="0" y="57150"/>
              <a:ext cx="553284" cy="1328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Menú</a:t>
              </a:r>
              <a:endParaRPr/>
            </a:p>
          </p:txBody>
        </p:sp>
      </p:grpSp>
      <p:grpSp>
        <p:nvGrpSpPr>
          <p:cNvPr id="634" name="Google Shape;634;p26"/>
          <p:cNvGrpSpPr/>
          <p:nvPr/>
        </p:nvGrpSpPr>
        <p:grpSpPr>
          <a:xfrm>
            <a:off x="1300724" y="3281162"/>
            <a:ext cx="2455478" cy="815003"/>
            <a:chOff x="0" y="0"/>
            <a:chExt cx="646710" cy="214651"/>
          </a:xfrm>
        </p:grpSpPr>
        <p:sp>
          <p:nvSpPr>
            <p:cNvPr id="635" name="Google Shape;635;p26"/>
            <p:cNvSpPr/>
            <p:nvPr/>
          </p:nvSpPr>
          <p:spPr>
            <a:xfrm>
              <a:off x="0" y="0"/>
              <a:ext cx="646710" cy="214651"/>
            </a:xfrm>
            <a:custGeom>
              <a:rect b="b" l="l" r="r" t="t"/>
              <a:pathLst>
                <a:path extrusionOk="0" h="214651" w="646710">
                  <a:moveTo>
                    <a:pt x="0" y="0"/>
                  </a:moveTo>
                  <a:lnTo>
                    <a:pt x="646710" y="0"/>
                  </a:lnTo>
                  <a:lnTo>
                    <a:pt x="646710" y="214651"/>
                  </a:lnTo>
                  <a:lnTo>
                    <a:pt x="0" y="214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6" name="Google Shape;636;p26"/>
            <p:cNvSpPr txBox="1"/>
            <p:nvPr/>
          </p:nvSpPr>
          <p:spPr>
            <a:xfrm>
              <a:off x="0" y="57150"/>
              <a:ext cx="646710" cy="15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Compilación y Carga </a:t>
              </a:r>
              <a:endParaRPr/>
            </a:p>
          </p:txBody>
        </p:sp>
      </p:grpSp>
      <p:grpSp>
        <p:nvGrpSpPr>
          <p:cNvPr id="637" name="Google Shape;637;p26"/>
          <p:cNvGrpSpPr/>
          <p:nvPr/>
        </p:nvGrpSpPr>
        <p:grpSpPr>
          <a:xfrm>
            <a:off x="1227357" y="4096165"/>
            <a:ext cx="1301106" cy="663220"/>
            <a:chOff x="0" y="0"/>
            <a:chExt cx="342678" cy="174675"/>
          </a:xfrm>
        </p:grpSpPr>
        <p:sp>
          <p:nvSpPr>
            <p:cNvPr id="638" name="Google Shape;638;p26"/>
            <p:cNvSpPr/>
            <p:nvPr/>
          </p:nvSpPr>
          <p:spPr>
            <a:xfrm>
              <a:off x="0" y="0"/>
              <a:ext cx="342678" cy="174675"/>
            </a:xfrm>
            <a:custGeom>
              <a:rect b="b" l="l" r="r" t="t"/>
              <a:pathLst>
                <a:path extrusionOk="0" h="174675" w="342678">
                  <a:moveTo>
                    <a:pt x="0" y="0"/>
                  </a:moveTo>
                  <a:lnTo>
                    <a:pt x="342678" y="0"/>
                  </a:lnTo>
                  <a:lnTo>
                    <a:pt x="342678" y="174675"/>
                  </a:lnTo>
                  <a:lnTo>
                    <a:pt x="0" y="1746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9" name="Google Shape;639;p26"/>
            <p:cNvSpPr txBox="1"/>
            <p:nvPr/>
          </p:nvSpPr>
          <p:spPr>
            <a:xfrm>
              <a:off x="0" y="57150"/>
              <a:ext cx="342678" cy="1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Nuevo</a:t>
              </a:r>
              <a:endParaRPr/>
            </a:p>
          </p:txBody>
        </p:sp>
      </p:grpSp>
      <p:grpSp>
        <p:nvGrpSpPr>
          <p:cNvPr id="640" name="Google Shape;640;p26"/>
          <p:cNvGrpSpPr/>
          <p:nvPr/>
        </p:nvGrpSpPr>
        <p:grpSpPr>
          <a:xfrm>
            <a:off x="1153990" y="4670017"/>
            <a:ext cx="1301106" cy="663220"/>
            <a:chOff x="0" y="0"/>
            <a:chExt cx="342678" cy="174675"/>
          </a:xfrm>
        </p:grpSpPr>
        <p:sp>
          <p:nvSpPr>
            <p:cNvPr id="641" name="Google Shape;641;p26"/>
            <p:cNvSpPr/>
            <p:nvPr/>
          </p:nvSpPr>
          <p:spPr>
            <a:xfrm>
              <a:off x="0" y="0"/>
              <a:ext cx="342678" cy="174675"/>
            </a:xfrm>
            <a:custGeom>
              <a:rect b="b" l="l" r="r" t="t"/>
              <a:pathLst>
                <a:path extrusionOk="0" h="174675" w="342678">
                  <a:moveTo>
                    <a:pt x="0" y="0"/>
                  </a:moveTo>
                  <a:lnTo>
                    <a:pt x="342678" y="0"/>
                  </a:lnTo>
                  <a:lnTo>
                    <a:pt x="342678" y="174675"/>
                  </a:lnTo>
                  <a:lnTo>
                    <a:pt x="0" y="1746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2" name="Google Shape;642;p26"/>
            <p:cNvSpPr txBox="1"/>
            <p:nvPr/>
          </p:nvSpPr>
          <p:spPr>
            <a:xfrm>
              <a:off x="0" y="57150"/>
              <a:ext cx="342678" cy="1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Abrir</a:t>
              </a:r>
              <a:endParaRPr/>
            </a:p>
          </p:txBody>
        </p:sp>
      </p:grpSp>
      <p:grpSp>
        <p:nvGrpSpPr>
          <p:cNvPr id="643" name="Google Shape;643;p26"/>
          <p:cNvGrpSpPr/>
          <p:nvPr/>
        </p:nvGrpSpPr>
        <p:grpSpPr>
          <a:xfrm>
            <a:off x="1227357" y="5256260"/>
            <a:ext cx="1301106" cy="663220"/>
            <a:chOff x="0" y="0"/>
            <a:chExt cx="342678" cy="174675"/>
          </a:xfrm>
        </p:grpSpPr>
        <p:sp>
          <p:nvSpPr>
            <p:cNvPr id="644" name="Google Shape;644;p26"/>
            <p:cNvSpPr/>
            <p:nvPr/>
          </p:nvSpPr>
          <p:spPr>
            <a:xfrm>
              <a:off x="0" y="0"/>
              <a:ext cx="342678" cy="174675"/>
            </a:xfrm>
            <a:custGeom>
              <a:rect b="b" l="l" r="r" t="t"/>
              <a:pathLst>
                <a:path extrusionOk="0" h="174675" w="342678">
                  <a:moveTo>
                    <a:pt x="0" y="0"/>
                  </a:moveTo>
                  <a:lnTo>
                    <a:pt x="342678" y="0"/>
                  </a:lnTo>
                  <a:lnTo>
                    <a:pt x="342678" y="174675"/>
                  </a:lnTo>
                  <a:lnTo>
                    <a:pt x="0" y="1746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5" name="Google Shape;645;p26"/>
            <p:cNvSpPr txBox="1"/>
            <p:nvPr/>
          </p:nvSpPr>
          <p:spPr>
            <a:xfrm>
              <a:off x="0" y="57150"/>
              <a:ext cx="342678" cy="1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Generar</a:t>
              </a:r>
              <a:endParaRPr/>
            </a:p>
          </p:txBody>
        </p:sp>
      </p:grpSp>
      <p:grpSp>
        <p:nvGrpSpPr>
          <p:cNvPr id="646" name="Google Shape;646;p26"/>
          <p:cNvGrpSpPr/>
          <p:nvPr/>
        </p:nvGrpSpPr>
        <p:grpSpPr>
          <a:xfrm>
            <a:off x="1227357" y="5919480"/>
            <a:ext cx="1632186" cy="815003"/>
            <a:chOff x="0" y="0"/>
            <a:chExt cx="429876" cy="214651"/>
          </a:xfrm>
        </p:grpSpPr>
        <p:sp>
          <p:nvSpPr>
            <p:cNvPr id="647" name="Google Shape;647;p26"/>
            <p:cNvSpPr/>
            <p:nvPr/>
          </p:nvSpPr>
          <p:spPr>
            <a:xfrm>
              <a:off x="0" y="0"/>
              <a:ext cx="429876" cy="214651"/>
            </a:xfrm>
            <a:custGeom>
              <a:rect b="b" l="l" r="r" t="t"/>
              <a:pathLst>
                <a:path extrusionOk="0" h="214651" w="429876">
                  <a:moveTo>
                    <a:pt x="0" y="0"/>
                  </a:moveTo>
                  <a:lnTo>
                    <a:pt x="429876" y="0"/>
                  </a:lnTo>
                  <a:lnTo>
                    <a:pt x="429876" y="214651"/>
                  </a:lnTo>
                  <a:lnTo>
                    <a:pt x="0" y="214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8" name="Google Shape;648;p26"/>
            <p:cNvSpPr txBox="1"/>
            <p:nvPr/>
          </p:nvSpPr>
          <p:spPr>
            <a:xfrm>
              <a:off x="0" y="57150"/>
              <a:ext cx="429876" cy="15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Monitor Serial</a:t>
              </a:r>
              <a:endParaRPr/>
            </a:p>
          </p:txBody>
        </p:sp>
      </p:grpSp>
      <p:grpSp>
        <p:nvGrpSpPr>
          <p:cNvPr id="649" name="Google Shape;649;p26"/>
          <p:cNvGrpSpPr/>
          <p:nvPr/>
        </p:nvGrpSpPr>
        <p:grpSpPr>
          <a:xfrm>
            <a:off x="1153990" y="6734484"/>
            <a:ext cx="1939617" cy="815003"/>
            <a:chOff x="0" y="0"/>
            <a:chExt cx="510846" cy="214651"/>
          </a:xfrm>
        </p:grpSpPr>
        <p:sp>
          <p:nvSpPr>
            <p:cNvPr id="650" name="Google Shape;650;p26"/>
            <p:cNvSpPr/>
            <p:nvPr/>
          </p:nvSpPr>
          <p:spPr>
            <a:xfrm>
              <a:off x="0" y="0"/>
              <a:ext cx="510846" cy="214651"/>
            </a:xfrm>
            <a:custGeom>
              <a:rect b="b" l="l" r="r" t="t"/>
              <a:pathLst>
                <a:path extrusionOk="0" h="214651" w="510846">
                  <a:moveTo>
                    <a:pt x="0" y="0"/>
                  </a:moveTo>
                  <a:lnTo>
                    <a:pt x="510846" y="0"/>
                  </a:lnTo>
                  <a:lnTo>
                    <a:pt x="510846" y="214651"/>
                  </a:lnTo>
                  <a:lnTo>
                    <a:pt x="0" y="214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1" name="Google Shape;651;p26"/>
            <p:cNvSpPr txBox="1"/>
            <p:nvPr/>
          </p:nvSpPr>
          <p:spPr>
            <a:xfrm>
              <a:off x="0" y="57150"/>
              <a:ext cx="510846" cy="15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Editor de Texto</a:t>
              </a:r>
              <a:endParaRPr/>
            </a:p>
          </p:txBody>
        </p:sp>
      </p:grpSp>
      <p:grpSp>
        <p:nvGrpSpPr>
          <p:cNvPr id="652" name="Google Shape;652;p26"/>
          <p:cNvGrpSpPr/>
          <p:nvPr/>
        </p:nvGrpSpPr>
        <p:grpSpPr>
          <a:xfrm>
            <a:off x="1227357" y="7692362"/>
            <a:ext cx="2838261" cy="815003"/>
            <a:chOff x="0" y="0"/>
            <a:chExt cx="747525" cy="214651"/>
          </a:xfrm>
        </p:grpSpPr>
        <p:sp>
          <p:nvSpPr>
            <p:cNvPr id="653" name="Google Shape;653;p26"/>
            <p:cNvSpPr/>
            <p:nvPr/>
          </p:nvSpPr>
          <p:spPr>
            <a:xfrm>
              <a:off x="0" y="0"/>
              <a:ext cx="747525" cy="214651"/>
            </a:xfrm>
            <a:custGeom>
              <a:rect b="b" l="l" r="r" t="t"/>
              <a:pathLst>
                <a:path extrusionOk="0" h="214651" w="747525">
                  <a:moveTo>
                    <a:pt x="0" y="0"/>
                  </a:moveTo>
                  <a:lnTo>
                    <a:pt x="747525" y="0"/>
                  </a:lnTo>
                  <a:lnTo>
                    <a:pt x="747525" y="214651"/>
                  </a:lnTo>
                  <a:lnTo>
                    <a:pt x="0" y="2146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4" name="Google Shape;654;p26"/>
            <p:cNvSpPr txBox="1"/>
            <p:nvPr/>
          </p:nvSpPr>
          <p:spPr>
            <a:xfrm>
              <a:off x="0" y="57150"/>
              <a:ext cx="747525" cy="157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Información de Compilación</a:t>
              </a:r>
              <a:endParaRPr/>
            </a:p>
          </p:txBody>
        </p:sp>
      </p:grpSp>
      <p:grpSp>
        <p:nvGrpSpPr>
          <p:cNvPr id="655" name="Google Shape;655;p26"/>
          <p:cNvGrpSpPr/>
          <p:nvPr/>
        </p:nvGrpSpPr>
        <p:grpSpPr>
          <a:xfrm>
            <a:off x="1153990" y="8583256"/>
            <a:ext cx="2911628" cy="663220"/>
            <a:chOff x="0" y="0"/>
            <a:chExt cx="766849" cy="174675"/>
          </a:xfrm>
        </p:grpSpPr>
        <p:sp>
          <p:nvSpPr>
            <p:cNvPr id="656" name="Google Shape;656;p26"/>
            <p:cNvSpPr/>
            <p:nvPr/>
          </p:nvSpPr>
          <p:spPr>
            <a:xfrm>
              <a:off x="0" y="0"/>
              <a:ext cx="766849" cy="174675"/>
            </a:xfrm>
            <a:custGeom>
              <a:rect b="b" l="l" r="r" t="t"/>
              <a:pathLst>
                <a:path extrusionOk="0" h="174675" w="766849">
                  <a:moveTo>
                    <a:pt x="0" y="0"/>
                  </a:moveTo>
                  <a:lnTo>
                    <a:pt x="766849" y="0"/>
                  </a:lnTo>
                  <a:lnTo>
                    <a:pt x="766849" y="174675"/>
                  </a:lnTo>
                  <a:lnTo>
                    <a:pt x="0" y="1746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7" name="Google Shape;657;p26"/>
            <p:cNvSpPr txBox="1"/>
            <p:nvPr/>
          </p:nvSpPr>
          <p:spPr>
            <a:xfrm>
              <a:off x="0" y="57150"/>
              <a:ext cx="766849" cy="1175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5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86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Capa Sensitiva</a:t>
              </a:r>
              <a:endParaRPr/>
            </a:p>
          </p:txBody>
        </p:sp>
      </p:grpSp>
      <p:sp>
        <p:nvSpPr>
          <p:cNvPr id="658" name="Google Shape;658;p26"/>
          <p:cNvSpPr/>
          <p:nvPr/>
        </p:nvSpPr>
        <p:spPr>
          <a:xfrm>
            <a:off x="11310338" y="2367218"/>
            <a:ext cx="5948962" cy="1597406"/>
          </a:xfrm>
          <a:custGeom>
            <a:rect b="b" l="l" r="r" t="t"/>
            <a:pathLst>
              <a:path extrusionOk="0" h="1597406" w="5948962">
                <a:moveTo>
                  <a:pt x="0" y="0"/>
                </a:moveTo>
                <a:lnTo>
                  <a:pt x="5948962" y="0"/>
                </a:lnTo>
                <a:lnTo>
                  <a:pt x="5948962" y="1597406"/>
                </a:lnTo>
                <a:lnTo>
                  <a:pt x="0" y="1597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9" name="Google Shape;659;p26"/>
          <p:cNvSpPr/>
          <p:nvPr/>
        </p:nvSpPr>
        <p:spPr>
          <a:xfrm>
            <a:off x="11253066" y="4427775"/>
            <a:ext cx="6063505" cy="4411200"/>
          </a:xfrm>
          <a:custGeom>
            <a:rect b="b" l="l" r="r" t="t"/>
            <a:pathLst>
              <a:path extrusionOk="0" h="4411200" w="6063505">
                <a:moveTo>
                  <a:pt x="0" y="0"/>
                </a:moveTo>
                <a:lnTo>
                  <a:pt x="6063506" y="0"/>
                </a:lnTo>
                <a:lnTo>
                  <a:pt x="6063506" y="4411200"/>
                </a:lnTo>
                <a:lnTo>
                  <a:pt x="0" y="441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0" name="Google Shape;660;p26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661" name="Google Shape;661;p26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62" name="Google Shape;662;p26"/>
          <p:cNvSpPr txBox="1"/>
          <p:nvPr/>
        </p:nvSpPr>
        <p:spPr>
          <a:xfrm>
            <a:off x="5797991" y="1402526"/>
            <a:ext cx="13379815" cy="47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Sintaxis e Interfaz de Arduino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7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8" name="Google Shape;668;p27"/>
          <p:cNvSpPr/>
          <p:nvPr/>
        </p:nvSpPr>
        <p:spPr>
          <a:xfrm>
            <a:off x="6341079" y="5816590"/>
            <a:ext cx="6123524" cy="4079798"/>
          </a:xfrm>
          <a:custGeom>
            <a:rect b="b" l="l" r="r" t="t"/>
            <a:pathLst>
              <a:path extrusionOk="0" h="4079798" w="6123524">
                <a:moveTo>
                  <a:pt x="0" y="0"/>
                </a:moveTo>
                <a:lnTo>
                  <a:pt x="6123523" y="0"/>
                </a:lnTo>
                <a:lnTo>
                  <a:pt x="6123523" y="4079798"/>
                </a:lnTo>
                <a:lnTo>
                  <a:pt x="0" y="4079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69" name="Google Shape;669;p27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670" name="Google Shape;670;p27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71" name="Google Shape;671;p27"/>
          <p:cNvSpPr txBox="1"/>
          <p:nvPr/>
        </p:nvSpPr>
        <p:spPr>
          <a:xfrm>
            <a:off x="5797991" y="1402526"/>
            <a:ext cx="13379815" cy="473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Sintaxis e Interfaz de Arduino </a:t>
            </a:r>
            <a:endParaRPr/>
          </a:p>
        </p:txBody>
      </p:sp>
      <p:sp>
        <p:nvSpPr>
          <p:cNvPr id="672" name="Google Shape;672;p27"/>
          <p:cNvSpPr txBox="1"/>
          <p:nvPr/>
        </p:nvSpPr>
        <p:spPr>
          <a:xfrm>
            <a:off x="2260827" y="2038692"/>
            <a:ext cx="13766346" cy="2063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sintaxis de </a:t>
            </a:r>
            <a:r>
              <a:rPr b="1" i="0" lang="en-US" sz="3914" u="none" cap="none" strike="noStrike">
                <a:solidFill>
                  <a:srgbClr val="36E9FD"/>
                </a:solidFill>
                <a:latin typeface="Open Sans"/>
                <a:ea typeface="Open Sans"/>
                <a:cs typeface="Open Sans"/>
                <a:sym typeface="Open Sans"/>
              </a:rPr>
              <a:t>Arduino </a:t>
            </a:r>
            <a:r>
              <a:rPr b="1" i="0" lang="en-US" sz="39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surge como una amalgama de C++, </a:t>
            </a:r>
            <a:r>
              <a:rPr b="1" i="0" lang="en-US" sz="3914" u="none" cap="none" strike="noStrike">
                <a:solidFill>
                  <a:srgbClr val="5E17EB"/>
                </a:solidFill>
                <a:latin typeface="Open Sans"/>
                <a:ea typeface="Open Sans"/>
                <a:cs typeface="Open Sans"/>
                <a:sym typeface="Open Sans"/>
              </a:rPr>
              <a:t>Processing</a:t>
            </a:r>
            <a:r>
              <a:rPr b="1" i="0" lang="en-US" sz="391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y optimizaciones específicas para el hardware embebido</a:t>
            </a:r>
            <a:endParaRPr/>
          </a:p>
        </p:txBody>
      </p:sp>
      <p:sp>
        <p:nvSpPr>
          <p:cNvPr id="673" name="Google Shape;673;p27"/>
          <p:cNvSpPr txBox="1"/>
          <p:nvPr/>
        </p:nvSpPr>
        <p:spPr>
          <a:xfrm>
            <a:off x="1546381" y="4216231"/>
            <a:ext cx="15712919" cy="114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8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ATmega328 -&gt; Compilador AVR-GCC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8"/>
          <p:cNvSpPr/>
          <p:nvPr/>
        </p:nvSpPr>
        <p:spPr>
          <a:xfrm>
            <a:off x="0" y="1552021"/>
            <a:ext cx="5152289" cy="6473172"/>
          </a:xfrm>
          <a:custGeom>
            <a:rect b="b" l="l" r="r" t="t"/>
            <a:pathLst>
              <a:path extrusionOk="0" h="6473172" w="5152289">
                <a:moveTo>
                  <a:pt x="0" y="0"/>
                </a:moveTo>
                <a:lnTo>
                  <a:pt x="5152289" y="0"/>
                </a:lnTo>
                <a:lnTo>
                  <a:pt x="5152289" y="6473172"/>
                </a:lnTo>
                <a:lnTo>
                  <a:pt x="0" y="6473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1927" l="0" r="0" t="0"/>
            </a:stretch>
          </a:blipFill>
          <a:ln>
            <a:noFill/>
          </a:ln>
        </p:spPr>
      </p:sp>
      <p:sp>
        <p:nvSpPr>
          <p:cNvPr id="679" name="Google Shape;679;p28"/>
          <p:cNvSpPr txBox="1"/>
          <p:nvPr/>
        </p:nvSpPr>
        <p:spPr>
          <a:xfrm>
            <a:off x="11380564" y="633025"/>
            <a:ext cx="5878736" cy="918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¿Como funciona el Compilador de Arduino?</a:t>
            </a:r>
            <a:endParaRPr/>
          </a:p>
        </p:txBody>
      </p:sp>
      <p:sp>
        <p:nvSpPr>
          <p:cNvPr id="680" name="Google Shape;680;p28"/>
          <p:cNvSpPr txBox="1"/>
          <p:nvPr/>
        </p:nvSpPr>
        <p:spPr>
          <a:xfrm>
            <a:off x="10712447" y="1850912"/>
            <a:ext cx="7214969" cy="3092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2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Arduino utiliza GCC (específicamente la versión adaptada para AVR o ARM, según el microcontrolador) para compilar el código</a:t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5142764" y="1542496"/>
            <a:ext cx="5390244" cy="6473172"/>
          </a:xfrm>
          <a:custGeom>
            <a:rect b="b" l="l" r="r" t="t"/>
            <a:pathLst>
              <a:path extrusionOk="0" h="6473172" w="5390244">
                <a:moveTo>
                  <a:pt x="0" y="0"/>
                </a:moveTo>
                <a:lnTo>
                  <a:pt x="5390244" y="0"/>
                </a:lnTo>
                <a:lnTo>
                  <a:pt x="5390244" y="6473172"/>
                </a:lnTo>
                <a:lnTo>
                  <a:pt x="0" y="64731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38" l="0" r="0" t="-88885"/>
            </a:stretch>
          </a:blipFill>
          <a:ln>
            <a:noFill/>
          </a:ln>
        </p:spPr>
      </p:sp>
      <p:sp>
        <p:nvSpPr>
          <p:cNvPr id="682" name="Google Shape;682;p28"/>
          <p:cNvSpPr txBox="1"/>
          <p:nvPr/>
        </p:nvSpPr>
        <p:spPr>
          <a:xfrm>
            <a:off x="308679" y="8326681"/>
            <a:ext cx="10011492" cy="1097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2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Fuente: Sebastián Valle, Arquitectura de Computadores y Ensambladores 2 (USAC, 2024)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32A64"/>
            </a:gs>
            <a:gs pos="100000">
              <a:srgbClr val="414C94"/>
            </a:gs>
          </a:gsLst>
          <a:lin ang="0" scaled="0"/>
        </a:gra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9"/>
          <p:cNvSpPr/>
          <p:nvPr/>
        </p:nvSpPr>
        <p:spPr>
          <a:xfrm flipH="1" rot="-9227707">
            <a:off x="3960635" y="-5525403"/>
            <a:ext cx="19149891" cy="6989710"/>
          </a:xfrm>
          <a:custGeom>
            <a:rect b="b" l="l" r="r" t="t"/>
            <a:pathLst>
              <a:path extrusionOk="0" h="6989710" w="19149891">
                <a:moveTo>
                  <a:pt x="0" y="6989711"/>
                </a:moveTo>
                <a:lnTo>
                  <a:pt x="19149891" y="6989711"/>
                </a:lnTo>
                <a:lnTo>
                  <a:pt x="19149891" y="0"/>
                </a:lnTo>
                <a:lnTo>
                  <a:pt x="0" y="0"/>
                </a:lnTo>
                <a:lnTo>
                  <a:pt x="0" y="6989711"/>
                </a:lnTo>
                <a:close/>
              </a:path>
            </a:pathLst>
          </a:custGeom>
          <a:blipFill rotWithShape="1">
            <a:blip r:embed="rId3">
              <a:alphaModFix amt="8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8" name="Google Shape;688;p29"/>
          <p:cNvSpPr/>
          <p:nvPr/>
        </p:nvSpPr>
        <p:spPr>
          <a:xfrm>
            <a:off x="370533" y="368253"/>
            <a:ext cx="658167" cy="595940"/>
          </a:xfrm>
          <a:custGeom>
            <a:rect b="b" l="l" r="r" t="t"/>
            <a:pathLst>
              <a:path extrusionOk="0"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9" name="Google Shape;689;p29"/>
          <p:cNvSpPr/>
          <p:nvPr/>
        </p:nvSpPr>
        <p:spPr>
          <a:xfrm>
            <a:off x="699617" y="5561837"/>
            <a:ext cx="7445201" cy="2284323"/>
          </a:xfrm>
          <a:custGeom>
            <a:rect b="b" l="l" r="r" t="t"/>
            <a:pathLst>
              <a:path extrusionOk="0" h="2284323" w="7445201">
                <a:moveTo>
                  <a:pt x="0" y="0"/>
                </a:moveTo>
                <a:lnTo>
                  <a:pt x="7445201" y="0"/>
                </a:lnTo>
                <a:lnTo>
                  <a:pt x="7445201" y="2284323"/>
                </a:lnTo>
                <a:lnTo>
                  <a:pt x="0" y="2284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0" name="Google Shape;690;p29"/>
          <p:cNvSpPr/>
          <p:nvPr/>
        </p:nvSpPr>
        <p:spPr>
          <a:xfrm>
            <a:off x="10120845" y="5561837"/>
            <a:ext cx="7431728" cy="2442793"/>
          </a:xfrm>
          <a:custGeom>
            <a:rect b="b" l="l" r="r" t="t"/>
            <a:pathLst>
              <a:path extrusionOk="0" h="2442793" w="7431728">
                <a:moveTo>
                  <a:pt x="0" y="0"/>
                </a:moveTo>
                <a:lnTo>
                  <a:pt x="7431728" y="0"/>
                </a:lnTo>
                <a:lnTo>
                  <a:pt x="7431728" y="2442793"/>
                </a:lnTo>
                <a:lnTo>
                  <a:pt x="0" y="2442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91" name="Google Shape;691;p29"/>
          <p:cNvSpPr txBox="1"/>
          <p:nvPr/>
        </p:nvSpPr>
        <p:spPr>
          <a:xfrm>
            <a:off x="1300724" y="542135"/>
            <a:ext cx="8526848" cy="305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Universidad de San Carlos de Guatemala</a:t>
            </a:r>
            <a:endParaRPr/>
          </a:p>
        </p:txBody>
      </p:sp>
      <p:sp>
        <p:nvSpPr>
          <p:cNvPr id="692" name="Google Shape;692;p29"/>
          <p:cNvSpPr txBox="1"/>
          <p:nvPr/>
        </p:nvSpPr>
        <p:spPr>
          <a:xfrm>
            <a:off x="1300724" y="1599114"/>
            <a:ext cx="1154372" cy="51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693" name="Google Shape;693;p29"/>
          <p:cNvSpPr txBox="1"/>
          <p:nvPr/>
        </p:nvSpPr>
        <p:spPr>
          <a:xfrm>
            <a:off x="-470085" y="2512866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36E9FD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Analógica </a:t>
            </a:r>
            <a:endParaRPr/>
          </a:p>
        </p:txBody>
      </p:sp>
      <p:sp>
        <p:nvSpPr>
          <p:cNvPr id="694" name="Google Shape;694;p29"/>
          <p:cNvSpPr txBox="1"/>
          <p:nvPr/>
        </p:nvSpPr>
        <p:spPr>
          <a:xfrm>
            <a:off x="8435372" y="2512866"/>
            <a:ext cx="9614085" cy="92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7" u="none" cap="none" strike="noStrike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Digital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